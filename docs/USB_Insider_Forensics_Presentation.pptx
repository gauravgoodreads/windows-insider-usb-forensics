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66bfe76-f2d4-68ca-d183-b5ceb486187e}">
          <p14:sldIdLst>
            <p14:sldId id="256"/>
            <p14:sldId id="257"/>
          </p14:sldIdLst>
        </p14:section>
        <p14:section name="Approach" id="{32735db0-396a-6bbb-f3de-79b99e38a4ee}">
          <p14:sldIdLst>
            <p14:sldId id="258"/>
            <p14:sldId id="259"/>
          </p14:sldIdLst>
        </p14:section>
        <p14:section name="System" id="{59967bb3-3a42-f040-b120-6a47822fdc50}">
          <p14:sldIdLst>
            <p14:sldId id="260"/>
            <p14:sldId id="261"/>
            <p14:sldId id="262"/>
            <p14:sldId id="263"/>
          </p14:sldIdLst>
        </p14:section>
        <p14:section name="Demonstration" id="{213f9d46-8371-c47e-d83e-2ca763aec19f}">
          <p14:sldIdLst>
            <p14:sldId id="264"/>
            <p14:sldId id="265"/>
          </p14:sldIdLst>
        </p14:section>
        <p14:section name="Results" id="{12cb6556-6d25-d469-1788-b92570d829d8}">
          <p14:sldIdLst>
            <p14:sldId id="266"/>
            <p14:sldId id="267"/>
            <p14:sldId id="268"/>
          </p14:sldIdLst>
        </p14:section>
        <p14:section name="Conclusion" id="{4f48ab25-c052-08be-044f-21596688070e}">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3EBF0"/>
                </a:solidFill>
                <a:latin typeface="+mn-lt"/>
              </a:defRPr>
            </a:pPr>
            <a:r>
              <a:rPr sz="1400" b="0" i="0" u="none" strike="noStrike">
                <a:solidFill>
                  <a:srgbClr val="E3EBF0"/>
                </a:solidFill>
                <a:latin typeface="+mn-lt"/>
              </a:rPr>
              <a:t>Real Windows records collected, by type</a:t>
            </a:r>
          </a:p>
        </c:rich>
      </c:tx>
      <c:layout/>
      <c:overlay val="0"/>
    </c:title>
    <c:autoTitleDeleted val="0"/>
    <c:plotArea>
      <c:layout/>
      <c:barChart>
        <c:barDir val="col"/>
        <c:grouping val="clustered"/>
        <c:varyColors val="0"/>
        <c:ser>
          <c:idx val="0"/>
          <c:order val="0"/>
          <c:tx>
            <c:strRef>
              <c:f>Sheet1!$B$1</c:f>
              <c:strCache>
                <c:ptCount val="1"/>
                <c:pt idx="0">
                  <c:v>Experiment A</c:v>
                </c:pt>
              </c:strCache>
            </c:strRef>
          </c:tx>
          <c:spPr>
            <a:solidFill>
              <a:srgbClr val="5CC0DD"/>
            </a:solidFill>
            <a:effectLst/>
          </c:spPr>
          <c:invertIfNegative val="0"/>
          <c:dLbls>
            <c:numFmt formatCode="#,##0" sourceLinked="0"/>
            <c:txPr>
              <a:bodyPr/>
              <a:lstStyle/>
              <a:p>
                <a:pPr>
                  <a:defRPr b="0" i="0" strike="noStrike" sz="1100" u="none">
                    <a:solidFill>
                      <a:srgbClr val="E3EBF0"/>
                    </a:solidFill>
                    <a:latin typeface="+mn-lt"/>
                  </a:defRPr>
                </a:pPr>
              </a:p>
            </c:txPr>
            <c:showLegendKey val="0"/>
            <c:showVal val="1"/>
            <c:showCatName val="0"/>
            <c:showSerName val="0"/>
            <c:showPercent val="0"/>
            <c:showBubbleSize val="0"/>
            <c:showLeaderLines val="0"/>
          </c:dLbls>
          <c:cat>
            <c:multiLvlStrRef>
              <c:f>Sheet1!$A$2:$A$7</c:f>
              <c:multiLvlStrCache>
                <c:ptCount val="6"/>
                <c:lvl>
                  <c:pt idx="0">
                    <c:v>Logon</c:v>
                  </c:pt>
                  <c:pt idx="1">
                    <c:v>USB device</c:v>
                  </c:pt>
                  <c:pt idx="2">
                    <c:v>Files on USB</c:v>
                  </c:pt>
                  <c:pt idx="3">
                    <c:v>Shortcuts</c:v>
                  </c:pt>
                  <c:pt idx="4">
                    <c:v>Archive</c:v>
                  </c:pt>
                  <c:pt idx="5">
                    <c:v>Recycle Bin</c:v>
                  </c:pt>
                </c:lvl>
              </c:multiLvlStrCache>
            </c:multiLvlStrRef>
          </c:cat>
          <c:val>
            <c:numRef>
              <c:f>Sheet1!$B$2:$B$7</c:f>
              <c:numCache>
                <c:formatCode>General</c:formatCode>
                <c:ptCount val="6"/>
                <c:pt idx="0">
                  <c:v>1</c:v>
                </c:pt>
                <c:pt idx="1">
                  <c:v>1</c:v>
                </c:pt>
                <c:pt idx="2">
                  <c:v>1</c:v>
                </c:pt>
                <c:pt idx="3">
                  <c:v>1</c:v>
                </c:pt>
                <c:pt idx="4">
                  <c:v>0</c:v>
                </c:pt>
                <c:pt idx="5">
                  <c:v>0</c:v>
                </c:pt>
              </c:numCache>
            </c:numRef>
          </c:val>
        </c:ser>
        <c:ser>
          <c:idx val="1"/>
          <c:order val="1"/>
          <c:tx>
            <c:strRef>
              <c:f>Sheet1!$C$1</c:f>
              <c:strCache>
                <c:ptCount val="1"/>
                <c:pt idx="0">
                  <c:v>Experiment B</c:v>
                </c:pt>
              </c:strCache>
            </c:strRef>
          </c:tx>
          <c:spPr>
            <a:solidFill>
              <a:srgbClr val="F08B78"/>
            </a:solidFill>
            <a:effectLst/>
          </c:spPr>
          <c:invertIfNegative val="0"/>
          <c:dLbls>
            <c:numFmt formatCode="#,##0" sourceLinked="0"/>
            <c:txPr>
              <a:bodyPr/>
              <a:lstStyle/>
              <a:p>
                <a:pPr>
                  <a:defRPr b="0" i="0" strike="noStrike" sz="1100" u="none">
                    <a:solidFill>
                      <a:srgbClr val="E3EBF0"/>
                    </a:solidFill>
                    <a:latin typeface="+mn-lt"/>
                  </a:defRPr>
                </a:pPr>
              </a:p>
            </c:txPr>
            <c:showLegendKey val="0"/>
            <c:showVal val="1"/>
            <c:showCatName val="0"/>
            <c:showSerName val="0"/>
            <c:showPercent val="0"/>
            <c:showBubbleSize val="0"/>
            <c:showLeaderLines val="0"/>
          </c:dLbls>
          <c:cat>
            <c:multiLvlStrRef>
              <c:f>Sheet1!$A$2:$A$7</c:f>
              <c:multiLvlStrCache>
                <c:ptCount val="6"/>
                <c:lvl>
                  <c:pt idx="0">
                    <c:v>Logon</c:v>
                  </c:pt>
                  <c:pt idx="1">
                    <c:v>USB device</c:v>
                  </c:pt>
                  <c:pt idx="2">
                    <c:v>Files on USB</c:v>
                  </c:pt>
                  <c:pt idx="3">
                    <c:v>Shortcuts</c:v>
                  </c:pt>
                  <c:pt idx="4">
                    <c:v>Archive</c:v>
                  </c:pt>
                  <c:pt idx="5">
                    <c:v>Recycle Bin</c:v>
                  </c:pt>
                </c:lvl>
              </c:multiLvlStrCache>
            </c:multiLvlStrRef>
          </c:cat>
          <c:val>
            <c:numRef>
              <c:f>Sheet1!$C$2:$C$7</c:f>
              <c:numCache>
                <c:formatCode>General</c:formatCode>
                <c:ptCount val="6"/>
                <c:pt idx="0">
                  <c:v>1</c:v>
                </c:pt>
                <c:pt idx="1">
                  <c:v>1</c:v>
                </c:pt>
                <c:pt idx="2">
                  <c:v>2</c:v>
                </c:pt>
                <c:pt idx="3">
                  <c:v>3</c:v>
                </c:pt>
                <c:pt idx="4">
                  <c:v>1</c:v>
                </c:pt>
                <c:pt idx="5">
                  <c:v>1</c:v>
                </c:pt>
              </c:numCache>
            </c:numRef>
          </c:val>
        </c:ser>
        <c:dLbls>
          <c:numFmt formatCode="#,##0" sourceLinked="0"/>
          <c:txPr>
            <a:bodyPr/>
            <a:lstStyle/>
            <a:p>
              <a:pPr>
                <a:defRPr b="0" i="0" strike="noStrike" sz="1100" u="none">
                  <a:solidFill>
                    <a:srgbClr val="E3EBF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94A6B3"/>
                </a:solidFill>
                <a:latin typeface="+mn-lt"/>
              </a:defRPr>
            </a:pPr>
            <a:endParaRPr lang="en-US"/>
          </a:p>
        </c:txPr>
        <c:crossAx val="2094734552"/>
        <c:crosses val="autoZero"/>
        <c:auto val="1"/>
        <c:lblAlgn val="ctr"/>
        <c:noMultiLvlLbl val="1"/>
      </c:catAx>
      <c:valAx>
        <c:axId val="2094734552"/>
        <c:scaling>
          <c:orientation val="minMax"/>
          <c:max val="4"/>
        </c:scaling>
        <c:delete val="0"/>
        <c:axPos val="l"/>
        <c:majorGridlines>
          <c:spPr>
            <a:ln w="6350" cap="flat">
              <a:solidFill>
                <a:srgbClr val="2A3A4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94A6B3"/>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E3EBF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sir. My project is USB Insider Forensics: how Windows evidence can show whether an employee copied company files to a USB drive. I built the full system myself: evidence collection, analysis engine, dashboard and reports, and I tested it on real Windows evidence from my own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Insider data theft is hard to investigate because the person already has access. USB drives are used every day for backups, so seeing a USB connection alone tells us nothing. My research question is whether Windows' own traces can separate a normal backup from an insider copying sensitive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Each clue alone is weak: a USB connection, a file being opened, a file on the USB, a logon, a ZIP or deletion. My software joins clues that share a user, a device, a file and a time window. When several independent clues agree inside the same USB window, that is strong evidence, and every conclusion shows exactly which records it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the test fair, both experiments use the same laptop, user, USB drive and fictional files. Only the behaviour changes. Experiment A is my control, a normal backup that must not be flagged. Experiment B is the simulated insider: opening sensitive files, copying them to the USB, zipping them and deleting a temporary copy. All company files are fictional.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collector script reads five sources Windows keeps on its own: USB device history, the files on the USB drive, Recent Items shortcuts created when a file is opened, Recycle Bin records, and logon events. Each one has a limit, shown in yellow. The collector is read-only, runs as a normal user, and fingerprints its output with SHA-256.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pipeline. The collector gathers evidence, the output is sealed with a hash, every record is ingested with the raw version kept, then normalized into one format without guessing missing values. The correlation engine links related records, the hypothesis engine answers four questions, and the results go to the dashboard and reports. It is written in PowerShell, Python, SQLite, Flask and React, with 14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one guilty or not-guilty verdict, the system answers four separate questions. For each it states what evidence is needed and, in yellow, the limit I must mention. For example H3 needs a sensitive file on the USB inside the connection window plus a user session, and even then it shows timing, not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Forensic soundness: collection is read-only, the export is fingerprinted with SHA-256, so any change would be detected. The original record is preserved next to the cleaned one, and there is a custody and audit log. In the dashboard you can open any record and see both versions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I'll show it live. One script runs the whole investigation in eight steps. At each step it prints the exact command and the real code lines it runs, so nothing is hidden. Before each experiment I unplug and replug the USB drive so Windows records a real connection. Then I run live_demo.ps1.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timestamps Windows recorded when I ran both experiments on this laptop with my Seagate USB disk. In A, the disk connects and one ordinary file is copied. In B, within three seconds, the sensitive files are opened, copied to the USB, zipped and a copy is deleted. All of this sits inside the USB connection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result on real evidence. The chart shows the records collected: B has more file, shortcut, archive and deletion records. The software flagged a possible transfer with HIGH confidence for B, correlation CORR-005 built from nine real records, and flagged nothing for A even though the USB was used. That is exactly the behaviour I wanted.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consistency three ways. On the designed dataset the answer is known in advance and the system gets it right. On the real run it gives the same verdict, with the transfer only in B. And on 30 days of my normal laptop use it found USB use but correctly reported no leak, so there is no false alarm.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shows everything the engine decided. On the correlations page each link lists its reasons and the exact record IDs, so nothing is a black box. The sensitive files page shows the same file on the computer and on the USB drive. There are eleven pages in total, plus PDF, HTML, JSON and CSV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the limits. The project can support that a transfer happened but cannot prove guilt or intent. The company files are fictional, although the Windows traces are real. Live collection touches the running system, so formal casework should use a disk image. It was one laptop and one Windows version, and the score is only a ranking 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several independent clues agreeing inside the same USB window separate an insider from normal use far better than any single clue, and that held on real Windows evidence from my laptop.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E161D"/>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6B7D89"/>
                </a:solidFill>
                <a:latin typeface="Calibri" pitchFamily="34" charset="0"/>
                <a:ea typeface="Calibri" pitchFamily="34" charset="-122"/>
                <a:cs typeface="Calibri" pitchFamily="34" charset="-120"/>
              </a:rPr>
              <a:t>USB Insider Forensics  ·  INSIDER-USB-001</a:t>
            </a:r>
            <a:endParaRPr lang="en-US" sz="1000" dirty="0"/>
          </a:p>
        </p:txBody>
      </p:sp>
      <p:sp>
        <p:nvSpPr>
          <p:cNvPr id="3" name="Text 1"/>
          <p:cNvSpPr/>
          <p:nvPr>
            <p:ph idx="101" type="title" hasCustomPrompt="1"/>
          </p:nvPr>
        </p:nvSpPr>
        <p:spPr>
          <a:xfrm>
            <a:off x="548640" y="749808"/>
            <a:ext cx="11094415" cy="777240"/>
          </a:xfrm>
          <a:prstGeom prst="rect">
            <a:avLst/>
          </a:prstGeom>
          <a:noFill/>
          <a:ln/>
        </p:spPr>
        <p:txBody>
          <a:bodyPr wrap="square" rtlCol="0"/>
          <a:lstStyle>
            <a:lvl1pPr algn="l" indent="0" marL="0">
              <a:buNone/>
              <a:defRPr lang="en-US" sz="3000" b="1" dirty="0">
                <a:solidFill>
                  <a:srgbClr val="E3EBF0"/>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PLAIN">
    <p:bg>
      <p:bgPr>
        <a:solidFill>
          <a:srgbClr val="0E161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2.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6400800" cy="274320"/>
          </a:xfrm>
          <a:prstGeom prst="rect">
            <a:avLst/>
          </a:prstGeom>
          <a:noFill/>
          <a:ln/>
        </p:spPr>
        <p:txBody>
          <a:bodyPr wrap="square" lIns="0" tIns="0" rIns="0" bIns="0" rtlCol="0" anchor="t"/>
          <a:lstStyle/>
          <a:p>
            <a:pPr indent="0" marL="0">
              <a:buNone/>
            </a:pPr>
            <a:r>
              <a:rPr lang="en-US" sz="1200" spc="300" kern="0" dirty="0">
                <a:solidFill>
                  <a:srgbClr val="5CC0DD"/>
                </a:solidFill>
                <a:latin typeface="Consolas" pitchFamily="34" charset="0"/>
                <a:ea typeface="Consolas" pitchFamily="34" charset="-122"/>
                <a:cs typeface="Consolas" pitchFamily="34" charset="-120"/>
              </a:rPr>
              <a:t>CYBER FORENSICS PROJECT  ·  CASE INSIDER-USB-001</a:t>
            </a:r>
            <a:endParaRPr lang="en-US" sz="1200" dirty="0"/>
          </a:p>
        </p:txBody>
      </p:sp>
      <p:sp>
        <p:nvSpPr>
          <p:cNvPr id="3" name="Text 1"/>
          <p:cNvSpPr txBox="1"/>
          <p:nvPr/>
        </p:nvSpPr>
        <p:spPr>
          <a:xfrm>
            <a:off x="548640" y="1280160"/>
            <a:ext cx="5760720" cy="1645920"/>
          </a:xfrm>
          <a:prstGeom prst="rect">
            <a:avLst/>
          </a:prstGeom>
          <a:noFill/>
          <a:ln/>
        </p:spPr>
        <p:txBody>
          <a:bodyPr wrap="square" lIns="0" tIns="0" rIns="0" bIns="0" rtlCol="0" anchor="t"/>
          <a:lstStyle/>
          <a:p>
            <a:pPr indent="0" marL="0">
              <a:buNone/>
            </a:pPr>
            <a:r>
              <a:rPr lang="en-US" sz="4800" b="1" dirty="0">
                <a:solidFill>
                  <a:srgbClr val="E3EBF0"/>
                </a:solidFill>
                <a:latin typeface="Cambria" pitchFamily="34" charset="0"/>
                <a:ea typeface="Cambria" pitchFamily="34" charset="-122"/>
                <a:cs typeface="Cambria" pitchFamily="34" charset="-120"/>
              </a:rPr>
              <a:t>USB Insider Forensics</a:t>
            </a:r>
            <a:endParaRPr lang="en-US" sz="4800" dirty="0"/>
          </a:p>
        </p:txBody>
      </p:sp>
      <p:sp>
        <p:nvSpPr>
          <p:cNvPr id="4" name="Text 2"/>
          <p:cNvSpPr txBox="1"/>
          <p:nvPr/>
        </p:nvSpPr>
        <p:spPr>
          <a:xfrm>
            <a:off x="548640" y="3017520"/>
            <a:ext cx="5486400" cy="731520"/>
          </a:xfrm>
          <a:prstGeom prst="rect">
            <a:avLst/>
          </a:prstGeom>
          <a:noFill/>
          <a:ln/>
        </p:spPr>
        <p:txBody>
          <a:bodyPr wrap="square" lIns="0" tIns="0" rIns="0" bIns="0" rtlCol="0" anchor="t"/>
          <a:lstStyle/>
          <a:p>
            <a:pPr indent="0" marL="0">
              <a:buNone/>
            </a:pPr>
            <a:r>
              <a:rPr lang="en-US" sz="2000" dirty="0">
                <a:solidFill>
                  <a:srgbClr val="94A6B3"/>
                </a:solidFill>
                <a:latin typeface="Calibri" pitchFamily="34" charset="0"/>
                <a:ea typeface="Calibri" pitchFamily="34" charset="-122"/>
                <a:cs typeface="Calibri" pitchFamily="34" charset="-120"/>
              </a:rPr>
              <a:t>Detecting data exfiltration via removable media on Windows</a:t>
            </a:r>
            <a:endParaRPr lang="en-US" sz="2000" dirty="0"/>
          </a:p>
        </p:txBody>
      </p:sp>
      <p:sp>
        <p:nvSpPr>
          <p:cNvPr id="5" name="Shape 3"/>
          <p:cNvSpPr/>
          <p:nvPr/>
        </p:nvSpPr>
        <p:spPr>
          <a:xfrm>
            <a:off x="548640" y="4114800"/>
            <a:ext cx="146304" cy="146304"/>
          </a:xfrm>
          <a:prstGeom prst="ellipse">
            <a:avLst/>
          </a:prstGeom>
          <a:solidFill>
            <a:srgbClr val="94A6B3"/>
          </a:solidFill>
          <a:ln w="12700">
            <a:solidFill>
              <a:srgbClr val="94A6B3"/>
            </a:solidFill>
            <a:prstDash val="solid"/>
          </a:ln>
        </p:spPr>
      </p:sp>
      <p:sp>
        <p:nvSpPr>
          <p:cNvPr id="6" name="Text 4"/>
          <p:cNvSpPr txBox="1"/>
          <p:nvPr/>
        </p:nvSpPr>
        <p:spPr>
          <a:xfrm>
            <a:off x="822960" y="4050792"/>
            <a:ext cx="2743200" cy="274320"/>
          </a:xfrm>
          <a:prstGeom prst="rect">
            <a:avLst/>
          </a:prstGeom>
          <a:noFill/>
          <a:ln/>
        </p:spPr>
        <p:txBody>
          <a:bodyPr wrap="square" lIns="0" tIns="0" rIns="0" bIns="0" rtlCol="0" anchor="t"/>
          <a:lstStyle/>
          <a:p>
            <a:pPr indent="0" marL="0">
              <a:buNone/>
            </a:pPr>
            <a:r>
              <a:rPr lang="en-US" sz="1400" dirty="0">
                <a:solidFill>
                  <a:srgbClr val="E3EBF0"/>
                </a:solidFill>
                <a:latin typeface="Calibri" pitchFamily="34" charset="0"/>
                <a:ea typeface="Calibri" pitchFamily="34" charset="-122"/>
                <a:cs typeface="Calibri" pitchFamily="34" charset="-120"/>
              </a:rPr>
              <a:t>User session</a:t>
            </a:r>
            <a:endParaRPr lang="en-US" sz="1400" dirty="0"/>
          </a:p>
        </p:txBody>
      </p:sp>
      <p:sp>
        <p:nvSpPr>
          <p:cNvPr id="7" name="Shape 5"/>
          <p:cNvSpPr/>
          <p:nvPr/>
        </p:nvSpPr>
        <p:spPr>
          <a:xfrm>
            <a:off x="548640" y="4480560"/>
            <a:ext cx="146304" cy="146304"/>
          </a:xfrm>
          <a:prstGeom prst="ellipse">
            <a:avLst/>
          </a:prstGeom>
          <a:solidFill>
            <a:srgbClr val="5CC0DD"/>
          </a:solidFill>
          <a:ln w="12700">
            <a:solidFill>
              <a:srgbClr val="5CC0DD"/>
            </a:solidFill>
            <a:prstDash val="solid"/>
          </a:ln>
        </p:spPr>
      </p:sp>
      <p:sp>
        <p:nvSpPr>
          <p:cNvPr id="8" name="Text 6"/>
          <p:cNvSpPr txBox="1"/>
          <p:nvPr/>
        </p:nvSpPr>
        <p:spPr>
          <a:xfrm>
            <a:off x="822960" y="4416552"/>
            <a:ext cx="2743200" cy="274320"/>
          </a:xfrm>
          <a:prstGeom prst="rect">
            <a:avLst/>
          </a:prstGeom>
          <a:noFill/>
          <a:ln/>
        </p:spPr>
        <p:txBody>
          <a:bodyPr wrap="square" lIns="0" tIns="0" rIns="0" bIns="0" rtlCol="0" anchor="t"/>
          <a:lstStyle/>
          <a:p>
            <a:pPr indent="0" marL="0">
              <a:buNone/>
            </a:pPr>
            <a:r>
              <a:rPr lang="en-US" sz="1400" dirty="0">
                <a:solidFill>
                  <a:srgbClr val="E3EBF0"/>
                </a:solidFill>
                <a:latin typeface="Calibri" pitchFamily="34" charset="0"/>
                <a:ea typeface="Calibri" pitchFamily="34" charset="-122"/>
                <a:cs typeface="Calibri" pitchFamily="34" charset="-120"/>
              </a:rPr>
              <a:t>USB device</a:t>
            </a:r>
            <a:endParaRPr lang="en-US" sz="1400" dirty="0"/>
          </a:p>
        </p:txBody>
      </p:sp>
      <p:sp>
        <p:nvSpPr>
          <p:cNvPr id="9" name="Shape 7"/>
          <p:cNvSpPr/>
          <p:nvPr/>
        </p:nvSpPr>
        <p:spPr>
          <a:xfrm>
            <a:off x="548640" y="4846320"/>
            <a:ext cx="146304" cy="146304"/>
          </a:xfrm>
          <a:prstGeom prst="ellipse">
            <a:avLst/>
          </a:prstGeom>
          <a:solidFill>
            <a:srgbClr val="F0C04A"/>
          </a:solidFill>
          <a:ln w="12700">
            <a:solidFill>
              <a:srgbClr val="F0C04A"/>
            </a:solidFill>
            <a:prstDash val="solid"/>
          </a:ln>
        </p:spPr>
      </p:sp>
      <p:sp>
        <p:nvSpPr>
          <p:cNvPr id="10" name="Text 8"/>
          <p:cNvSpPr txBox="1"/>
          <p:nvPr/>
        </p:nvSpPr>
        <p:spPr>
          <a:xfrm>
            <a:off x="822960" y="4782312"/>
            <a:ext cx="2743200" cy="274320"/>
          </a:xfrm>
          <a:prstGeom prst="rect">
            <a:avLst/>
          </a:prstGeom>
          <a:noFill/>
          <a:ln/>
        </p:spPr>
        <p:txBody>
          <a:bodyPr wrap="square" lIns="0" tIns="0" rIns="0" bIns="0" rtlCol="0" anchor="t"/>
          <a:lstStyle/>
          <a:p>
            <a:pPr indent="0" marL="0">
              <a:buNone/>
            </a:pPr>
            <a:r>
              <a:rPr lang="en-US" sz="1400" dirty="0">
                <a:solidFill>
                  <a:srgbClr val="E3EBF0"/>
                </a:solidFill>
                <a:latin typeface="Calibri" pitchFamily="34" charset="0"/>
                <a:ea typeface="Calibri" pitchFamily="34" charset="-122"/>
                <a:cs typeface="Calibri" pitchFamily="34" charset="-120"/>
              </a:rPr>
              <a:t>File activity</a:t>
            </a:r>
            <a:endParaRPr lang="en-US" sz="1400" dirty="0"/>
          </a:p>
        </p:txBody>
      </p:sp>
      <p:sp>
        <p:nvSpPr>
          <p:cNvPr id="11" name="Shape 9"/>
          <p:cNvSpPr/>
          <p:nvPr/>
        </p:nvSpPr>
        <p:spPr>
          <a:xfrm>
            <a:off x="548640" y="5212080"/>
            <a:ext cx="146304" cy="146304"/>
          </a:xfrm>
          <a:prstGeom prst="ellipse">
            <a:avLst/>
          </a:prstGeom>
          <a:solidFill>
            <a:srgbClr val="F08B78"/>
          </a:solidFill>
          <a:ln w="12700">
            <a:solidFill>
              <a:srgbClr val="F08B78"/>
            </a:solidFill>
            <a:prstDash val="solid"/>
          </a:ln>
        </p:spPr>
      </p:sp>
      <p:sp>
        <p:nvSpPr>
          <p:cNvPr id="12" name="Text 10"/>
          <p:cNvSpPr txBox="1"/>
          <p:nvPr/>
        </p:nvSpPr>
        <p:spPr>
          <a:xfrm>
            <a:off x="822960" y="5148072"/>
            <a:ext cx="2743200" cy="274320"/>
          </a:xfrm>
          <a:prstGeom prst="rect">
            <a:avLst/>
          </a:prstGeom>
          <a:noFill/>
          <a:ln/>
        </p:spPr>
        <p:txBody>
          <a:bodyPr wrap="square" lIns="0" tIns="0" rIns="0" bIns="0" rtlCol="0" anchor="t"/>
          <a:lstStyle/>
          <a:p>
            <a:pPr indent="0" marL="0">
              <a:buNone/>
            </a:pPr>
            <a:r>
              <a:rPr lang="en-US" sz="1400" dirty="0">
                <a:solidFill>
                  <a:srgbClr val="E3EBF0"/>
                </a:solidFill>
                <a:latin typeface="Calibri" pitchFamily="34" charset="0"/>
                <a:ea typeface="Calibri" pitchFamily="34" charset="-122"/>
                <a:cs typeface="Calibri" pitchFamily="34" charset="-120"/>
              </a:rPr>
              <a:t>Archive or deletion</a:t>
            </a:r>
            <a:endParaRPr lang="en-US" sz="1400" dirty="0"/>
          </a:p>
        </p:txBody>
      </p:sp>
      <p:sp>
        <p:nvSpPr>
          <p:cNvPr id="13" name="Text 11"/>
          <p:cNvSpPr txBox="1"/>
          <p:nvPr/>
        </p:nvSpPr>
        <p:spPr>
          <a:xfrm>
            <a:off x="548640" y="5806440"/>
            <a:ext cx="5852160" cy="274320"/>
          </a:xfrm>
          <a:prstGeom prst="rect">
            <a:avLst/>
          </a:prstGeom>
          <a:noFill/>
          <a:ln/>
        </p:spPr>
        <p:txBody>
          <a:bodyPr wrap="square" lIns="0" tIns="0" rIns="0" bIns="0" rtlCol="0" anchor="t"/>
          <a:lstStyle/>
          <a:p>
            <a:pPr indent="0" marL="0">
              <a:buNone/>
            </a:pPr>
            <a:r>
              <a:rPr lang="en-US" sz="1200" dirty="0">
                <a:solidFill>
                  <a:srgbClr val="6B7D89"/>
                </a:solidFill>
                <a:latin typeface="Calibri" pitchFamily="34" charset="0"/>
                <a:ea typeface="Calibri" pitchFamily="34" charset="-122"/>
                <a:cs typeface="Calibri" pitchFamily="34" charset="-120"/>
              </a:rPr>
              <a:t>Real Windows evidence  ·  Python analysis engine  ·  React dashboard</a:t>
            </a:r>
            <a:endParaRPr lang="en-US" sz="1200" dirty="0"/>
          </a:p>
        </p:txBody>
      </p:sp>
      <p:sp>
        <p:nvSpPr>
          <p:cNvPr id="14" name="Shape 12"/>
          <p:cNvSpPr/>
          <p:nvPr/>
        </p:nvSpPr>
        <p:spPr>
          <a:xfrm>
            <a:off x="6574536" y="1042416"/>
            <a:ext cx="5093208" cy="3227832"/>
          </a:xfrm>
          <a:prstGeom prst="roundRect">
            <a:avLst>
              <a:gd name="adj" fmla="val 2266"/>
            </a:avLst>
          </a:prstGeom>
          <a:solidFill>
            <a:srgbClr val="1C2A35"/>
          </a:solidFill>
          <a:ln w="9525">
            <a:solidFill>
              <a:srgbClr val="2A3A46"/>
            </a:solidFill>
            <a:prstDash val="solid"/>
          </a:ln>
          <a:effectLst>
            <a:outerShdw sx="100000" sy="100000" kx="0" ky="0" algn="bl" rotWithShape="0" blurRad="177800" dist="50800" dir="5400000">
              <a:srgbClr val="000000">
                <a:alpha val="45000"/>
              </a:srgbClr>
            </a:outerShdw>
          </a:effectLst>
        </p:spPr>
      </p:sp>
      <p:pic>
        <p:nvPicPr>
          <p:cNvPr id="15" name="Image 0" descr="C:\Users\Gary\AppData\Local\Temp\claude\C--Users-Gary-Desktop-CF-proj\9eb8b016-f6a9-4b13-949a-4dbf52c2bac2\scratchpad\deck\img\overview.png">    </p:cNvPr>
          <p:cNvPicPr>
            <a:picLocks noChangeAspect="1"/>
          </p:cNvPicPr>
          <p:nvPr/>
        </p:nvPicPr>
        <p:blipFill>
          <a:blip r:embed="rId1"/>
          <a:stretch>
            <a:fillRect/>
          </a:stretch>
        </p:blipFill>
        <p:spPr>
          <a:xfrm>
            <a:off x="6629400" y="1097280"/>
            <a:ext cx="4983480" cy="3118104"/>
          </a:xfrm>
          <a:prstGeom prst="rect">
            <a:avLst/>
          </a:prstGeom>
        </p:spPr>
      </p:pic>
      <p:sp>
        <p:nvSpPr>
          <p:cNvPr id="16" name="Shape 13"/>
          <p:cNvSpPr/>
          <p:nvPr/>
        </p:nvSpPr>
        <p:spPr>
          <a:xfrm>
            <a:off x="7397496" y="3191256"/>
            <a:ext cx="4270248" cy="2706624"/>
          </a:xfrm>
          <a:prstGeom prst="roundRect">
            <a:avLst>
              <a:gd name="adj" fmla="val 2703"/>
            </a:avLst>
          </a:prstGeom>
          <a:solidFill>
            <a:srgbClr val="1C2A35"/>
          </a:solidFill>
          <a:ln w="9525">
            <a:solidFill>
              <a:srgbClr val="2A3A46"/>
            </a:solidFill>
            <a:prstDash val="solid"/>
          </a:ln>
          <a:effectLst>
            <a:outerShdw sx="100000" sy="100000" kx="0" ky="0" algn="bl" rotWithShape="0" blurRad="177800" dist="50800" dir="5400000">
              <a:srgbClr val="000000">
                <a:alpha val="45000"/>
              </a:srgbClr>
            </a:outerShdw>
          </a:effectLst>
        </p:spPr>
      </p:sp>
      <p:pic>
        <p:nvPicPr>
          <p:cNvPr id="17" name="Image 1" descr="C:\Users\Gary\AppData\Local\Temp\claude\C--Users-Gary-Desktop-CF-proj\9eb8b016-f6a9-4b13-949a-4dbf52c2bac2\scratchpad\deck\img\timeline.png">    </p:cNvPr>
          <p:cNvPicPr>
            <a:picLocks noChangeAspect="1"/>
          </p:cNvPicPr>
          <p:nvPr/>
        </p:nvPicPr>
        <p:blipFill>
          <a:blip r:embed="rId2"/>
          <a:stretch>
            <a:fillRect/>
          </a:stretch>
        </p:blipFill>
        <p:spPr>
          <a:xfrm>
            <a:off x="7452360" y="3246120"/>
            <a:ext cx="4160520" cy="25968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spc="300" kern="0" dirty="0">
                <a:solidFill>
                  <a:srgbClr val="5CC0DD"/>
                </a:solidFill>
                <a:latin typeface="Consolas" pitchFamily="34" charset="0"/>
                <a:ea typeface="Consolas" pitchFamily="34" charset="-122"/>
                <a:cs typeface="Consolas" pitchFamily="34" charset="-120"/>
              </a:rPr>
              <a:t>01 · WHY THIS PROJECT</a:t>
            </a:r>
            <a:endParaRPr lang="en-US" sz="1100" dirty="0"/>
          </a:p>
        </p:txBody>
      </p:sp>
      <p:sp>
        <p:nvSpPr>
          <p:cNvPr id="3" name="Text 1"/>
          <p:cNvSpPr/>
          <p:nvPr>
            <p:ph idx="101" type="title" hasCustomPrompt="1"/>
          </p:nvPr>
        </p:nvSpPr>
        <p:spPr>
          <a:xfrm>
            <a:off x="548640" y="749808"/>
            <a:ext cx="11094415" cy="777240"/>
          </a:xfrm>
          <a:prstGeom prst="rect">
            <a:avLst/>
          </a:prstGeom>
          <a:noFill/>
          <a:ln/>
        </p:spPr>
        <p:txBody>
          <a:bodyPr wrap="square" lIns="0" tIns="0" rIns="0" bIns="0" rtlCol="0" anchor="t"/>
          <a:lstStyle/>
          <a:p>
            <a:pPr algn="l" indent="0" marL="0">
              <a:buNone/>
            </a:pPr>
            <a:r>
              <a:rPr lang="en-US" sz="3000" b="1" dirty="0">
                <a:solidFill>
                  <a:srgbClr val="E3EBF0"/>
                </a:solidFill>
                <a:latin typeface="Cambria" pitchFamily="34" charset="0"/>
                <a:ea typeface="Cambria" pitchFamily="34" charset="-122"/>
                <a:cs typeface="Cambria" pitchFamily="34" charset="-120"/>
              </a:rPr>
              <a:t>The insider already has access. The USB drive is the door</a:t>
            </a:r>
            <a:endParaRPr lang="en-US" sz="3000" dirty="0"/>
          </a:p>
        </p:txBody>
      </p:sp>
      <p:sp>
        <p:nvSpPr>
          <p:cNvPr id="4" name="Shape 2"/>
          <p:cNvSpPr/>
          <p:nvPr/>
        </p:nvSpPr>
        <p:spPr>
          <a:xfrm>
            <a:off x="548640" y="1828800"/>
            <a:ext cx="566928" cy="566928"/>
          </a:xfrm>
          <a:prstGeom prst="ellipse">
            <a:avLst/>
          </a:prstGeom>
          <a:solidFill>
            <a:srgbClr val="1C2A35"/>
          </a:solidFill>
          <a:ln w="9525">
            <a:solidFill>
              <a:srgbClr val="2A3A46"/>
            </a:solidFill>
            <a:prstDash val="solid"/>
          </a:ln>
        </p:spPr>
      </p:sp>
      <p:pic>
        <p:nvPicPr>
          <p:cNvPr id="5" name="Image 0" descr="preencoded.png">    </p:cNvPr>
          <p:cNvPicPr>
            <a:picLocks noChangeAspect="1"/>
          </p:cNvPicPr>
          <p:nvPr/>
        </p:nvPicPr>
        <p:blipFill>
          <a:blip r:embed="rId1"/>
          <a:stretch>
            <a:fillRect/>
          </a:stretch>
        </p:blipFill>
        <p:spPr>
          <a:xfrm>
            <a:off x="673364" y="1953524"/>
            <a:ext cx="317480" cy="317480"/>
          </a:xfrm>
          <a:prstGeom prst="rect">
            <a:avLst/>
          </a:prstGeom>
        </p:spPr>
      </p:pic>
      <p:sp>
        <p:nvSpPr>
          <p:cNvPr id="6" name="Text 3"/>
          <p:cNvSpPr txBox="1"/>
          <p:nvPr/>
        </p:nvSpPr>
        <p:spPr>
          <a:xfrm>
            <a:off x="1325880" y="1810512"/>
            <a:ext cx="4846320" cy="365760"/>
          </a:xfrm>
          <a:prstGeom prst="rect">
            <a:avLst/>
          </a:prstGeom>
          <a:noFill/>
          <a:ln/>
        </p:spPr>
        <p:txBody>
          <a:bodyPr wrap="square" lIns="0" tIns="0" rIns="0" bIns="0" rtlCol="0" anchor="t"/>
          <a:lstStyle/>
          <a:p>
            <a:pPr indent="0" marL="0">
              <a:buNone/>
            </a:pPr>
            <a:r>
              <a:rPr lang="en-US" sz="1800" b="1" dirty="0">
                <a:solidFill>
                  <a:srgbClr val="E3EBF0"/>
                </a:solidFill>
                <a:latin typeface="Calibri" pitchFamily="34" charset="0"/>
                <a:ea typeface="Calibri" pitchFamily="34" charset="-122"/>
                <a:cs typeface="Calibri" pitchFamily="34" charset="-120"/>
              </a:rPr>
              <a:t>Trusted users</a:t>
            </a:r>
            <a:endParaRPr lang="en-US" sz="1800" dirty="0"/>
          </a:p>
        </p:txBody>
      </p:sp>
      <p:sp>
        <p:nvSpPr>
          <p:cNvPr id="7" name="Text 4"/>
          <p:cNvSpPr txBox="1"/>
          <p:nvPr/>
        </p:nvSpPr>
        <p:spPr>
          <a:xfrm>
            <a:off x="1325880" y="2194560"/>
            <a:ext cx="4846320" cy="731520"/>
          </a:xfrm>
          <a:prstGeom prst="rect">
            <a:avLst/>
          </a:prstGeom>
          <a:noFill/>
          <a:ln/>
        </p:spPr>
        <p:txBody>
          <a:bodyPr wrap="square" lIns="0" tIns="0" rIns="0" bIns="0" rtlCol="0" anchor="t"/>
          <a:lstStyle/>
          <a:p>
            <a:pPr indent="0" marL="0">
              <a:buNone/>
            </a:pPr>
            <a:r>
              <a:rPr lang="en-US" sz="1500" dirty="0">
                <a:solidFill>
                  <a:srgbClr val="94A6B3"/>
                </a:solidFill>
                <a:latin typeface="Calibri" pitchFamily="34" charset="0"/>
                <a:ea typeface="Calibri" pitchFamily="34" charset="-122"/>
                <a:cs typeface="Calibri" pitchFamily="34" charset="-120"/>
              </a:rPr>
              <a:t>An insider does not hack in. They already have permission to open the files.</a:t>
            </a:r>
            <a:endParaRPr lang="en-US" sz="1500" dirty="0"/>
          </a:p>
        </p:txBody>
      </p:sp>
      <p:sp>
        <p:nvSpPr>
          <p:cNvPr id="8" name="Shape 5"/>
          <p:cNvSpPr/>
          <p:nvPr/>
        </p:nvSpPr>
        <p:spPr>
          <a:xfrm>
            <a:off x="548640" y="3154680"/>
            <a:ext cx="566928" cy="566928"/>
          </a:xfrm>
          <a:prstGeom prst="ellipse">
            <a:avLst/>
          </a:prstGeom>
          <a:solidFill>
            <a:srgbClr val="1C2A35"/>
          </a:solidFill>
          <a:ln w="9525">
            <a:solidFill>
              <a:srgbClr val="2A3A46"/>
            </a:solidFill>
            <a:prstDash val="solid"/>
          </a:ln>
        </p:spPr>
      </p:sp>
      <p:pic>
        <p:nvPicPr>
          <p:cNvPr id="9" name="Image 1" descr="preencoded.png">    </p:cNvPr>
          <p:cNvPicPr>
            <a:picLocks noChangeAspect="1"/>
          </p:cNvPicPr>
          <p:nvPr/>
        </p:nvPicPr>
        <p:blipFill>
          <a:blip r:embed="rId2"/>
          <a:stretch>
            <a:fillRect/>
          </a:stretch>
        </p:blipFill>
        <p:spPr>
          <a:xfrm>
            <a:off x="673364" y="3279404"/>
            <a:ext cx="317480" cy="317480"/>
          </a:xfrm>
          <a:prstGeom prst="rect">
            <a:avLst/>
          </a:prstGeom>
        </p:spPr>
      </p:pic>
      <p:sp>
        <p:nvSpPr>
          <p:cNvPr id="10" name="Text 6"/>
          <p:cNvSpPr txBox="1"/>
          <p:nvPr/>
        </p:nvSpPr>
        <p:spPr>
          <a:xfrm>
            <a:off x="1325880" y="3136392"/>
            <a:ext cx="4846320" cy="365760"/>
          </a:xfrm>
          <a:prstGeom prst="rect">
            <a:avLst/>
          </a:prstGeom>
          <a:noFill/>
          <a:ln/>
        </p:spPr>
        <p:txBody>
          <a:bodyPr wrap="square" lIns="0" tIns="0" rIns="0" bIns="0" rtlCol="0" anchor="t"/>
          <a:lstStyle/>
          <a:p>
            <a:pPr indent="0" marL="0">
              <a:buNone/>
            </a:pPr>
            <a:r>
              <a:rPr lang="en-US" sz="1800" b="1" dirty="0">
                <a:solidFill>
                  <a:srgbClr val="E3EBF0"/>
                </a:solidFill>
                <a:latin typeface="Calibri" pitchFamily="34" charset="0"/>
                <a:ea typeface="Calibri" pitchFamily="34" charset="-122"/>
                <a:cs typeface="Calibri" pitchFamily="34" charset="-120"/>
              </a:rPr>
              <a:t>USB is everyday</a:t>
            </a:r>
            <a:endParaRPr lang="en-US" sz="1800" dirty="0"/>
          </a:p>
        </p:txBody>
      </p:sp>
      <p:sp>
        <p:nvSpPr>
          <p:cNvPr id="11" name="Text 7"/>
          <p:cNvSpPr txBox="1"/>
          <p:nvPr/>
        </p:nvSpPr>
        <p:spPr>
          <a:xfrm>
            <a:off x="1325880" y="3520440"/>
            <a:ext cx="4846320" cy="731520"/>
          </a:xfrm>
          <a:prstGeom prst="rect">
            <a:avLst/>
          </a:prstGeom>
          <a:noFill/>
          <a:ln/>
        </p:spPr>
        <p:txBody>
          <a:bodyPr wrap="square" lIns="0" tIns="0" rIns="0" bIns="0" rtlCol="0" anchor="t"/>
          <a:lstStyle/>
          <a:p>
            <a:pPr indent="0" marL="0">
              <a:buNone/>
            </a:pPr>
            <a:r>
              <a:rPr lang="en-US" sz="1500" dirty="0">
                <a:solidFill>
                  <a:srgbClr val="94A6B3"/>
                </a:solidFill>
                <a:latin typeface="Calibri" pitchFamily="34" charset="0"/>
                <a:ea typeface="Calibri" pitchFamily="34" charset="-122"/>
                <a:cs typeface="Calibri" pitchFamily="34" charset="-120"/>
              </a:rPr>
              <a:t>Backups to a USB drive are normal, so plugging one in proves nothing.</a:t>
            </a:r>
            <a:endParaRPr lang="en-US" sz="1500" dirty="0"/>
          </a:p>
        </p:txBody>
      </p:sp>
      <p:sp>
        <p:nvSpPr>
          <p:cNvPr id="12" name="Shape 8"/>
          <p:cNvSpPr/>
          <p:nvPr/>
        </p:nvSpPr>
        <p:spPr>
          <a:xfrm>
            <a:off x="548640" y="4480560"/>
            <a:ext cx="566928" cy="566928"/>
          </a:xfrm>
          <a:prstGeom prst="ellipse">
            <a:avLst/>
          </a:prstGeom>
          <a:solidFill>
            <a:srgbClr val="1C2A35"/>
          </a:solidFill>
          <a:ln w="9525">
            <a:solidFill>
              <a:srgbClr val="2A3A46"/>
            </a:solidFill>
            <a:prstDash val="solid"/>
          </a:ln>
        </p:spPr>
      </p:sp>
      <p:pic>
        <p:nvPicPr>
          <p:cNvPr id="13" name="Image 2" descr="preencoded.png">    </p:cNvPr>
          <p:cNvPicPr>
            <a:picLocks noChangeAspect="1"/>
          </p:cNvPicPr>
          <p:nvPr/>
        </p:nvPicPr>
        <p:blipFill>
          <a:blip r:embed="rId3"/>
          <a:stretch>
            <a:fillRect/>
          </a:stretch>
        </p:blipFill>
        <p:spPr>
          <a:xfrm>
            <a:off x="673364" y="4605284"/>
            <a:ext cx="317480" cy="317480"/>
          </a:xfrm>
          <a:prstGeom prst="rect">
            <a:avLst/>
          </a:prstGeom>
        </p:spPr>
      </p:pic>
      <p:sp>
        <p:nvSpPr>
          <p:cNvPr id="14" name="Text 9"/>
          <p:cNvSpPr txBox="1"/>
          <p:nvPr/>
        </p:nvSpPr>
        <p:spPr>
          <a:xfrm>
            <a:off x="1325880" y="4462272"/>
            <a:ext cx="4846320" cy="365760"/>
          </a:xfrm>
          <a:prstGeom prst="rect">
            <a:avLst/>
          </a:prstGeom>
          <a:noFill/>
          <a:ln/>
        </p:spPr>
        <p:txBody>
          <a:bodyPr wrap="square" lIns="0" tIns="0" rIns="0" bIns="0" rtlCol="0" anchor="t"/>
          <a:lstStyle/>
          <a:p>
            <a:pPr indent="0" marL="0">
              <a:buNone/>
            </a:pPr>
            <a:r>
              <a:rPr lang="en-US" sz="1800" b="1" dirty="0">
                <a:solidFill>
                  <a:srgbClr val="E3EBF0"/>
                </a:solidFill>
                <a:latin typeface="Calibri" pitchFamily="34" charset="0"/>
                <a:ea typeface="Calibri" pitchFamily="34" charset="-122"/>
                <a:cs typeface="Calibri" pitchFamily="34" charset="-120"/>
              </a:rPr>
              <a:t>The investigator's problem</a:t>
            </a:r>
            <a:endParaRPr lang="en-US" sz="1800" dirty="0"/>
          </a:p>
        </p:txBody>
      </p:sp>
      <p:sp>
        <p:nvSpPr>
          <p:cNvPr id="15" name="Text 10"/>
          <p:cNvSpPr txBox="1"/>
          <p:nvPr/>
        </p:nvSpPr>
        <p:spPr>
          <a:xfrm>
            <a:off x="1325880" y="4846320"/>
            <a:ext cx="4846320" cy="731520"/>
          </a:xfrm>
          <a:prstGeom prst="rect">
            <a:avLst/>
          </a:prstGeom>
          <a:noFill/>
          <a:ln/>
        </p:spPr>
        <p:txBody>
          <a:bodyPr wrap="square" lIns="0" tIns="0" rIns="0" bIns="0" rtlCol="0" anchor="t"/>
          <a:lstStyle/>
          <a:p>
            <a:pPr indent="0" marL="0">
              <a:buNone/>
            </a:pPr>
            <a:r>
              <a:rPr lang="en-US" sz="1500" dirty="0">
                <a:solidFill>
                  <a:srgbClr val="94A6B3"/>
                </a:solidFill>
                <a:latin typeface="Calibri" pitchFamily="34" charset="0"/>
                <a:ea typeface="Calibri" pitchFamily="34" charset="-122"/>
                <a:cs typeface="Calibri" pitchFamily="34" charset="-120"/>
              </a:rPr>
              <a:t>Theft and a normal backup can look identical from a single trace.</a:t>
            </a:r>
            <a:endParaRPr lang="en-US" sz="1500" dirty="0"/>
          </a:p>
        </p:txBody>
      </p:sp>
      <p:sp>
        <p:nvSpPr>
          <p:cNvPr id="16" name="Shape 11"/>
          <p:cNvSpPr/>
          <p:nvPr/>
        </p:nvSpPr>
        <p:spPr>
          <a:xfrm>
            <a:off x="6492240" y="1828800"/>
            <a:ext cx="5148072" cy="3794760"/>
          </a:xfrm>
          <a:prstGeom prst="roundRect">
            <a:avLst>
              <a:gd name="adj" fmla="val 1928"/>
            </a:avLst>
          </a:prstGeom>
          <a:solidFill>
            <a:srgbClr val="16212A"/>
          </a:solidFill>
          <a:ln w="9525">
            <a:solidFill>
              <a:srgbClr val="2A3A46"/>
            </a:solidFill>
            <a:prstDash val="solid"/>
          </a:ln>
        </p:spPr>
      </p:sp>
      <p:sp>
        <p:nvSpPr>
          <p:cNvPr id="17" name="Text 12"/>
          <p:cNvSpPr txBox="1"/>
          <p:nvPr/>
        </p:nvSpPr>
        <p:spPr>
          <a:xfrm>
            <a:off x="6858000" y="2148840"/>
            <a:ext cx="4389120" cy="274320"/>
          </a:xfrm>
          <a:prstGeom prst="rect">
            <a:avLst/>
          </a:prstGeom>
          <a:noFill/>
          <a:ln/>
        </p:spPr>
        <p:txBody>
          <a:bodyPr wrap="square" lIns="0" tIns="0" rIns="0" bIns="0" rtlCol="0" anchor="t"/>
          <a:lstStyle/>
          <a:p>
            <a:pPr indent="0" marL="0">
              <a:buNone/>
            </a:pPr>
            <a:r>
              <a:rPr lang="en-US" sz="1100" spc="300" kern="0" dirty="0">
                <a:solidFill>
                  <a:srgbClr val="F0C04A"/>
                </a:solidFill>
                <a:latin typeface="Consolas" pitchFamily="34" charset="0"/>
                <a:ea typeface="Consolas" pitchFamily="34" charset="-122"/>
                <a:cs typeface="Consolas" pitchFamily="34" charset="-120"/>
              </a:rPr>
              <a:t>RESEARCH QUESTION</a:t>
            </a:r>
            <a:endParaRPr lang="en-US" sz="1100" dirty="0"/>
          </a:p>
        </p:txBody>
      </p:sp>
      <p:sp>
        <p:nvSpPr>
          <p:cNvPr id="18" name="Text 13"/>
          <p:cNvSpPr txBox="1"/>
          <p:nvPr/>
        </p:nvSpPr>
        <p:spPr>
          <a:xfrm>
            <a:off x="6858000" y="2560320"/>
            <a:ext cx="4434840" cy="2011680"/>
          </a:xfrm>
          <a:prstGeom prst="rect">
            <a:avLst/>
          </a:prstGeom>
          <a:noFill/>
          <a:ln/>
        </p:spPr>
        <p:txBody>
          <a:bodyPr wrap="square" lIns="0" tIns="0" rIns="0" bIns="0" rtlCol="0" anchor="t"/>
          <a:lstStyle/>
          <a:p>
            <a:pPr indent="0" marL="0">
              <a:buNone/>
            </a:pPr>
            <a:r>
              <a:rPr lang="en-US" sz="2400" i="1" dirty="0">
                <a:solidFill>
                  <a:srgbClr val="E3EBF0"/>
                </a:solidFill>
                <a:latin typeface="Cambria" pitchFamily="34" charset="0"/>
                <a:ea typeface="Cambria" pitchFamily="34" charset="-122"/>
                <a:cs typeface="Cambria" pitchFamily="34" charset="-120"/>
              </a:rPr>
              <a:t>Can the traces Windows leaves behind tell an ordinary USB backup apart from an insider copying sensitive company files?</a:t>
            </a:r>
            <a:endParaRPr lang="en-US" sz="2400" dirty="0"/>
          </a:p>
        </p:txBody>
      </p:sp>
      <p:sp>
        <p:nvSpPr>
          <p:cNvPr id="19" name="Text 14"/>
          <p:cNvSpPr txBox="1"/>
          <p:nvPr/>
        </p:nvSpPr>
        <p:spPr>
          <a:xfrm>
            <a:off x="6858000" y="4800600"/>
            <a:ext cx="4434840" cy="548640"/>
          </a:xfrm>
          <a:prstGeom prst="rect">
            <a:avLst/>
          </a:prstGeom>
          <a:noFill/>
          <a:ln/>
        </p:spPr>
        <p:txBody>
          <a:bodyPr wrap="square" lIns="0" tIns="0" rIns="0" bIns="0" rtlCol="0" anchor="t"/>
          <a:lstStyle/>
          <a:p>
            <a:pPr indent="0" marL="0">
              <a:buNone/>
            </a:pPr>
            <a:r>
              <a:rPr lang="en-US" sz="1400" dirty="0">
                <a:solidFill>
                  <a:srgbClr val="94A6B3"/>
                </a:solidFill>
                <a:latin typeface="Calibri" pitchFamily="34" charset="0"/>
                <a:ea typeface="Calibri" pitchFamily="34" charset="-122"/>
                <a:cs typeface="Calibri" pitchFamily="34" charset="-120"/>
              </a:rPr>
              <a:t>Answered with a controlled experiment and real Windows evidence.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spc="300" kern="0" dirty="0">
                <a:solidFill>
                  <a:srgbClr val="5CC0DD"/>
                </a:solidFill>
                <a:latin typeface="Consolas" pitchFamily="34" charset="0"/>
                <a:ea typeface="Consolas" pitchFamily="34" charset="-122"/>
                <a:cs typeface="Consolas" pitchFamily="34" charset="-120"/>
              </a:rPr>
              <a:t>02 · THE CORE IDEA</a:t>
            </a:r>
            <a:endParaRPr lang="en-US" sz="1100" dirty="0"/>
          </a:p>
        </p:txBody>
      </p:sp>
      <p:sp>
        <p:nvSpPr>
          <p:cNvPr id="3" name="Text 1"/>
          <p:cNvSpPr/>
          <p:nvPr>
            <p:ph idx="101" type="title" hasCustomPrompt="1"/>
          </p:nvPr>
        </p:nvSpPr>
        <p:spPr>
          <a:xfrm>
            <a:off x="548640" y="749808"/>
            <a:ext cx="11094415" cy="777240"/>
          </a:xfrm>
          <a:prstGeom prst="rect">
            <a:avLst/>
          </a:prstGeom>
          <a:noFill/>
          <a:ln/>
        </p:spPr>
        <p:txBody>
          <a:bodyPr wrap="square" lIns="0" tIns="0" rIns="0" bIns="0" rtlCol="0" anchor="t"/>
          <a:lstStyle/>
          <a:p>
            <a:pPr algn="l" indent="0" marL="0">
              <a:buNone/>
            </a:pPr>
            <a:r>
              <a:rPr lang="en-US" sz="3000" b="1" dirty="0">
                <a:solidFill>
                  <a:srgbClr val="E3EBF0"/>
                </a:solidFill>
                <a:latin typeface="Cambria" pitchFamily="34" charset="0"/>
                <a:ea typeface="Cambria" pitchFamily="34" charset="-122"/>
                <a:cs typeface="Cambria" pitchFamily="34" charset="-120"/>
              </a:rPr>
              <a:t>One clue proves nothing. Agreeing clues tell the story</a:t>
            </a:r>
            <a:endParaRPr lang="en-US" sz="3000" dirty="0"/>
          </a:p>
        </p:txBody>
      </p:sp>
      <p:sp>
        <p:nvSpPr>
          <p:cNvPr id="4" name="Shape 2"/>
          <p:cNvSpPr/>
          <p:nvPr/>
        </p:nvSpPr>
        <p:spPr>
          <a:xfrm>
            <a:off x="548640" y="1783080"/>
            <a:ext cx="3383280" cy="658368"/>
          </a:xfrm>
          <a:prstGeom prst="roundRect">
            <a:avLst>
              <a:gd name="adj" fmla="val 11111"/>
            </a:avLst>
          </a:prstGeom>
          <a:solidFill>
            <a:srgbClr val="16212A"/>
          </a:solidFill>
          <a:ln w="9525">
            <a:solidFill>
              <a:srgbClr val="2A3A46"/>
            </a:solidFill>
            <a:prstDash val="solid"/>
          </a:ln>
        </p:spPr>
      </p:sp>
      <p:pic>
        <p:nvPicPr>
          <p:cNvPr id="5" name="Image 0" descr="preencoded.png">    </p:cNvPr>
          <p:cNvPicPr>
            <a:picLocks noChangeAspect="1"/>
          </p:cNvPicPr>
          <p:nvPr/>
        </p:nvPicPr>
        <p:blipFill>
          <a:blip r:embed="rId1"/>
          <a:stretch>
            <a:fillRect/>
          </a:stretch>
        </p:blipFill>
        <p:spPr>
          <a:xfrm>
            <a:off x="731520" y="1947672"/>
            <a:ext cx="329184" cy="329184"/>
          </a:xfrm>
          <a:prstGeom prst="rect">
            <a:avLst/>
          </a:prstGeom>
        </p:spPr>
      </p:pic>
      <p:sp>
        <p:nvSpPr>
          <p:cNvPr id="6" name="Text 3"/>
          <p:cNvSpPr txBox="1"/>
          <p:nvPr/>
        </p:nvSpPr>
        <p:spPr>
          <a:xfrm>
            <a:off x="1234440" y="1965960"/>
            <a:ext cx="2606040" cy="320040"/>
          </a:xfrm>
          <a:prstGeom prst="rect">
            <a:avLst/>
          </a:prstGeom>
          <a:noFill/>
          <a:ln/>
        </p:spPr>
        <p:txBody>
          <a:bodyPr wrap="square" lIns="0" tIns="0" rIns="0" bIns="0" rtlCol="0" anchor="t"/>
          <a:lstStyle/>
          <a:p>
            <a:pPr indent="0" marL="0">
              <a:buNone/>
            </a:pPr>
            <a:r>
              <a:rPr lang="en-US" sz="1500" dirty="0">
                <a:solidFill>
                  <a:srgbClr val="E3EBF0"/>
                </a:solidFill>
                <a:latin typeface="Calibri" pitchFamily="34" charset="0"/>
                <a:ea typeface="Calibri" pitchFamily="34" charset="-122"/>
                <a:cs typeface="Calibri" pitchFamily="34" charset="-120"/>
              </a:rPr>
              <a:t>USB connected</a:t>
            </a:r>
            <a:endParaRPr lang="en-US" sz="1500" dirty="0"/>
          </a:p>
        </p:txBody>
      </p:sp>
      <p:sp>
        <p:nvSpPr>
          <p:cNvPr id="7" name="Shape 4"/>
          <p:cNvSpPr/>
          <p:nvPr/>
        </p:nvSpPr>
        <p:spPr>
          <a:xfrm>
            <a:off x="3931920" y="2112264"/>
            <a:ext cx="914400" cy="1472184"/>
          </a:xfrm>
          <a:prstGeom prst="line">
            <a:avLst/>
          </a:prstGeom>
          <a:noFill/>
          <a:ln w="15875">
            <a:solidFill>
              <a:srgbClr val="5CC0DD"/>
            </a:solidFill>
            <a:prstDash val="solid"/>
          </a:ln>
        </p:spPr>
      </p:sp>
      <p:sp>
        <p:nvSpPr>
          <p:cNvPr id="8" name="Shape 5"/>
          <p:cNvSpPr/>
          <p:nvPr/>
        </p:nvSpPr>
        <p:spPr>
          <a:xfrm>
            <a:off x="548640" y="2624328"/>
            <a:ext cx="3383280" cy="658368"/>
          </a:xfrm>
          <a:prstGeom prst="roundRect">
            <a:avLst>
              <a:gd name="adj" fmla="val 11111"/>
            </a:avLst>
          </a:prstGeom>
          <a:solidFill>
            <a:srgbClr val="16212A"/>
          </a:solidFill>
          <a:ln w="9525">
            <a:solidFill>
              <a:srgbClr val="2A3A46"/>
            </a:solidFill>
            <a:prstDash val="solid"/>
          </a:ln>
        </p:spPr>
      </p:sp>
      <p:pic>
        <p:nvPicPr>
          <p:cNvPr id="9" name="Image 1" descr="preencoded.png">    </p:cNvPr>
          <p:cNvPicPr>
            <a:picLocks noChangeAspect="1"/>
          </p:cNvPicPr>
          <p:nvPr/>
        </p:nvPicPr>
        <p:blipFill>
          <a:blip r:embed="rId2"/>
          <a:stretch>
            <a:fillRect/>
          </a:stretch>
        </p:blipFill>
        <p:spPr>
          <a:xfrm>
            <a:off x="731520" y="2788920"/>
            <a:ext cx="329184" cy="329184"/>
          </a:xfrm>
          <a:prstGeom prst="rect">
            <a:avLst/>
          </a:prstGeom>
        </p:spPr>
      </p:pic>
      <p:sp>
        <p:nvSpPr>
          <p:cNvPr id="10" name="Text 6"/>
          <p:cNvSpPr txBox="1"/>
          <p:nvPr/>
        </p:nvSpPr>
        <p:spPr>
          <a:xfrm>
            <a:off x="1234440" y="2807208"/>
            <a:ext cx="2606040" cy="320040"/>
          </a:xfrm>
          <a:prstGeom prst="rect">
            <a:avLst/>
          </a:prstGeom>
          <a:noFill/>
          <a:ln/>
        </p:spPr>
        <p:txBody>
          <a:bodyPr wrap="square" lIns="0" tIns="0" rIns="0" bIns="0" rtlCol="0" anchor="t"/>
          <a:lstStyle/>
          <a:p>
            <a:pPr indent="0" marL="0">
              <a:buNone/>
            </a:pPr>
            <a:r>
              <a:rPr lang="en-US" sz="1500" dirty="0">
                <a:solidFill>
                  <a:srgbClr val="E3EBF0"/>
                </a:solidFill>
                <a:latin typeface="Calibri" pitchFamily="34" charset="0"/>
                <a:ea typeface="Calibri" pitchFamily="34" charset="-122"/>
                <a:cs typeface="Calibri" pitchFamily="34" charset="-120"/>
              </a:rPr>
              <a:t>Sensitive file opened</a:t>
            </a:r>
            <a:endParaRPr lang="en-US" sz="1500" dirty="0"/>
          </a:p>
        </p:txBody>
      </p:sp>
      <p:sp>
        <p:nvSpPr>
          <p:cNvPr id="11" name="Shape 7"/>
          <p:cNvSpPr/>
          <p:nvPr/>
        </p:nvSpPr>
        <p:spPr>
          <a:xfrm>
            <a:off x="3931920" y="2953512"/>
            <a:ext cx="914400" cy="630936"/>
          </a:xfrm>
          <a:prstGeom prst="line">
            <a:avLst/>
          </a:prstGeom>
          <a:noFill/>
          <a:ln w="15875">
            <a:solidFill>
              <a:srgbClr val="F0C04A"/>
            </a:solidFill>
            <a:prstDash val="solid"/>
          </a:ln>
        </p:spPr>
      </p:sp>
      <p:sp>
        <p:nvSpPr>
          <p:cNvPr id="12" name="Shape 8"/>
          <p:cNvSpPr/>
          <p:nvPr/>
        </p:nvSpPr>
        <p:spPr>
          <a:xfrm>
            <a:off x="548640" y="3465576"/>
            <a:ext cx="3383280" cy="658368"/>
          </a:xfrm>
          <a:prstGeom prst="roundRect">
            <a:avLst>
              <a:gd name="adj" fmla="val 11111"/>
            </a:avLst>
          </a:prstGeom>
          <a:solidFill>
            <a:srgbClr val="16212A"/>
          </a:solidFill>
          <a:ln w="9525">
            <a:solidFill>
              <a:srgbClr val="2A3A46"/>
            </a:solidFill>
            <a:prstDash val="solid"/>
          </a:ln>
        </p:spPr>
      </p:sp>
      <p:pic>
        <p:nvPicPr>
          <p:cNvPr id="13" name="Image 2" descr="preencoded.png">    </p:cNvPr>
          <p:cNvPicPr>
            <a:picLocks noChangeAspect="1"/>
          </p:cNvPicPr>
          <p:nvPr/>
        </p:nvPicPr>
        <p:blipFill>
          <a:blip r:embed="rId3"/>
          <a:stretch>
            <a:fillRect/>
          </a:stretch>
        </p:blipFill>
        <p:spPr>
          <a:xfrm>
            <a:off x="731520" y="3630168"/>
            <a:ext cx="329184" cy="329184"/>
          </a:xfrm>
          <a:prstGeom prst="rect">
            <a:avLst/>
          </a:prstGeom>
        </p:spPr>
      </p:pic>
      <p:sp>
        <p:nvSpPr>
          <p:cNvPr id="14" name="Text 9"/>
          <p:cNvSpPr txBox="1"/>
          <p:nvPr/>
        </p:nvSpPr>
        <p:spPr>
          <a:xfrm>
            <a:off x="1234440" y="3648456"/>
            <a:ext cx="2606040" cy="320040"/>
          </a:xfrm>
          <a:prstGeom prst="rect">
            <a:avLst/>
          </a:prstGeom>
          <a:noFill/>
          <a:ln/>
        </p:spPr>
        <p:txBody>
          <a:bodyPr wrap="square" lIns="0" tIns="0" rIns="0" bIns="0" rtlCol="0" anchor="t"/>
          <a:lstStyle/>
          <a:p>
            <a:pPr indent="0" marL="0">
              <a:buNone/>
            </a:pPr>
            <a:r>
              <a:rPr lang="en-US" sz="1500" dirty="0">
                <a:solidFill>
                  <a:srgbClr val="E3EBF0"/>
                </a:solidFill>
                <a:latin typeface="Calibri" pitchFamily="34" charset="0"/>
                <a:ea typeface="Calibri" pitchFamily="34" charset="-122"/>
                <a:cs typeface="Calibri" pitchFamily="34" charset="-120"/>
              </a:rPr>
              <a:t>Same file appears on USB</a:t>
            </a:r>
            <a:endParaRPr lang="en-US" sz="1500" dirty="0"/>
          </a:p>
        </p:txBody>
      </p:sp>
      <p:sp>
        <p:nvSpPr>
          <p:cNvPr id="15" name="Shape 10"/>
          <p:cNvSpPr/>
          <p:nvPr/>
        </p:nvSpPr>
        <p:spPr>
          <a:xfrm flipV="1">
            <a:off x="3931920" y="3584448"/>
            <a:ext cx="914400" cy="210312"/>
          </a:xfrm>
          <a:prstGeom prst="line">
            <a:avLst/>
          </a:prstGeom>
          <a:noFill/>
          <a:ln w="15875">
            <a:solidFill>
              <a:srgbClr val="F0C04A"/>
            </a:solidFill>
            <a:prstDash val="solid"/>
          </a:ln>
        </p:spPr>
      </p:sp>
      <p:sp>
        <p:nvSpPr>
          <p:cNvPr id="16" name="Shape 11"/>
          <p:cNvSpPr/>
          <p:nvPr/>
        </p:nvSpPr>
        <p:spPr>
          <a:xfrm>
            <a:off x="548640" y="4306824"/>
            <a:ext cx="3383280" cy="658368"/>
          </a:xfrm>
          <a:prstGeom prst="roundRect">
            <a:avLst>
              <a:gd name="adj" fmla="val 11111"/>
            </a:avLst>
          </a:prstGeom>
          <a:solidFill>
            <a:srgbClr val="16212A"/>
          </a:solidFill>
          <a:ln w="9525">
            <a:solidFill>
              <a:srgbClr val="2A3A46"/>
            </a:solidFill>
            <a:prstDash val="solid"/>
          </a:ln>
        </p:spPr>
      </p:sp>
      <p:pic>
        <p:nvPicPr>
          <p:cNvPr id="17" name="Image 3" descr="preencoded.png">    </p:cNvPr>
          <p:cNvPicPr>
            <a:picLocks noChangeAspect="1"/>
          </p:cNvPicPr>
          <p:nvPr/>
        </p:nvPicPr>
        <p:blipFill>
          <a:blip r:embed="rId4"/>
          <a:stretch>
            <a:fillRect/>
          </a:stretch>
        </p:blipFill>
        <p:spPr>
          <a:xfrm>
            <a:off x="731520" y="4471416"/>
            <a:ext cx="329184" cy="329184"/>
          </a:xfrm>
          <a:prstGeom prst="rect">
            <a:avLst/>
          </a:prstGeom>
        </p:spPr>
      </p:pic>
      <p:sp>
        <p:nvSpPr>
          <p:cNvPr id="18" name="Text 12"/>
          <p:cNvSpPr txBox="1"/>
          <p:nvPr/>
        </p:nvSpPr>
        <p:spPr>
          <a:xfrm>
            <a:off x="1234440" y="4489704"/>
            <a:ext cx="2606040" cy="320040"/>
          </a:xfrm>
          <a:prstGeom prst="rect">
            <a:avLst/>
          </a:prstGeom>
          <a:noFill/>
          <a:ln/>
        </p:spPr>
        <p:txBody>
          <a:bodyPr wrap="square" lIns="0" tIns="0" rIns="0" bIns="0" rtlCol="0" anchor="t"/>
          <a:lstStyle/>
          <a:p>
            <a:pPr indent="0" marL="0">
              <a:buNone/>
            </a:pPr>
            <a:r>
              <a:rPr lang="en-US" sz="1500" dirty="0">
                <a:solidFill>
                  <a:srgbClr val="E3EBF0"/>
                </a:solidFill>
                <a:latin typeface="Calibri" pitchFamily="34" charset="0"/>
                <a:ea typeface="Calibri" pitchFamily="34" charset="-122"/>
                <a:cs typeface="Calibri" pitchFamily="34" charset="-120"/>
              </a:rPr>
              <a:t>User logged in</a:t>
            </a:r>
            <a:endParaRPr lang="en-US" sz="1500" dirty="0"/>
          </a:p>
        </p:txBody>
      </p:sp>
      <p:sp>
        <p:nvSpPr>
          <p:cNvPr id="19" name="Shape 13"/>
          <p:cNvSpPr/>
          <p:nvPr/>
        </p:nvSpPr>
        <p:spPr>
          <a:xfrm flipV="1">
            <a:off x="3931920" y="3584448"/>
            <a:ext cx="914400" cy="1051560"/>
          </a:xfrm>
          <a:prstGeom prst="line">
            <a:avLst/>
          </a:prstGeom>
          <a:noFill/>
          <a:ln w="15875">
            <a:solidFill>
              <a:srgbClr val="94A6B3"/>
            </a:solidFill>
            <a:prstDash val="solid"/>
          </a:ln>
        </p:spPr>
      </p:sp>
      <p:sp>
        <p:nvSpPr>
          <p:cNvPr id="20" name="Shape 14"/>
          <p:cNvSpPr/>
          <p:nvPr/>
        </p:nvSpPr>
        <p:spPr>
          <a:xfrm>
            <a:off x="548640" y="5148072"/>
            <a:ext cx="3383280" cy="658368"/>
          </a:xfrm>
          <a:prstGeom prst="roundRect">
            <a:avLst>
              <a:gd name="adj" fmla="val 11111"/>
            </a:avLst>
          </a:prstGeom>
          <a:solidFill>
            <a:srgbClr val="16212A"/>
          </a:solidFill>
          <a:ln w="9525">
            <a:solidFill>
              <a:srgbClr val="2A3A46"/>
            </a:solidFill>
            <a:prstDash val="solid"/>
          </a:ln>
        </p:spPr>
      </p:sp>
      <p:pic>
        <p:nvPicPr>
          <p:cNvPr id="21" name="Image 4" descr="preencoded.png">    </p:cNvPr>
          <p:cNvPicPr>
            <a:picLocks noChangeAspect="1"/>
          </p:cNvPicPr>
          <p:nvPr/>
        </p:nvPicPr>
        <p:blipFill>
          <a:blip r:embed="rId5"/>
          <a:stretch>
            <a:fillRect/>
          </a:stretch>
        </p:blipFill>
        <p:spPr>
          <a:xfrm>
            <a:off x="731520" y="5312664"/>
            <a:ext cx="329184" cy="329184"/>
          </a:xfrm>
          <a:prstGeom prst="rect">
            <a:avLst/>
          </a:prstGeom>
        </p:spPr>
      </p:pic>
      <p:sp>
        <p:nvSpPr>
          <p:cNvPr id="22" name="Text 15"/>
          <p:cNvSpPr txBox="1"/>
          <p:nvPr/>
        </p:nvSpPr>
        <p:spPr>
          <a:xfrm>
            <a:off x="1234440" y="5330952"/>
            <a:ext cx="2606040" cy="320040"/>
          </a:xfrm>
          <a:prstGeom prst="rect">
            <a:avLst/>
          </a:prstGeom>
          <a:noFill/>
          <a:ln/>
        </p:spPr>
        <p:txBody>
          <a:bodyPr wrap="square" lIns="0" tIns="0" rIns="0" bIns="0" rtlCol="0" anchor="t"/>
          <a:lstStyle/>
          <a:p>
            <a:pPr indent="0" marL="0">
              <a:buNone/>
            </a:pPr>
            <a:r>
              <a:rPr lang="en-US" sz="1500" dirty="0">
                <a:solidFill>
                  <a:srgbClr val="E3EBF0"/>
                </a:solidFill>
                <a:latin typeface="Calibri" pitchFamily="34" charset="0"/>
                <a:ea typeface="Calibri" pitchFamily="34" charset="-122"/>
                <a:cs typeface="Calibri" pitchFamily="34" charset="-120"/>
              </a:rPr>
              <a:t>ZIP made / file deleted</a:t>
            </a:r>
            <a:endParaRPr lang="en-US" sz="1500" dirty="0"/>
          </a:p>
        </p:txBody>
      </p:sp>
      <p:sp>
        <p:nvSpPr>
          <p:cNvPr id="23" name="Shape 16"/>
          <p:cNvSpPr/>
          <p:nvPr/>
        </p:nvSpPr>
        <p:spPr>
          <a:xfrm flipV="1">
            <a:off x="3931920" y="3584448"/>
            <a:ext cx="914400" cy="1892808"/>
          </a:xfrm>
          <a:prstGeom prst="line">
            <a:avLst/>
          </a:prstGeom>
          <a:noFill/>
          <a:ln w="15875">
            <a:solidFill>
              <a:srgbClr val="F08B78"/>
            </a:solidFill>
            <a:prstDash val="solid"/>
          </a:ln>
        </p:spPr>
      </p:sp>
      <p:sp>
        <p:nvSpPr>
          <p:cNvPr id="24" name="Shape 17"/>
          <p:cNvSpPr/>
          <p:nvPr/>
        </p:nvSpPr>
        <p:spPr>
          <a:xfrm>
            <a:off x="4846320" y="2852928"/>
            <a:ext cx="2651760" cy="1463040"/>
          </a:xfrm>
          <a:prstGeom prst="roundRect">
            <a:avLst>
              <a:gd name="adj" fmla="val 5000"/>
            </a:avLst>
          </a:prstGeom>
          <a:solidFill>
            <a:srgbClr val="1C2A35"/>
          </a:solidFill>
          <a:ln w="9525">
            <a:solidFill>
              <a:srgbClr val="2A3A46"/>
            </a:solidFill>
            <a:prstDash val="solid"/>
          </a:ln>
        </p:spPr>
      </p:sp>
      <p:sp>
        <p:nvSpPr>
          <p:cNvPr id="25" name="Text 18"/>
          <p:cNvSpPr txBox="1"/>
          <p:nvPr/>
        </p:nvSpPr>
        <p:spPr>
          <a:xfrm>
            <a:off x="4983480" y="3090672"/>
            <a:ext cx="2377440" cy="411480"/>
          </a:xfrm>
          <a:prstGeom prst="rect">
            <a:avLst/>
          </a:prstGeom>
          <a:noFill/>
          <a:ln/>
        </p:spPr>
        <p:txBody>
          <a:bodyPr wrap="square" lIns="0" tIns="0" rIns="0" bIns="0" rtlCol="0" anchor="t"/>
          <a:lstStyle/>
          <a:p>
            <a:pPr algn="ctr" indent="0" marL="0">
              <a:buNone/>
            </a:pPr>
            <a:r>
              <a:rPr lang="en-US" sz="1800" b="1" dirty="0">
                <a:solidFill>
                  <a:srgbClr val="E3EBF0"/>
                </a:solidFill>
                <a:latin typeface="Cambria" pitchFamily="34" charset="0"/>
                <a:ea typeface="Cambria" pitchFamily="34" charset="-122"/>
                <a:cs typeface="Cambria" pitchFamily="34" charset="-120"/>
              </a:rPr>
              <a:t>Same USB window</a:t>
            </a:r>
            <a:endParaRPr lang="en-US" sz="1800" dirty="0"/>
          </a:p>
        </p:txBody>
      </p:sp>
      <p:sp>
        <p:nvSpPr>
          <p:cNvPr id="26" name="Text 19"/>
          <p:cNvSpPr txBox="1"/>
          <p:nvPr/>
        </p:nvSpPr>
        <p:spPr>
          <a:xfrm>
            <a:off x="4983480" y="3566160"/>
            <a:ext cx="2377440" cy="320040"/>
          </a:xfrm>
          <a:prstGeom prst="rect">
            <a:avLst/>
          </a:prstGeom>
          <a:noFill/>
          <a:ln/>
        </p:spPr>
        <p:txBody>
          <a:bodyPr wrap="square" lIns="0" tIns="0" rIns="0" bIns="0" rtlCol="0" anchor="t"/>
          <a:lstStyle/>
          <a:p>
            <a:pPr algn="ctr" indent="0" marL="0">
              <a:buNone/>
            </a:pPr>
            <a:r>
              <a:rPr lang="en-US" sz="1300" dirty="0">
                <a:solidFill>
                  <a:srgbClr val="94A6B3"/>
                </a:solidFill>
                <a:latin typeface="Calibri" pitchFamily="34" charset="0"/>
                <a:ea typeface="Calibri" pitchFamily="34" charset="-122"/>
                <a:cs typeface="Calibri" pitchFamily="34" charset="-120"/>
              </a:rPr>
              <a:t>20 minutes, configurable</a:t>
            </a:r>
            <a:endParaRPr lang="en-US" sz="1300" dirty="0"/>
          </a:p>
        </p:txBody>
      </p:sp>
      <p:pic>
        <p:nvPicPr>
          <p:cNvPr id="27" name="Image 5" descr="preencoded.png">    </p:cNvPr>
          <p:cNvPicPr>
            <a:picLocks noChangeAspect="1"/>
          </p:cNvPicPr>
          <p:nvPr/>
        </p:nvPicPr>
        <p:blipFill>
          <a:blip r:embed="rId6"/>
          <a:stretch>
            <a:fillRect/>
          </a:stretch>
        </p:blipFill>
        <p:spPr>
          <a:xfrm>
            <a:off x="7635240" y="3401568"/>
            <a:ext cx="365760" cy="365760"/>
          </a:xfrm>
          <a:prstGeom prst="rect">
            <a:avLst/>
          </a:prstGeom>
        </p:spPr>
      </p:pic>
      <p:sp>
        <p:nvSpPr>
          <p:cNvPr id="28" name="Shape 20"/>
          <p:cNvSpPr/>
          <p:nvPr/>
        </p:nvSpPr>
        <p:spPr>
          <a:xfrm>
            <a:off x="8138160" y="2852928"/>
            <a:ext cx="3502152" cy="1463040"/>
          </a:xfrm>
          <a:prstGeom prst="roundRect">
            <a:avLst>
              <a:gd name="adj" fmla="val 5000"/>
            </a:avLst>
          </a:prstGeom>
          <a:solidFill>
            <a:srgbClr val="1C2A35"/>
          </a:solidFill>
          <a:ln w="9525">
            <a:solidFill>
              <a:srgbClr val="2A3A46"/>
            </a:solidFill>
            <a:prstDash val="solid"/>
          </a:ln>
        </p:spPr>
      </p:sp>
      <p:sp>
        <p:nvSpPr>
          <p:cNvPr id="29" name="Text 21"/>
          <p:cNvSpPr txBox="1"/>
          <p:nvPr/>
        </p:nvSpPr>
        <p:spPr>
          <a:xfrm>
            <a:off x="8321040" y="3090672"/>
            <a:ext cx="3154680" cy="411480"/>
          </a:xfrm>
          <a:prstGeom prst="rect">
            <a:avLst/>
          </a:prstGeom>
          <a:noFill/>
          <a:ln/>
        </p:spPr>
        <p:txBody>
          <a:bodyPr wrap="square" lIns="0" tIns="0" rIns="0" bIns="0" rtlCol="0" anchor="t"/>
          <a:lstStyle/>
          <a:p>
            <a:pPr indent="0" marL="0">
              <a:buNone/>
            </a:pPr>
            <a:r>
              <a:rPr lang="en-US" sz="1800" b="1" dirty="0">
                <a:solidFill>
                  <a:srgbClr val="E3EBF0"/>
                </a:solidFill>
                <a:latin typeface="Cambria" pitchFamily="34" charset="0"/>
                <a:ea typeface="Cambria" pitchFamily="34" charset="-122"/>
                <a:cs typeface="Cambria" pitchFamily="34" charset="-120"/>
              </a:rPr>
              <a:t>Explainable conclusion</a:t>
            </a:r>
            <a:endParaRPr lang="en-US" sz="1800" dirty="0"/>
          </a:p>
        </p:txBody>
      </p:sp>
      <p:sp>
        <p:nvSpPr>
          <p:cNvPr id="30" name="Text 22"/>
          <p:cNvSpPr txBox="1"/>
          <p:nvPr/>
        </p:nvSpPr>
        <p:spPr>
          <a:xfrm>
            <a:off x="8321040" y="3547872"/>
            <a:ext cx="3154680" cy="640080"/>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with confidence, the exact records used, and a stated limit</a:t>
            </a:r>
            <a:endParaRPr lang="en-US" sz="1300" dirty="0"/>
          </a:p>
        </p:txBody>
      </p:sp>
      <p:sp>
        <p:nvSpPr>
          <p:cNvPr id="31" name="Text 23"/>
          <p:cNvSpPr txBox="1"/>
          <p:nvPr/>
        </p:nvSpPr>
        <p:spPr>
          <a:xfrm>
            <a:off x="4846320" y="4892040"/>
            <a:ext cx="6793992" cy="731520"/>
          </a:xfrm>
          <a:prstGeom prst="rect">
            <a:avLst/>
          </a:prstGeom>
          <a:noFill/>
          <a:ln/>
        </p:spPr>
        <p:txBody>
          <a:bodyPr wrap="square" lIns="0" tIns="0" rIns="0" bIns="0" rtlCol="0" anchor="t"/>
          <a:lstStyle/>
          <a:p>
            <a:pPr indent="0" marL="0">
              <a:buNone/>
            </a:pPr>
            <a:r>
              <a:rPr lang="en-US" sz="1500" i="1" dirty="0">
                <a:solidFill>
                  <a:srgbClr val="E3EBF0"/>
                </a:solidFill>
                <a:latin typeface="Calibri" pitchFamily="34" charset="0"/>
                <a:ea typeface="Calibri" pitchFamily="34" charset="-122"/>
                <a:cs typeface="Calibri" pitchFamily="34" charset="-120"/>
              </a:rPr>
              <a:t>A USB connection appears in both normal and suspicious use. Only independent clues agreeing inside the same window make a strong case.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spc="300" kern="0" dirty="0">
                <a:solidFill>
                  <a:srgbClr val="5CC0DD"/>
                </a:solidFill>
                <a:latin typeface="Consolas" pitchFamily="34" charset="0"/>
                <a:ea typeface="Consolas" pitchFamily="34" charset="-122"/>
                <a:cs typeface="Consolas" pitchFamily="34" charset="-120"/>
              </a:rPr>
              <a:t>03 · EXPERIMENT DESIGN</a:t>
            </a:r>
            <a:endParaRPr lang="en-US" sz="1100" dirty="0"/>
          </a:p>
        </p:txBody>
      </p:sp>
      <p:sp>
        <p:nvSpPr>
          <p:cNvPr id="3" name="Text 1"/>
          <p:cNvSpPr/>
          <p:nvPr>
            <p:ph idx="101" type="title" hasCustomPrompt="1"/>
          </p:nvPr>
        </p:nvSpPr>
        <p:spPr>
          <a:xfrm>
            <a:off x="548640" y="749808"/>
            <a:ext cx="11094415" cy="777240"/>
          </a:xfrm>
          <a:prstGeom prst="rect">
            <a:avLst/>
          </a:prstGeom>
          <a:noFill/>
          <a:ln/>
        </p:spPr>
        <p:txBody>
          <a:bodyPr wrap="square" lIns="0" tIns="0" rIns="0" bIns="0" rtlCol="0" anchor="t"/>
          <a:lstStyle/>
          <a:p>
            <a:pPr algn="l" indent="0" marL="0">
              <a:buNone/>
            </a:pPr>
            <a:r>
              <a:rPr lang="en-US" sz="3000" b="1" dirty="0">
                <a:solidFill>
                  <a:srgbClr val="E3EBF0"/>
                </a:solidFill>
                <a:latin typeface="Cambria" pitchFamily="34" charset="0"/>
                <a:ea typeface="Cambria" pitchFamily="34" charset="-122"/>
                <a:cs typeface="Cambria" pitchFamily="34" charset="-120"/>
              </a:rPr>
              <a:t>A fair test needs a control</a:t>
            </a:r>
            <a:endParaRPr lang="en-US" sz="3000" dirty="0"/>
          </a:p>
        </p:txBody>
      </p:sp>
      <p:sp>
        <p:nvSpPr>
          <p:cNvPr id="4" name="Shape 2"/>
          <p:cNvSpPr/>
          <p:nvPr/>
        </p:nvSpPr>
        <p:spPr>
          <a:xfrm>
            <a:off x="548640" y="1783080"/>
            <a:ext cx="11094415" cy="640080"/>
          </a:xfrm>
          <a:prstGeom prst="roundRect">
            <a:avLst>
              <a:gd name="adj" fmla="val 11429"/>
            </a:avLst>
          </a:prstGeom>
          <a:solidFill>
            <a:srgbClr val="1C2A35"/>
          </a:solidFill>
          <a:ln w="9525">
            <a:solidFill>
              <a:srgbClr val="2A3A46"/>
            </a:solidFill>
            <a:prstDash val="solid"/>
          </a:ln>
        </p:spPr>
      </p:sp>
      <p:sp>
        <p:nvSpPr>
          <p:cNvPr id="5" name="Text 3"/>
          <p:cNvSpPr txBox="1"/>
          <p:nvPr/>
        </p:nvSpPr>
        <p:spPr>
          <a:xfrm>
            <a:off x="548640" y="1938528"/>
            <a:ext cx="11094415" cy="365760"/>
          </a:xfrm>
          <a:prstGeom prst="rect">
            <a:avLst/>
          </a:prstGeom>
          <a:noFill/>
          <a:ln/>
        </p:spPr>
        <p:txBody>
          <a:bodyPr wrap="square" lIns="0" tIns="0" rIns="0" bIns="0" rtlCol="0" anchor="t"/>
          <a:lstStyle/>
          <a:p>
            <a:pPr algn="ctr" indent="0" marL="0">
              <a:buNone/>
            </a:pPr>
            <a:r>
              <a:rPr lang="en-US" sz="1600" dirty="0">
                <a:solidFill>
                  <a:srgbClr val="94A6B3"/>
                </a:solidFill>
                <a:latin typeface="Calibri" pitchFamily="34" charset="0"/>
                <a:ea typeface="Calibri" pitchFamily="34" charset="-122"/>
                <a:cs typeface="Calibri" pitchFamily="34" charset="-120"/>
              </a:rPr>
              <a:t>Same laptop   ·   same Windows user   ·   same USB drive   ·   same fictional company files</a:t>
            </a:r>
            <a:endParaRPr lang="en-US" sz="1600" dirty="0"/>
          </a:p>
        </p:txBody>
      </p:sp>
      <p:sp>
        <p:nvSpPr>
          <p:cNvPr id="6" name="Shape 4"/>
          <p:cNvSpPr/>
          <p:nvPr/>
        </p:nvSpPr>
        <p:spPr>
          <a:xfrm>
            <a:off x="548640" y="2697480"/>
            <a:ext cx="5394960" cy="3383280"/>
          </a:xfrm>
          <a:prstGeom prst="roundRect">
            <a:avLst>
              <a:gd name="adj" fmla="val 2162"/>
            </a:avLst>
          </a:prstGeom>
          <a:solidFill>
            <a:srgbClr val="16212A"/>
          </a:solidFill>
          <a:ln w="9525">
            <a:solidFill>
              <a:srgbClr val="2A3A46"/>
            </a:solidFill>
            <a:prstDash val="solid"/>
          </a:ln>
        </p:spPr>
      </p:sp>
      <p:sp>
        <p:nvSpPr>
          <p:cNvPr id="7" name="Shape 5"/>
          <p:cNvSpPr/>
          <p:nvPr/>
        </p:nvSpPr>
        <p:spPr>
          <a:xfrm>
            <a:off x="868680" y="2971800"/>
            <a:ext cx="1417320" cy="274320"/>
          </a:xfrm>
          <a:prstGeom prst="roundRect">
            <a:avLst>
              <a:gd name="adj" fmla="val 16667"/>
            </a:avLst>
          </a:prstGeom>
          <a:solidFill>
            <a:srgbClr val="5CC0DD">
              <a:alpha val="18000"/>
            </a:srgbClr>
          </a:solidFill>
          <a:ln w="9525">
            <a:solidFill>
              <a:srgbClr val="5CC0DD"/>
            </a:solidFill>
            <a:prstDash val="solid"/>
          </a:ln>
        </p:spPr>
      </p:sp>
      <p:sp>
        <p:nvSpPr>
          <p:cNvPr id="8" name="Text 6"/>
          <p:cNvSpPr txBox="1"/>
          <p:nvPr/>
        </p:nvSpPr>
        <p:spPr>
          <a:xfrm>
            <a:off x="868680" y="2971800"/>
            <a:ext cx="1417320" cy="274320"/>
          </a:xfrm>
          <a:prstGeom prst="rect">
            <a:avLst/>
          </a:prstGeom>
          <a:noFill/>
          <a:ln/>
        </p:spPr>
        <p:txBody>
          <a:bodyPr wrap="square" lIns="0" tIns="0" rIns="0" bIns="0" rtlCol="0" anchor="ctr"/>
          <a:lstStyle/>
          <a:p>
            <a:pPr algn="ctr" indent="0" marL="0">
              <a:buNone/>
            </a:pPr>
            <a:r>
              <a:rPr lang="en-US" sz="1000" dirty="0">
                <a:solidFill>
                  <a:srgbClr val="5CC0DD"/>
                </a:solidFill>
                <a:latin typeface="Consolas" pitchFamily="34" charset="0"/>
                <a:ea typeface="Consolas" pitchFamily="34" charset="-122"/>
                <a:cs typeface="Consolas" pitchFamily="34" charset="-120"/>
              </a:rPr>
              <a:t>EXPERIMENT A</a:t>
            </a:r>
            <a:endParaRPr lang="en-US" sz="1000" dirty="0"/>
          </a:p>
        </p:txBody>
      </p:sp>
      <p:sp>
        <p:nvSpPr>
          <p:cNvPr id="9" name="Text 7"/>
          <p:cNvSpPr txBox="1"/>
          <p:nvPr/>
        </p:nvSpPr>
        <p:spPr>
          <a:xfrm>
            <a:off x="868680" y="3383280"/>
            <a:ext cx="4754880" cy="457200"/>
          </a:xfrm>
          <a:prstGeom prst="rect">
            <a:avLst/>
          </a:prstGeom>
          <a:noFill/>
          <a:ln/>
        </p:spPr>
        <p:txBody>
          <a:bodyPr wrap="square" lIns="0" tIns="0" rIns="0" bIns="0" rtlCol="0" anchor="t"/>
          <a:lstStyle/>
          <a:p>
            <a:pPr indent="0" marL="0">
              <a:buNone/>
            </a:pPr>
            <a:r>
              <a:rPr lang="en-US" sz="2200" b="1" dirty="0">
                <a:solidFill>
                  <a:srgbClr val="E3EBF0"/>
                </a:solidFill>
                <a:latin typeface="Cambria" pitchFamily="34" charset="0"/>
                <a:ea typeface="Cambria" pitchFamily="34" charset="-122"/>
                <a:cs typeface="Cambria" pitchFamily="34" charset="-120"/>
              </a:rPr>
              <a:t>Normal backup (control)</a:t>
            </a:r>
            <a:endParaRPr lang="en-US" sz="2200" dirty="0"/>
          </a:p>
        </p:txBody>
      </p:sp>
      <p:sp>
        <p:nvSpPr>
          <p:cNvPr id="10" name="Text 8"/>
          <p:cNvSpPr txBox="1"/>
          <p:nvPr/>
        </p:nvSpPr>
        <p:spPr>
          <a:xfrm>
            <a:off x="868680" y="3931920"/>
            <a:ext cx="4754880" cy="16002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3EBF0"/>
                </a:solidFill>
                <a:latin typeface="Calibri" pitchFamily="34" charset="0"/>
                <a:ea typeface="Calibri" pitchFamily="34" charset="-122"/>
                <a:cs typeface="Calibri" pitchFamily="34" charset="-120"/>
              </a:rPr>
              <a:t>Plug in the USB drive</a:t>
            </a:r>
            <a:endParaRPr lang="en-US" sz="1500" dirty="0"/>
          </a:p>
          <a:p>
            <a:pPr marL="342900" indent="-342900">
              <a:spcAft>
                <a:spcPts val="400"/>
              </a:spcAft>
              <a:buSzPct val="100000"/>
              <a:buChar char="•"/>
            </a:pPr>
            <a:r>
              <a:rPr lang="en-US" sz="1500" dirty="0">
                <a:solidFill>
                  <a:srgbClr val="E3EBF0"/>
                </a:solidFill>
                <a:latin typeface="Calibri" pitchFamily="34" charset="0"/>
                <a:ea typeface="Calibri" pitchFamily="34" charset="-122"/>
                <a:cs typeface="Calibri" pitchFamily="34" charset="-120"/>
              </a:rPr>
              <a:t>Open an ordinary Readme.txt</a:t>
            </a:r>
            <a:endParaRPr lang="en-US" sz="1500" dirty="0"/>
          </a:p>
          <a:p>
            <a:pPr marL="342900" indent="-342900">
              <a:spcAft>
                <a:spcPts val="400"/>
              </a:spcAft>
              <a:buSzPct val="100000"/>
              <a:buChar char="•"/>
            </a:pPr>
            <a:r>
              <a:rPr lang="en-US" sz="1500" dirty="0">
                <a:solidFill>
                  <a:srgbClr val="E3EBF0"/>
                </a:solidFill>
                <a:latin typeface="Calibri" pitchFamily="34" charset="0"/>
                <a:ea typeface="Calibri" pitchFamily="34" charset="-122"/>
                <a:cs typeface="Calibri" pitchFamily="34" charset="-120"/>
              </a:rPr>
              <a:t>Copy it to the USB</a:t>
            </a:r>
            <a:endParaRPr lang="en-US" sz="1500" dirty="0"/>
          </a:p>
        </p:txBody>
      </p:sp>
      <p:sp>
        <p:nvSpPr>
          <p:cNvPr id="11" name="Text 9"/>
          <p:cNvSpPr txBox="1"/>
          <p:nvPr/>
        </p:nvSpPr>
        <p:spPr>
          <a:xfrm>
            <a:off x="868680" y="5577840"/>
            <a:ext cx="4754880" cy="320040"/>
          </a:xfrm>
          <a:prstGeom prst="rect">
            <a:avLst/>
          </a:prstGeom>
          <a:noFill/>
          <a:ln/>
        </p:spPr>
        <p:txBody>
          <a:bodyPr wrap="square" lIns="0" tIns="0" rIns="0" bIns="0" rtlCol="0" anchor="t"/>
          <a:lstStyle/>
          <a:p>
            <a:pPr indent="0" marL="0">
              <a:buNone/>
            </a:pPr>
            <a:r>
              <a:rPr lang="en-US" sz="1400" i="1" dirty="0">
                <a:solidFill>
                  <a:srgbClr val="5CC0DD"/>
                </a:solidFill>
                <a:latin typeface="Calibri" pitchFamily="34" charset="0"/>
                <a:ea typeface="Calibri" pitchFamily="34" charset="-122"/>
                <a:cs typeface="Calibri" pitchFamily="34" charset="-120"/>
              </a:rPr>
              <a:t>Expected: USB used, no leak</a:t>
            </a:r>
            <a:endParaRPr lang="en-US" sz="1400" dirty="0"/>
          </a:p>
        </p:txBody>
      </p:sp>
      <p:sp>
        <p:nvSpPr>
          <p:cNvPr id="12" name="Shape 10"/>
          <p:cNvSpPr/>
          <p:nvPr/>
        </p:nvSpPr>
        <p:spPr>
          <a:xfrm>
            <a:off x="6190488" y="2697480"/>
            <a:ext cx="5394960" cy="3383280"/>
          </a:xfrm>
          <a:prstGeom prst="roundRect">
            <a:avLst>
              <a:gd name="adj" fmla="val 2162"/>
            </a:avLst>
          </a:prstGeom>
          <a:solidFill>
            <a:srgbClr val="16212A"/>
          </a:solidFill>
          <a:ln w="9525">
            <a:solidFill>
              <a:srgbClr val="2A3A46"/>
            </a:solidFill>
            <a:prstDash val="solid"/>
          </a:ln>
        </p:spPr>
      </p:sp>
      <p:sp>
        <p:nvSpPr>
          <p:cNvPr id="13" name="Shape 11"/>
          <p:cNvSpPr/>
          <p:nvPr/>
        </p:nvSpPr>
        <p:spPr>
          <a:xfrm>
            <a:off x="6510528" y="2971800"/>
            <a:ext cx="1417320" cy="274320"/>
          </a:xfrm>
          <a:prstGeom prst="roundRect">
            <a:avLst>
              <a:gd name="adj" fmla="val 16667"/>
            </a:avLst>
          </a:prstGeom>
          <a:solidFill>
            <a:srgbClr val="F08B78">
              <a:alpha val="18000"/>
            </a:srgbClr>
          </a:solidFill>
          <a:ln w="9525">
            <a:solidFill>
              <a:srgbClr val="F08B78"/>
            </a:solidFill>
            <a:prstDash val="solid"/>
          </a:ln>
        </p:spPr>
      </p:sp>
      <p:sp>
        <p:nvSpPr>
          <p:cNvPr id="14" name="Text 12"/>
          <p:cNvSpPr txBox="1"/>
          <p:nvPr/>
        </p:nvSpPr>
        <p:spPr>
          <a:xfrm>
            <a:off x="6510528" y="2971800"/>
            <a:ext cx="1417320" cy="274320"/>
          </a:xfrm>
          <a:prstGeom prst="rect">
            <a:avLst/>
          </a:prstGeom>
          <a:noFill/>
          <a:ln/>
        </p:spPr>
        <p:txBody>
          <a:bodyPr wrap="square" lIns="0" tIns="0" rIns="0" bIns="0" rtlCol="0" anchor="ctr"/>
          <a:lstStyle/>
          <a:p>
            <a:pPr algn="ctr" indent="0" marL="0">
              <a:buNone/>
            </a:pPr>
            <a:r>
              <a:rPr lang="en-US" sz="1000" dirty="0">
                <a:solidFill>
                  <a:srgbClr val="F08B78"/>
                </a:solidFill>
                <a:latin typeface="Consolas" pitchFamily="34" charset="0"/>
                <a:ea typeface="Consolas" pitchFamily="34" charset="-122"/>
                <a:cs typeface="Consolas" pitchFamily="34" charset="-120"/>
              </a:rPr>
              <a:t>EXPERIMENT B</a:t>
            </a:r>
            <a:endParaRPr lang="en-US" sz="1000" dirty="0"/>
          </a:p>
        </p:txBody>
      </p:sp>
      <p:sp>
        <p:nvSpPr>
          <p:cNvPr id="15" name="Text 13"/>
          <p:cNvSpPr txBox="1"/>
          <p:nvPr/>
        </p:nvSpPr>
        <p:spPr>
          <a:xfrm>
            <a:off x="6510528" y="3383280"/>
            <a:ext cx="4754880" cy="457200"/>
          </a:xfrm>
          <a:prstGeom prst="rect">
            <a:avLst/>
          </a:prstGeom>
          <a:noFill/>
          <a:ln/>
        </p:spPr>
        <p:txBody>
          <a:bodyPr wrap="square" lIns="0" tIns="0" rIns="0" bIns="0" rtlCol="0" anchor="t"/>
          <a:lstStyle/>
          <a:p>
            <a:pPr indent="0" marL="0">
              <a:buNone/>
            </a:pPr>
            <a:r>
              <a:rPr lang="en-US" sz="2200" b="1" dirty="0">
                <a:solidFill>
                  <a:srgbClr val="E3EBF0"/>
                </a:solidFill>
                <a:latin typeface="Cambria" pitchFamily="34" charset="0"/>
                <a:ea typeface="Cambria" pitchFamily="34" charset="-122"/>
                <a:cs typeface="Cambria" pitchFamily="34" charset="-120"/>
              </a:rPr>
              <a:t>Simulated insider</a:t>
            </a:r>
            <a:endParaRPr lang="en-US" sz="2200" dirty="0"/>
          </a:p>
        </p:txBody>
      </p:sp>
      <p:sp>
        <p:nvSpPr>
          <p:cNvPr id="16" name="Text 14"/>
          <p:cNvSpPr txBox="1"/>
          <p:nvPr/>
        </p:nvSpPr>
        <p:spPr>
          <a:xfrm>
            <a:off x="6510528" y="3931920"/>
            <a:ext cx="4754880" cy="16002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E3EBF0"/>
                </a:solidFill>
                <a:latin typeface="Calibri" pitchFamily="34" charset="0"/>
                <a:ea typeface="Calibri" pitchFamily="34" charset="-122"/>
                <a:cs typeface="Calibri" pitchFamily="34" charset="-120"/>
              </a:rPr>
              <a:t>Plug in the USB drive</a:t>
            </a:r>
            <a:endParaRPr lang="en-US" sz="1500" dirty="0"/>
          </a:p>
          <a:p>
            <a:pPr marL="342900" indent="-342900">
              <a:spcAft>
                <a:spcPts val="400"/>
              </a:spcAft>
              <a:buSzPct val="100000"/>
              <a:buChar char="•"/>
            </a:pPr>
            <a:r>
              <a:rPr lang="en-US" sz="1500" dirty="0">
                <a:solidFill>
                  <a:srgbClr val="E3EBF0"/>
                </a:solidFill>
                <a:latin typeface="Calibri" pitchFamily="34" charset="0"/>
                <a:ea typeface="Calibri" pitchFamily="34" charset="-122"/>
                <a:cs typeface="Calibri" pitchFamily="34" charset="-120"/>
              </a:rPr>
              <a:t>Open salary, customer and project files</a:t>
            </a:r>
            <a:endParaRPr lang="en-US" sz="1500" dirty="0"/>
          </a:p>
          <a:p>
            <a:pPr marL="342900" indent="-342900">
              <a:spcAft>
                <a:spcPts val="400"/>
              </a:spcAft>
              <a:buSzPct val="100000"/>
              <a:buChar char="•"/>
            </a:pPr>
            <a:r>
              <a:rPr lang="en-US" sz="1500" dirty="0">
                <a:solidFill>
                  <a:srgbClr val="E3EBF0"/>
                </a:solidFill>
                <a:latin typeface="Calibri" pitchFamily="34" charset="0"/>
                <a:ea typeface="Calibri" pitchFamily="34" charset="-122"/>
                <a:cs typeface="Calibri" pitchFamily="34" charset="-120"/>
              </a:rPr>
              <a:t>Copy the sensitive files to the USB</a:t>
            </a:r>
            <a:endParaRPr lang="en-US" sz="1500" dirty="0"/>
          </a:p>
          <a:p>
            <a:pPr marL="342900" indent="-342900">
              <a:spcAft>
                <a:spcPts val="400"/>
              </a:spcAft>
              <a:buSzPct val="100000"/>
              <a:buChar char="•"/>
            </a:pPr>
            <a:r>
              <a:rPr lang="en-US" sz="1500" dirty="0">
                <a:solidFill>
                  <a:srgbClr val="E3EBF0"/>
                </a:solidFill>
                <a:latin typeface="Calibri" pitchFamily="34" charset="0"/>
                <a:ea typeface="Calibri" pitchFamily="34" charset="-122"/>
                <a:cs typeface="Calibri" pitchFamily="34" charset="-120"/>
              </a:rPr>
              <a:t>Make a ZIP archive</a:t>
            </a:r>
            <a:endParaRPr lang="en-US" sz="1500" dirty="0"/>
          </a:p>
          <a:p>
            <a:pPr marL="342900" indent="-342900">
              <a:spcAft>
                <a:spcPts val="400"/>
              </a:spcAft>
              <a:buSzPct val="100000"/>
              <a:buChar char="•"/>
            </a:pPr>
            <a:r>
              <a:rPr lang="en-US" sz="1500" dirty="0">
                <a:solidFill>
                  <a:srgbClr val="E3EBF0"/>
                </a:solidFill>
                <a:latin typeface="Calibri" pitchFamily="34" charset="0"/>
                <a:ea typeface="Calibri" pitchFamily="34" charset="-122"/>
                <a:cs typeface="Calibri" pitchFamily="34" charset="-120"/>
              </a:rPr>
              <a:t>Delete a temporary copy (Recycle Bin)</a:t>
            </a:r>
            <a:endParaRPr lang="en-US" sz="1500" dirty="0"/>
          </a:p>
        </p:txBody>
      </p:sp>
      <p:sp>
        <p:nvSpPr>
          <p:cNvPr id="17" name="Text 15"/>
          <p:cNvSpPr txBox="1"/>
          <p:nvPr/>
        </p:nvSpPr>
        <p:spPr>
          <a:xfrm>
            <a:off x="6510528" y="5577840"/>
            <a:ext cx="4754880" cy="320040"/>
          </a:xfrm>
          <a:prstGeom prst="rect">
            <a:avLst/>
          </a:prstGeom>
          <a:noFill/>
          <a:ln/>
        </p:spPr>
        <p:txBody>
          <a:bodyPr wrap="square" lIns="0" tIns="0" rIns="0" bIns="0" rtlCol="0" anchor="t"/>
          <a:lstStyle/>
          <a:p>
            <a:pPr indent="0" marL="0">
              <a:buNone/>
            </a:pPr>
            <a:r>
              <a:rPr lang="en-US" sz="1400" i="1" dirty="0">
                <a:solidFill>
                  <a:srgbClr val="F08B78"/>
                </a:solidFill>
                <a:latin typeface="Calibri" pitchFamily="34" charset="0"/>
                <a:ea typeface="Calibri" pitchFamily="34" charset="-122"/>
                <a:cs typeface="Calibri" pitchFamily="34" charset="-120"/>
              </a:rPr>
              <a:t>Expected: corroborated transfer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spc="300" kern="0" dirty="0">
                <a:solidFill>
                  <a:srgbClr val="5CC0DD"/>
                </a:solidFill>
                <a:latin typeface="Consolas" pitchFamily="34" charset="0"/>
                <a:ea typeface="Consolas" pitchFamily="34" charset="-122"/>
                <a:cs typeface="Consolas" pitchFamily="34" charset="-120"/>
              </a:rPr>
              <a:t>04 · WHAT WINDOWS REMEMBERS</a:t>
            </a:r>
            <a:endParaRPr lang="en-US" sz="1100" dirty="0"/>
          </a:p>
        </p:txBody>
      </p:sp>
      <p:sp>
        <p:nvSpPr>
          <p:cNvPr id="3" name="Text 1"/>
          <p:cNvSpPr/>
          <p:nvPr>
            <p:ph idx="101" type="title" hasCustomPrompt="1"/>
          </p:nvPr>
        </p:nvSpPr>
        <p:spPr>
          <a:xfrm>
            <a:off x="548640" y="749808"/>
            <a:ext cx="11094415" cy="777240"/>
          </a:xfrm>
          <a:prstGeom prst="rect">
            <a:avLst/>
          </a:prstGeom>
          <a:noFill/>
          <a:ln/>
        </p:spPr>
        <p:txBody>
          <a:bodyPr wrap="square" lIns="0" tIns="0" rIns="0" bIns="0" rtlCol="0" anchor="t"/>
          <a:lstStyle/>
          <a:p>
            <a:pPr algn="l" indent="0" marL="0">
              <a:buNone/>
            </a:pPr>
            <a:r>
              <a:rPr lang="en-US" sz="3000" b="1" dirty="0">
                <a:solidFill>
                  <a:srgbClr val="E3EBF0"/>
                </a:solidFill>
                <a:latin typeface="Cambria" pitchFamily="34" charset="0"/>
                <a:ea typeface="Cambria" pitchFamily="34" charset="-122"/>
                <a:cs typeface="Cambria" pitchFamily="34" charset="-120"/>
              </a:rPr>
              <a:t>Five evidence sources, read without changing anything</a:t>
            </a:r>
            <a:endParaRPr lang="en-US" sz="3000" dirty="0"/>
          </a:p>
        </p:txBody>
      </p:sp>
      <p:sp>
        <p:nvSpPr>
          <p:cNvPr id="4" name="Shape 2"/>
          <p:cNvSpPr/>
          <p:nvPr/>
        </p:nvSpPr>
        <p:spPr>
          <a:xfrm>
            <a:off x="548640" y="1783080"/>
            <a:ext cx="5394960" cy="1234440"/>
          </a:xfrm>
          <a:prstGeom prst="roundRect">
            <a:avLst>
              <a:gd name="adj" fmla="val 5926"/>
            </a:avLst>
          </a:prstGeom>
          <a:solidFill>
            <a:srgbClr val="16212A"/>
          </a:solidFill>
          <a:ln w="9525">
            <a:solidFill>
              <a:srgbClr val="2A3A46"/>
            </a:solidFill>
            <a:prstDash val="solid"/>
          </a:ln>
        </p:spPr>
      </p:sp>
      <p:sp>
        <p:nvSpPr>
          <p:cNvPr id="5" name="Shape 3"/>
          <p:cNvSpPr/>
          <p:nvPr/>
        </p:nvSpPr>
        <p:spPr>
          <a:xfrm>
            <a:off x="777240" y="2084832"/>
            <a:ext cx="603504" cy="603504"/>
          </a:xfrm>
          <a:prstGeom prst="ellipse">
            <a:avLst/>
          </a:prstGeom>
          <a:solidFill>
            <a:srgbClr val="1C2A35"/>
          </a:solidFill>
          <a:ln w="9525">
            <a:solidFill>
              <a:srgbClr val="2A3A46"/>
            </a:solidFill>
            <a:prstDash val="solid"/>
          </a:ln>
        </p:spPr>
      </p:sp>
      <p:pic>
        <p:nvPicPr>
          <p:cNvPr id="6" name="Image 0" descr="preencoded.png">    </p:cNvPr>
          <p:cNvPicPr>
            <a:picLocks noChangeAspect="1"/>
          </p:cNvPicPr>
          <p:nvPr/>
        </p:nvPicPr>
        <p:blipFill>
          <a:blip r:embed="rId1"/>
          <a:stretch>
            <a:fillRect/>
          </a:stretch>
        </p:blipFill>
        <p:spPr>
          <a:xfrm>
            <a:off x="910011" y="2217603"/>
            <a:ext cx="337962" cy="337962"/>
          </a:xfrm>
          <a:prstGeom prst="rect">
            <a:avLst/>
          </a:prstGeom>
        </p:spPr>
      </p:pic>
      <p:sp>
        <p:nvSpPr>
          <p:cNvPr id="7" name="Text 4"/>
          <p:cNvSpPr txBox="1"/>
          <p:nvPr/>
        </p:nvSpPr>
        <p:spPr>
          <a:xfrm>
            <a:off x="1600200" y="1938528"/>
            <a:ext cx="4160520" cy="329184"/>
          </a:xfrm>
          <a:prstGeom prst="rect">
            <a:avLst/>
          </a:prstGeom>
          <a:noFill/>
          <a:ln/>
        </p:spPr>
        <p:txBody>
          <a:bodyPr wrap="square" lIns="0" tIns="0" rIns="0" bIns="0" rtlCol="0" anchor="t"/>
          <a:lstStyle/>
          <a:p>
            <a:pPr indent="0" marL="0">
              <a:buNone/>
            </a:pPr>
            <a:r>
              <a:rPr lang="en-US" sz="1700" b="1" dirty="0">
                <a:solidFill>
                  <a:srgbClr val="E3EBF0"/>
                </a:solidFill>
                <a:latin typeface="Calibri" pitchFamily="34" charset="0"/>
                <a:ea typeface="Calibri" pitchFamily="34" charset="-122"/>
                <a:cs typeface="Calibri" pitchFamily="34" charset="-120"/>
              </a:rPr>
              <a:t>USB device history</a:t>
            </a:r>
            <a:endParaRPr lang="en-US" sz="1700" dirty="0"/>
          </a:p>
        </p:txBody>
      </p:sp>
      <p:sp>
        <p:nvSpPr>
          <p:cNvPr id="8" name="Text 5"/>
          <p:cNvSpPr txBox="1"/>
          <p:nvPr/>
        </p:nvSpPr>
        <p:spPr>
          <a:xfrm>
            <a:off x="1600200" y="2267712"/>
            <a:ext cx="4160520" cy="384048"/>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Plug-and-Play records: first install, last connection, removal</a:t>
            </a:r>
            <a:endParaRPr lang="en-US" sz="1300" dirty="0"/>
          </a:p>
        </p:txBody>
      </p:sp>
      <p:sp>
        <p:nvSpPr>
          <p:cNvPr id="9" name="Text 6"/>
          <p:cNvSpPr txBox="1"/>
          <p:nvPr/>
        </p:nvSpPr>
        <p:spPr>
          <a:xfrm>
            <a:off x="1600200" y="2651760"/>
            <a:ext cx="4160520" cy="274320"/>
          </a:xfrm>
          <a:prstGeom prst="rect">
            <a:avLst/>
          </a:prstGeom>
          <a:noFill/>
          <a:ln/>
        </p:spPr>
        <p:txBody>
          <a:bodyPr wrap="square" lIns="0" tIns="0" rIns="0" bIns="0" rtlCol="0" anchor="t"/>
          <a:lstStyle/>
          <a:p>
            <a:pPr indent="0" marL="0">
              <a:buNone/>
            </a:pPr>
            <a:r>
              <a:rPr lang="en-US" sz="1200" i="1" dirty="0">
                <a:solidFill>
                  <a:srgbClr val="F0C04A"/>
                </a:solidFill>
                <a:latin typeface="Calibri" pitchFamily="34" charset="0"/>
                <a:ea typeface="Calibri" pitchFamily="34" charset="-122"/>
                <a:cs typeface="Calibri" pitchFamily="34" charset="-120"/>
              </a:rPr>
              <a:t>Shows a device was present, not what was copied</a:t>
            </a:r>
            <a:endParaRPr lang="en-US" sz="1200" dirty="0"/>
          </a:p>
        </p:txBody>
      </p:sp>
      <p:sp>
        <p:nvSpPr>
          <p:cNvPr id="10" name="Shape 7"/>
          <p:cNvSpPr/>
          <p:nvPr/>
        </p:nvSpPr>
        <p:spPr>
          <a:xfrm>
            <a:off x="548640" y="3200400"/>
            <a:ext cx="5394960" cy="1234440"/>
          </a:xfrm>
          <a:prstGeom prst="roundRect">
            <a:avLst>
              <a:gd name="adj" fmla="val 5926"/>
            </a:avLst>
          </a:prstGeom>
          <a:solidFill>
            <a:srgbClr val="16212A"/>
          </a:solidFill>
          <a:ln w="9525">
            <a:solidFill>
              <a:srgbClr val="2A3A46"/>
            </a:solidFill>
            <a:prstDash val="solid"/>
          </a:ln>
        </p:spPr>
      </p:sp>
      <p:sp>
        <p:nvSpPr>
          <p:cNvPr id="11" name="Shape 8"/>
          <p:cNvSpPr/>
          <p:nvPr/>
        </p:nvSpPr>
        <p:spPr>
          <a:xfrm>
            <a:off x="777240" y="3502152"/>
            <a:ext cx="603504" cy="603504"/>
          </a:xfrm>
          <a:prstGeom prst="ellipse">
            <a:avLst/>
          </a:prstGeom>
          <a:solidFill>
            <a:srgbClr val="1C2A35"/>
          </a:solidFill>
          <a:ln w="9525">
            <a:solidFill>
              <a:srgbClr val="2A3A46"/>
            </a:solidFill>
            <a:prstDash val="solid"/>
          </a:ln>
        </p:spPr>
      </p:sp>
      <p:pic>
        <p:nvPicPr>
          <p:cNvPr id="12" name="Image 1" descr="preencoded.png">    </p:cNvPr>
          <p:cNvPicPr>
            <a:picLocks noChangeAspect="1"/>
          </p:cNvPicPr>
          <p:nvPr/>
        </p:nvPicPr>
        <p:blipFill>
          <a:blip r:embed="rId2"/>
          <a:stretch>
            <a:fillRect/>
          </a:stretch>
        </p:blipFill>
        <p:spPr>
          <a:xfrm>
            <a:off x="910011" y="3634923"/>
            <a:ext cx="337962" cy="337962"/>
          </a:xfrm>
          <a:prstGeom prst="rect">
            <a:avLst/>
          </a:prstGeom>
        </p:spPr>
      </p:pic>
      <p:sp>
        <p:nvSpPr>
          <p:cNvPr id="13" name="Text 9"/>
          <p:cNvSpPr txBox="1"/>
          <p:nvPr/>
        </p:nvSpPr>
        <p:spPr>
          <a:xfrm>
            <a:off x="1600200" y="3355848"/>
            <a:ext cx="4160520" cy="329184"/>
          </a:xfrm>
          <a:prstGeom prst="rect">
            <a:avLst/>
          </a:prstGeom>
          <a:noFill/>
          <a:ln/>
        </p:spPr>
        <p:txBody>
          <a:bodyPr wrap="square" lIns="0" tIns="0" rIns="0" bIns="0" rtlCol="0" anchor="t"/>
          <a:lstStyle/>
          <a:p>
            <a:pPr indent="0" marL="0">
              <a:buNone/>
            </a:pPr>
            <a:r>
              <a:rPr lang="en-US" sz="1700" b="1" dirty="0">
                <a:solidFill>
                  <a:srgbClr val="E3EBF0"/>
                </a:solidFill>
                <a:latin typeface="Calibri" pitchFamily="34" charset="0"/>
                <a:ea typeface="Calibri" pitchFamily="34" charset="-122"/>
                <a:cs typeface="Calibri" pitchFamily="34" charset="-120"/>
              </a:rPr>
              <a:t>Files on the USB</a:t>
            </a:r>
            <a:endParaRPr lang="en-US" sz="1700" dirty="0"/>
          </a:p>
        </p:txBody>
      </p:sp>
      <p:sp>
        <p:nvSpPr>
          <p:cNvPr id="14" name="Text 10"/>
          <p:cNvSpPr txBox="1"/>
          <p:nvPr/>
        </p:nvSpPr>
        <p:spPr>
          <a:xfrm>
            <a:off x="1600200" y="3685032"/>
            <a:ext cx="4160520" cy="384048"/>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Listing of the removable volume: names, paths, creation times</a:t>
            </a:r>
            <a:endParaRPr lang="en-US" sz="1300" dirty="0"/>
          </a:p>
        </p:txBody>
      </p:sp>
      <p:sp>
        <p:nvSpPr>
          <p:cNvPr id="15" name="Text 11"/>
          <p:cNvSpPr txBox="1"/>
          <p:nvPr/>
        </p:nvSpPr>
        <p:spPr>
          <a:xfrm>
            <a:off x="1600200" y="4069080"/>
            <a:ext cx="4160520" cy="274320"/>
          </a:xfrm>
          <a:prstGeom prst="rect">
            <a:avLst/>
          </a:prstGeom>
          <a:noFill/>
          <a:ln/>
        </p:spPr>
        <p:txBody>
          <a:bodyPr wrap="square" lIns="0" tIns="0" rIns="0" bIns="0" rtlCol="0" anchor="t"/>
          <a:lstStyle/>
          <a:p>
            <a:pPr indent="0" marL="0">
              <a:buNone/>
            </a:pPr>
            <a:r>
              <a:rPr lang="en-US" sz="1200" i="1" dirty="0">
                <a:solidFill>
                  <a:srgbClr val="F0C04A"/>
                </a:solidFill>
                <a:latin typeface="Calibri" pitchFamily="34" charset="0"/>
                <a:ea typeface="Calibri" pitchFamily="34" charset="-122"/>
                <a:cs typeface="Calibri" pitchFamily="34" charset="-120"/>
              </a:rPr>
              <a:t>The strongest clue: the file reached the drive</a:t>
            </a:r>
            <a:endParaRPr lang="en-US" sz="1200" dirty="0"/>
          </a:p>
        </p:txBody>
      </p:sp>
      <p:sp>
        <p:nvSpPr>
          <p:cNvPr id="16" name="Shape 12"/>
          <p:cNvSpPr/>
          <p:nvPr/>
        </p:nvSpPr>
        <p:spPr>
          <a:xfrm>
            <a:off x="548640" y="4617720"/>
            <a:ext cx="5394960" cy="1234440"/>
          </a:xfrm>
          <a:prstGeom prst="roundRect">
            <a:avLst>
              <a:gd name="adj" fmla="val 5926"/>
            </a:avLst>
          </a:prstGeom>
          <a:solidFill>
            <a:srgbClr val="16212A"/>
          </a:solidFill>
          <a:ln w="9525">
            <a:solidFill>
              <a:srgbClr val="2A3A46"/>
            </a:solidFill>
            <a:prstDash val="solid"/>
          </a:ln>
        </p:spPr>
      </p:sp>
      <p:sp>
        <p:nvSpPr>
          <p:cNvPr id="17" name="Shape 13"/>
          <p:cNvSpPr/>
          <p:nvPr/>
        </p:nvSpPr>
        <p:spPr>
          <a:xfrm>
            <a:off x="777240" y="4919472"/>
            <a:ext cx="603504" cy="603504"/>
          </a:xfrm>
          <a:prstGeom prst="ellipse">
            <a:avLst/>
          </a:prstGeom>
          <a:solidFill>
            <a:srgbClr val="1C2A35"/>
          </a:solidFill>
          <a:ln w="9525">
            <a:solidFill>
              <a:srgbClr val="2A3A46"/>
            </a:solidFill>
            <a:prstDash val="solid"/>
          </a:ln>
        </p:spPr>
      </p:sp>
      <p:pic>
        <p:nvPicPr>
          <p:cNvPr id="18" name="Image 2" descr="preencoded.png">    </p:cNvPr>
          <p:cNvPicPr>
            <a:picLocks noChangeAspect="1"/>
          </p:cNvPicPr>
          <p:nvPr/>
        </p:nvPicPr>
        <p:blipFill>
          <a:blip r:embed="rId3"/>
          <a:stretch>
            <a:fillRect/>
          </a:stretch>
        </p:blipFill>
        <p:spPr>
          <a:xfrm>
            <a:off x="910011" y="5052243"/>
            <a:ext cx="337962" cy="337962"/>
          </a:xfrm>
          <a:prstGeom prst="rect">
            <a:avLst/>
          </a:prstGeom>
        </p:spPr>
      </p:pic>
      <p:sp>
        <p:nvSpPr>
          <p:cNvPr id="19" name="Text 14"/>
          <p:cNvSpPr txBox="1"/>
          <p:nvPr/>
        </p:nvSpPr>
        <p:spPr>
          <a:xfrm>
            <a:off x="1600200" y="4773168"/>
            <a:ext cx="4160520" cy="329184"/>
          </a:xfrm>
          <a:prstGeom prst="rect">
            <a:avLst/>
          </a:prstGeom>
          <a:noFill/>
          <a:ln/>
        </p:spPr>
        <p:txBody>
          <a:bodyPr wrap="square" lIns="0" tIns="0" rIns="0" bIns="0" rtlCol="0" anchor="t"/>
          <a:lstStyle/>
          <a:p>
            <a:pPr indent="0" marL="0">
              <a:buNone/>
            </a:pPr>
            <a:r>
              <a:rPr lang="en-US" sz="1700" b="1" dirty="0">
                <a:solidFill>
                  <a:srgbClr val="E3EBF0"/>
                </a:solidFill>
                <a:latin typeface="Calibri" pitchFamily="34" charset="0"/>
                <a:ea typeface="Calibri" pitchFamily="34" charset="-122"/>
                <a:cs typeface="Calibri" pitchFamily="34" charset="-120"/>
              </a:rPr>
              <a:t>Recent Items shortcuts</a:t>
            </a:r>
            <a:endParaRPr lang="en-US" sz="1700" dirty="0"/>
          </a:p>
        </p:txBody>
      </p:sp>
      <p:sp>
        <p:nvSpPr>
          <p:cNvPr id="20" name="Text 15"/>
          <p:cNvSpPr txBox="1"/>
          <p:nvPr/>
        </p:nvSpPr>
        <p:spPr>
          <a:xfrm>
            <a:off x="1600200" y="5102352"/>
            <a:ext cx="4160520" cy="384048"/>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LNK files Windows writes when a document is opened</a:t>
            </a:r>
            <a:endParaRPr lang="en-US" sz="1300" dirty="0"/>
          </a:p>
        </p:txBody>
      </p:sp>
      <p:sp>
        <p:nvSpPr>
          <p:cNvPr id="21" name="Text 16"/>
          <p:cNvSpPr txBox="1"/>
          <p:nvPr/>
        </p:nvSpPr>
        <p:spPr>
          <a:xfrm>
            <a:off x="1600200" y="5486400"/>
            <a:ext cx="4160520" cy="274320"/>
          </a:xfrm>
          <a:prstGeom prst="rect">
            <a:avLst/>
          </a:prstGeom>
          <a:noFill/>
          <a:ln/>
        </p:spPr>
        <p:txBody>
          <a:bodyPr wrap="square" lIns="0" tIns="0" rIns="0" bIns="0" rtlCol="0" anchor="t"/>
          <a:lstStyle/>
          <a:p>
            <a:pPr indent="0" marL="0">
              <a:buNone/>
            </a:pPr>
            <a:r>
              <a:rPr lang="en-US" sz="1200" i="1" dirty="0">
                <a:solidFill>
                  <a:srgbClr val="F0C04A"/>
                </a:solidFill>
                <a:latin typeface="Calibri" pitchFamily="34" charset="0"/>
                <a:ea typeface="Calibri" pitchFamily="34" charset="-122"/>
                <a:cs typeface="Calibri" pitchFamily="34" charset="-120"/>
              </a:rPr>
              <a:t>Shows a file was opened, not copied</a:t>
            </a:r>
            <a:endParaRPr lang="en-US" sz="1200" dirty="0"/>
          </a:p>
        </p:txBody>
      </p:sp>
      <p:sp>
        <p:nvSpPr>
          <p:cNvPr id="22" name="Shape 17"/>
          <p:cNvSpPr/>
          <p:nvPr/>
        </p:nvSpPr>
        <p:spPr>
          <a:xfrm>
            <a:off x="6190488" y="1783080"/>
            <a:ext cx="5394960" cy="1234440"/>
          </a:xfrm>
          <a:prstGeom prst="roundRect">
            <a:avLst>
              <a:gd name="adj" fmla="val 5926"/>
            </a:avLst>
          </a:prstGeom>
          <a:solidFill>
            <a:srgbClr val="16212A"/>
          </a:solidFill>
          <a:ln w="9525">
            <a:solidFill>
              <a:srgbClr val="2A3A46"/>
            </a:solidFill>
            <a:prstDash val="solid"/>
          </a:ln>
        </p:spPr>
      </p:sp>
      <p:sp>
        <p:nvSpPr>
          <p:cNvPr id="23" name="Shape 18"/>
          <p:cNvSpPr/>
          <p:nvPr/>
        </p:nvSpPr>
        <p:spPr>
          <a:xfrm>
            <a:off x="6419088" y="2084832"/>
            <a:ext cx="603504" cy="603504"/>
          </a:xfrm>
          <a:prstGeom prst="ellipse">
            <a:avLst/>
          </a:prstGeom>
          <a:solidFill>
            <a:srgbClr val="1C2A35"/>
          </a:solidFill>
          <a:ln w="9525">
            <a:solidFill>
              <a:srgbClr val="2A3A46"/>
            </a:solidFill>
            <a:prstDash val="solid"/>
          </a:ln>
        </p:spPr>
      </p:sp>
      <p:pic>
        <p:nvPicPr>
          <p:cNvPr id="24" name="Image 3" descr="preencoded.png">    </p:cNvPr>
          <p:cNvPicPr>
            <a:picLocks noChangeAspect="1"/>
          </p:cNvPicPr>
          <p:nvPr/>
        </p:nvPicPr>
        <p:blipFill>
          <a:blip r:embed="rId4"/>
          <a:stretch>
            <a:fillRect/>
          </a:stretch>
        </p:blipFill>
        <p:spPr>
          <a:xfrm>
            <a:off x="6551859" y="2217603"/>
            <a:ext cx="337962" cy="337962"/>
          </a:xfrm>
          <a:prstGeom prst="rect">
            <a:avLst/>
          </a:prstGeom>
        </p:spPr>
      </p:pic>
      <p:sp>
        <p:nvSpPr>
          <p:cNvPr id="25" name="Text 19"/>
          <p:cNvSpPr txBox="1"/>
          <p:nvPr/>
        </p:nvSpPr>
        <p:spPr>
          <a:xfrm>
            <a:off x="7242048" y="1938528"/>
            <a:ext cx="4160520" cy="329184"/>
          </a:xfrm>
          <a:prstGeom prst="rect">
            <a:avLst/>
          </a:prstGeom>
          <a:noFill/>
          <a:ln/>
        </p:spPr>
        <p:txBody>
          <a:bodyPr wrap="square" lIns="0" tIns="0" rIns="0" bIns="0" rtlCol="0" anchor="t"/>
          <a:lstStyle/>
          <a:p>
            <a:pPr indent="0" marL="0">
              <a:buNone/>
            </a:pPr>
            <a:r>
              <a:rPr lang="en-US" sz="1700" b="1" dirty="0">
                <a:solidFill>
                  <a:srgbClr val="E3EBF0"/>
                </a:solidFill>
                <a:latin typeface="Calibri" pitchFamily="34" charset="0"/>
                <a:ea typeface="Calibri" pitchFamily="34" charset="-122"/>
                <a:cs typeface="Calibri" pitchFamily="34" charset="-120"/>
              </a:rPr>
              <a:t>Recycle Bin records</a:t>
            </a:r>
            <a:endParaRPr lang="en-US" sz="1700" dirty="0"/>
          </a:p>
        </p:txBody>
      </p:sp>
      <p:sp>
        <p:nvSpPr>
          <p:cNvPr id="26" name="Text 20"/>
          <p:cNvSpPr txBox="1"/>
          <p:nvPr/>
        </p:nvSpPr>
        <p:spPr>
          <a:xfrm>
            <a:off x="7242048" y="2267712"/>
            <a:ext cx="4160520" cy="384048"/>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$I files holding original path and deletion time</a:t>
            </a:r>
            <a:endParaRPr lang="en-US" sz="1300" dirty="0"/>
          </a:p>
        </p:txBody>
      </p:sp>
      <p:sp>
        <p:nvSpPr>
          <p:cNvPr id="27" name="Text 21"/>
          <p:cNvSpPr txBox="1"/>
          <p:nvPr/>
        </p:nvSpPr>
        <p:spPr>
          <a:xfrm>
            <a:off x="7242048" y="2651760"/>
            <a:ext cx="4160520" cy="274320"/>
          </a:xfrm>
          <a:prstGeom prst="rect">
            <a:avLst/>
          </a:prstGeom>
          <a:noFill/>
          <a:ln/>
        </p:spPr>
        <p:txBody>
          <a:bodyPr wrap="square" lIns="0" tIns="0" rIns="0" bIns="0" rtlCol="0" anchor="t"/>
          <a:lstStyle/>
          <a:p>
            <a:pPr indent="0" marL="0">
              <a:buNone/>
            </a:pPr>
            <a:r>
              <a:rPr lang="en-US" sz="1200" i="1" dirty="0">
                <a:solidFill>
                  <a:srgbClr val="F0C04A"/>
                </a:solidFill>
                <a:latin typeface="Calibri" pitchFamily="34" charset="0"/>
                <a:ea typeface="Calibri" pitchFamily="34" charset="-122"/>
                <a:cs typeface="Calibri" pitchFamily="34" charset="-120"/>
              </a:rPr>
              <a:t>Deletion can be innocent; intent is not proven</a:t>
            </a:r>
            <a:endParaRPr lang="en-US" sz="1200" dirty="0"/>
          </a:p>
        </p:txBody>
      </p:sp>
      <p:sp>
        <p:nvSpPr>
          <p:cNvPr id="28" name="Shape 22"/>
          <p:cNvSpPr/>
          <p:nvPr/>
        </p:nvSpPr>
        <p:spPr>
          <a:xfrm>
            <a:off x="6190488" y="3200400"/>
            <a:ext cx="5394960" cy="1234440"/>
          </a:xfrm>
          <a:prstGeom prst="roundRect">
            <a:avLst>
              <a:gd name="adj" fmla="val 5926"/>
            </a:avLst>
          </a:prstGeom>
          <a:solidFill>
            <a:srgbClr val="16212A"/>
          </a:solidFill>
          <a:ln w="9525">
            <a:solidFill>
              <a:srgbClr val="2A3A46"/>
            </a:solidFill>
            <a:prstDash val="solid"/>
          </a:ln>
        </p:spPr>
      </p:sp>
      <p:sp>
        <p:nvSpPr>
          <p:cNvPr id="29" name="Shape 23"/>
          <p:cNvSpPr/>
          <p:nvPr/>
        </p:nvSpPr>
        <p:spPr>
          <a:xfrm>
            <a:off x="6419088" y="3502152"/>
            <a:ext cx="603504" cy="603504"/>
          </a:xfrm>
          <a:prstGeom prst="ellipse">
            <a:avLst/>
          </a:prstGeom>
          <a:solidFill>
            <a:srgbClr val="1C2A35"/>
          </a:solidFill>
          <a:ln w="9525">
            <a:solidFill>
              <a:srgbClr val="2A3A46"/>
            </a:solidFill>
            <a:prstDash val="solid"/>
          </a:ln>
        </p:spPr>
      </p:sp>
      <p:pic>
        <p:nvPicPr>
          <p:cNvPr id="30" name="Image 4" descr="preencoded.png">    </p:cNvPr>
          <p:cNvPicPr>
            <a:picLocks noChangeAspect="1"/>
          </p:cNvPicPr>
          <p:nvPr/>
        </p:nvPicPr>
        <p:blipFill>
          <a:blip r:embed="rId5"/>
          <a:stretch>
            <a:fillRect/>
          </a:stretch>
        </p:blipFill>
        <p:spPr>
          <a:xfrm>
            <a:off x="6551859" y="3634923"/>
            <a:ext cx="337962" cy="337962"/>
          </a:xfrm>
          <a:prstGeom prst="rect">
            <a:avLst/>
          </a:prstGeom>
        </p:spPr>
      </p:pic>
      <p:sp>
        <p:nvSpPr>
          <p:cNvPr id="31" name="Text 24"/>
          <p:cNvSpPr txBox="1"/>
          <p:nvPr/>
        </p:nvSpPr>
        <p:spPr>
          <a:xfrm>
            <a:off x="7242048" y="3355848"/>
            <a:ext cx="4160520" cy="329184"/>
          </a:xfrm>
          <a:prstGeom prst="rect">
            <a:avLst/>
          </a:prstGeom>
          <a:noFill/>
          <a:ln/>
        </p:spPr>
        <p:txBody>
          <a:bodyPr wrap="square" lIns="0" tIns="0" rIns="0" bIns="0" rtlCol="0" anchor="t"/>
          <a:lstStyle/>
          <a:p>
            <a:pPr indent="0" marL="0">
              <a:buNone/>
            </a:pPr>
            <a:r>
              <a:rPr lang="en-US" sz="1700" b="1" dirty="0">
                <a:solidFill>
                  <a:srgbClr val="E3EBF0"/>
                </a:solidFill>
                <a:latin typeface="Calibri" pitchFamily="34" charset="0"/>
                <a:ea typeface="Calibri" pitchFamily="34" charset="-122"/>
                <a:cs typeface="Calibri" pitchFamily="34" charset="-120"/>
              </a:rPr>
              <a:t>Logon events</a:t>
            </a:r>
            <a:endParaRPr lang="en-US" sz="1700" dirty="0"/>
          </a:p>
        </p:txBody>
      </p:sp>
      <p:sp>
        <p:nvSpPr>
          <p:cNvPr id="32" name="Text 25"/>
          <p:cNvSpPr txBox="1"/>
          <p:nvPr/>
        </p:nvSpPr>
        <p:spPr>
          <a:xfrm>
            <a:off x="7242048" y="3685032"/>
            <a:ext cx="4160520" cy="384048"/>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Winlogon event 7001 in the System log</a:t>
            </a:r>
            <a:endParaRPr lang="en-US" sz="1300" dirty="0"/>
          </a:p>
        </p:txBody>
      </p:sp>
      <p:sp>
        <p:nvSpPr>
          <p:cNvPr id="33" name="Text 26"/>
          <p:cNvSpPr txBox="1"/>
          <p:nvPr/>
        </p:nvSpPr>
        <p:spPr>
          <a:xfrm>
            <a:off x="7242048" y="4069080"/>
            <a:ext cx="4160520" cy="274320"/>
          </a:xfrm>
          <a:prstGeom prst="rect">
            <a:avLst/>
          </a:prstGeom>
          <a:noFill/>
          <a:ln/>
        </p:spPr>
        <p:txBody>
          <a:bodyPr wrap="square" lIns="0" tIns="0" rIns="0" bIns="0" rtlCol="0" anchor="t"/>
          <a:lstStyle/>
          <a:p>
            <a:pPr indent="0" marL="0">
              <a:buNone/>
            </a:pPr>
            <a:r>
              <a:rPr lang="en-US" sz="1200" i="1" dirty="0">
                <a:solidFill>
                  <a:srgbClr val="F0C04A"/>
                </a:solidFill>
                <a:latin typeface="Calibri" pitchFamily="34" charset="0"/>
                <a:ea typeface="Calibri" pitchFamily="34" charset="-122"/>
                <a:cs typeface="Calibri" pitchFamily="34" charset="-120"/>
              </a:rPr>
              <a:t>Ties the activity to a user session</a:t>
            </a:r>
            <a:endParaRPr lang="en-US" sz="1200" dirty="0"/>
          </a:p>
        </p:txBody>
      </p:sp>
      <p:sp>
        <p:nvSpPr>
          <p:cNvPr id="34" name="Shape 27"/>
          <p:cNvSpPr/>
          <p:nvPr/>
        </p:nvSpPr>
        <p:spPr>
          <a:xfrm>
            <a:off x="6190488" y="4617720"/>
            <a:ext cx="5394960" cy="1234440"/>
          </a:xfrm>
          <a:prstGeom prst="roundRect">
            <a:avLst>
              <a:gd name="adj" fmla="val 5926"/>
            </a:avLst>
          </a:prstGeom>
          <a:solidFill>
            <a:srgbClr val="1C2A35"/>
          </a:solidFill>
          <a:ln w="9525">
            <a:solidFill>
              <a:srgbClr val="2A3A46"/>
            </a:solidFill>
            <a:prstDash val="solid"/>
          </a:ln>
        </p:spPr>
      </p:sp>
      <p:pic>
        <p:nvPicPr>
          <p:cNvPr id="35" name="Image 5" descr="preencoded.png">    </p:cNvPr>
          <p:cNvPicPr>
            <a:picLocks noChangeAspect="1"/>
          </p:cNvPicPr>
          <p:nvPr/>
        </p:nvPicPr>
        <p:blipFill>
          <a:blip r:embed="rId6"/>
          <a:stretch>
            <a:fillRect/>
          </a:stretch>
        </p:blipFill>
        <p:spPr>
          <a:xfrm>
            <a:off x="6419088" y="4983480"/>
            <a:ext cx="457200" cy="457200"/>
          </a:xfrm>
          <a:prstGeom prst="rect">
            <a:avLst/>
          </a:prstGeom>
        </p:spPr>
      </p:pic>
      <p:sp>
        <p:nvSpPr>
          <p:cNvPr id="36" name="Text 28"/>
          <p:cNvSpPr txBox="1"/>
          <p:nvPr/>
        </p:nvSpPr>
        <p:spPr>
          <a:xfrm>
            <a:off x="7242048" y="4800600"/>
            <a:ext cx="4206240" cy="320040"/>
          </a:xfrm>
          <a:prstGeom prst="rect">
            <a:avLst/>
          </a:prstGeom>
          <a:noFill/>
          <a:ln/>
        </p:spPr>
        <p:txBody>
          <a:bodyPr wrap="square" lIns="0" tIns="0" rIns="0" bIns="0" rtlCol="0" anchor="t"/>
          <a:lstStyle/>
          <a:p>
            <a:pPr indent="0" marL="0">
              <a:buNone/>
            </a:pPr>
            <a:r>
              <a:rPr lang="en-US" sz="1300" dirty="0">
                <a:solidFill>
                  <a:srgbClr val="5CC0DD"/>
                </a:solidFill>
                <a:latin typeface="Consolas" pitchFamily="34" charset="0"/>
                <a:ea typeface="Consolas" pitchFamily="34" charset="-122"/>
                <a:cs typeface="Consolas" pitchFamily="34" charset="-120"/>
              </a:rPr>
              <a:t>collector\collect_usb_artifacts.ps1</a:t>
            </a:r>
            <a:endParaRPr lang="en-US" sz="1300" dirty="0"/>
          </a:p>
        </p:txBody>
      </p:sp>
      <p:sp>
        <p:nvSpPr>
          <p:cNvPr id="37" name="Text 29"/>
          <p:cNvSpPr txBox="1"/>
          <p:nvPr/>
        </p:nvSpPr>
        <p:spPr>
          <a:xfrm>
            <a:off x="7242048" y="5166360"/>
            <a:ext cx="4206240" cy="548640"/>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Runs as a normal user. Read-only. Writes a SHA-256 manifest.</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spc="300" kern="0" dirty="0">
                <a:solidFill>
                  <a:srgbClr val="5CC0DD"/>
                </a:solidFill>
                <a:latin typeface="Consolas" pitchFamily="34" charset="0"/>
                <a:ea typeface="Consolas" pitchFamily="34" charset="-122"/>
                <a:cs typeface="Consolas" pitchFamily="34" charset="-120"/>
              </a:rPr>
              <a:t>05 · HOW THE SYSTEM WORKS</a:t>
            </a:r>
            <a:endParaRPr lang="en-US" sz="1100" dirty="0"/>
          </a:p>
        </p:txBody>
      </p:sp>
      <p:sp>
        <p:nvSpPr>
          <p:cNvPr id="3" name="Text 1"/>
          <p:cNvSpPr/>
          <p:nvPr>
            <p:ph idx="101" type="title" hasCustomPrompt="1"/>
          </p:nvPr>
        </p:nvSpPr>
        <p:spPr>
          <a:xfrm>
            <a:off x="548640" y="749808"/>
            <a:ext cx="11094415" cy="777240"/>
          </a:xfrm>
          <a:prstGeom prst="rect">
            <a:avLst/>
          </a:prstGeom>
          <a:noFill/>
          <a:ln/>
        </p:spPr>
        <p:txBody>
          <a:bodyPr wrap="square" lIns="0" tIns="0" rIns="0" bIns="0" rtlCol="0" anchor="t"/>
          <a:lstStyle/>
          <a:p>
            <a:pPr algn="l" indent="0" marL="0">
              <a:buNone/>
            </a:pPr>
            <a:r>
              <a:rPr lang="en-US" sz="3000" b="1" dirty="0">
                <a:solidFill>
                  <a:srgbClr val="E3EBF0"/>
                </a:solidFill>
                <a:latin typeface="Cambria" pitchFamily="34" charset="0"/>
                <a:ea typeface="Cambria" pitchFamily="34" charset="-122"/>
                <a:cs typeface="Cambria" pitchFamily="34" charset="-120"/>
              </a:rPr>
              <a:t>From raw Windows traces to an explainable verdict</a:t>
            </a:r>
            <a:endParaRPr lang="en-US" sz="3000" dirty="0"/>
          </a:p>
        </p:txBody>
      </p:sp>
      <p:sp>
        <p:nvSpPr>
          <p:cNvPr id="4" name="Shape 2"/>
          <p:cNvSpPr/>
          <p:nvPr/>
        </p:nvSpPr>
        <p:spPr>
          <a:xfrm>
            <a:off x="548640" y="1965960"/>
            <a:ext cx="1443838" cy="2331720"/>
          </a:xfrm>
          <a:prstGeom prst="roundRect">
            <a:avLst>
              <a:gd name="adj" fmla="val 5066"/>
            </a:avLst>
          </a:prstGeom>
          <a:solidFill>
            <a:srgbClr val="16212A"/>
          </a:solidFill>
          <a:ln w="9525">
            <a:solidFill>
              <a:srgbClr val="2A3A46"/>
            </a:solidFill>
            <a:prstDash val="solid"/>
          </a:ln>
        </p:spPr>
      </p:sp>
      <p:sp>
        <p:nvSpPr>
          <p:cNvPr id="5" name="Shape 3"/>
          <p:cNvSpPr/>
          <p:nvPr/>
        </p:nvSpPr>
        <p:spPr>
          <a:xfrm>
            <a:off x="968807" y="2194560"/>
            <a:ext cx="603504" cy="603504"/>
          </a:xfrm>
          <a:prstGeom prst="ellipse">
            <a:avLst/>
          </a:prstGeom>
          <a:solidFill>
            <a:srgbClr val="1C2A35"/>
          </a:solidFill>
          <a:ln w="9525">
            <a:solidFill>
              <a:srgbClr val="2A3A46"/>
            </a:solidFill>
            <a:prstDash val="solid"/>
          </a:ln>
        </p:spPr>
      </p:sp>
      <p:pic>
        <p:nvPicPr>
          <p:cNvPr id="6" name="Image 0" descr="preencoded.png">    </p:cNvPr>
          <p:cNvPicPr>
            <a:picLocks noChangeAspect="1"/>
          </p:cNvPicPr>
          <p:nvPr/>
        </p:nvPicPr>
        <p:blipFill>
          <a:blip r:embed="rId1"/>
          <a:stretch>
            <a:fillRect/>
          </a:stretch>
        </p:blipFill>
        <p:spPr>
          <a:xfrm>
            <a:off x="1101578" y="2327331"/>
            <a:ext cx="337962" cy="337962"/>
          </a:xfrm>
          <a:prstGeom prst="rect">
            <a:avLst/>
          </a:prstGeom>
        </p:spPr>
      </p:pic>
      <p:sp>
        <p:nvSpPr>
          <p:cNvPr id="7" name="Text 4"/>
          <p:cNvSpPr txBox="1"/>
          <p:nvPr/>
        </p:nvSpPr>
        <p:spPr>
          <a:xfrm>
            <a:off x="658368" y="2057400"/>
            <a:ext cx="365760" cy="274320"/>
          </a:xfrm>
          <a:prstGeom prst="rect">
            <a:avLst/>
          </a:prstGeom>
          <a:noFill/>
          <a:ln/>
        </p:spPr>
        <p:txBody>
          <a:bodyPr wrap="square" lIns="0" tIns="0" rIns="0" bIns="0" rtlCol="0" anchor="t"/>
          <a:lstStyle/>
          <a:p>
            <a:pPr indent="0" marL="0">
              <a:buNone/>
            </a:pPr>
            <a:r>
              <a:rPr lang="en-US" sz="1100" dirty="0">
                <a:solidFill>
                  <a:srgbClr val="6B7D89"/>
                </a:solidFill>
                <a:latin typeface="Consolas" pitchFamily="34" charset="0"/>
                <a:ea typeface="Consolas" pitchFamily="34" charset="-122"/>
                <a:cs typeface="Consolas" pitchFamily="34" charset="-120"/>
              </a:rPr>
              <a:t>1</a:t>
            </a:r>
            <a:endParaRPr lang="en-US" sz="1100" dirty="0"/>
          </a:p>
        </p:txBody>
      </p:sp>
      <p:sp>
        <p:nvSpPr>
          <p:cNvPr id="8" name="Text 5"/>
          <p:cNvSpPr txBox="1"/>
          <p:nvPr/>
        </p:nvSpPr>
        <p:spPr>
          <a:xfrm>
            <a:off x="640080" y="2926080"/>
            <a:ext cx="1260958" cy="365760"/>
          </a:xfrm>
          <a:prstGeom prst="rect">
            <a:avLst/>
          </a:prstGeom>
          <a:noFill/>
          <a:ln/>
        </p:spPr>
        <p:txBody>
          <a:bodyPr wrap="square" lIns="0" tIns="0" rIns="0" bIns="0" rtlCol="0" anchor="t"/>
          <a:lstStyle/>
          <a:p>
            <a:pPr algn="ctr" indent="0" marL="0">
              <a:buNone/>
            </a:pPr>
            <a:r>
              <a:rPr lang="en-US" sz="1600" b="1" dirty="0">
                <a:solidFill>
                  <a:srgbClr val="E3EBF0"/>
                </a:solidFill>
                <a:latin typeface="Calibri" pitchFamily="34" charset="0"/>
                <a:ea typeface="Calibri" pitchFamily="34" charset="-122"/>
                <a:cs typeface="Calibri" pitchFamily="34" charset="-120"/>
              </a:rPr>
              <a:t>Collect</a:t>
            </a:r>
            <a:endParaRPr lang="en-US" sz="1600" dirty="0"/>
          </a:p>
        </p:txBody>
      </p:sp>
      <p:sp>
        <p:nvSpPr>
          <p:cNvPr id="9" name="Text 6"/>
          <p:cNvSpPr txBox="1"/>
          <p:nvPr/>
        </p:nvSpPr>
        <p:spPr>
          <a:xfrm>
            <a:off x="658368" y="3337560"/>
            <a:ext cx="1224382" cy="868680"/>
          </a:xfrm>
          <a:prstGeom prst="rect">
            <a:avLst/>
          </a:prstGeom>
          <a:noFill/>
          <a:ln/>
        </p:spPr>
        <p:txBody>
          <a:bodyPr wrap="square" lIns="0" tIns="0" rIns="0" bIns="0" rtlCol="0" anchor="t"/>
          <a:lstStyle/>
          <a:p>
            <a:pPr algn="ctr" indent="0" marL="0">
              <a:buNone/>
            </a:pPr>
            <a:r>
              <a:rPr lang="en-US" sz="1200" dirty="0">
                <a:solidFill>
                  <a:srgbClr val="94A6B3"/>
                </a:solidFill>
                <a:latin typeface="Calibri" pitchFamily="34" charset="0"/>
                <a:ea typeface="Calibri" pitchFamily="34" charset="-122"/>
                <a:cs typeface="Calibri" pitchFamily="34" charset="-120"/>
              </a:rPr>
              <a:t>Read-only PowerShell collector</a:t>
            </a:r>
            <a:endParaRPr lang="en-US" sz="1200" dirty="0"/>
          </a:p>
        </p:txBody>
      </p:sp>
      <p:sp>
        <p:nvSpPr>
          <p:cNvPr id="10" name="Shape 7"/>
          <p:cNvSpPr/>
          <p:nvPr/>
        </p:nvSpPr>
        <p:spPr>
          <a:xfrm>
            <a:off x="2157070" y="1965960"/>
            <a:ext cx="1443838" cy="2331720"/>
          </a:xfrm>
          <a:prstGeom prst="roundRect">
            <a:avLst>
              <a:gd name="adj" fmla="val 5066"/>
            </a:avLst>
          </a:prstGeom>
          <a:solidFill>
            <a:srgbClr val="16212A"/>
          </a:solidFill>
          <a:ln w="9525">
            <a:solidFill>
              <a:srgbClr val="2A3A46"/>
            </a:solidFill>
            <a:prstDash val="solid"/>
          </a:ln>
        </p:spPr>
      </p:sp>
      <p:sp>
        <p:nvSpPr>
          <p:cNvPr id="11" name="Shape 8"/>
          <p:cNvSpPr/>
          <p:nvPr/>
        </p:nvSpPr>
        <p:spPr>
          <a:xfrm>
            <a:off x="2577236" y="2194560"/>
            <a:ext cx="603504" cy="603504"/>
          </a:xfrm>
          <a:prstGeom prst="ellipse">
            <a:avLst/>
          </a:prstGeom>
          <a:solidFill>
            <a:srgbClr val="1C2A35"/>
          </a:solidFill>
          <a:ln w="9525">
            <a:solidFill>
              <a:srgbClr val="2A3A46"/>
            </a:solidFill>
            <a:prstDash val="solid"/>
          </a:ln>
        </p:spPr>
      </p:sp>
      <p:pic>
        <p:nvPicPr>
          <p:cNvPr id="12" name="Image 1" descr="preencoded.png">    </p:cNvPr>
          <p:cNvPicPr>
            <a:picLocks noChangeAspect="1"/>
          </p:cNvPicPr>
          <p:nvPr/>
        </p:nvPicPr>
        <p:blipFill>
          <a:blip r:embed="rId2"/>
          <a:stretch>
            <a:fillRect/>
          </a:stretch>
        </p:blipFill>
        <p:spPr>
          <a:xfrm>
            <a:off x="2710007" y="2327331"/>
            <a:ext cx="337962" cy="337962"/>
          </a:xfrm>
          <a:prstGeom prst="rect">
            <a:avLst/>
          </a:prstGeom>
        </p:spPr>
      </p:pic>
      <p:sp>
        <p:nvSpPr>
          <p:cNvPr id="13" name="Text 9"/>
          <p:cNvSpPr txBox="1"/>
          <p:nvPr/>
        </p:nvSpPr>
        <p:spPr>
          <a:xfrm>
            <a:off x="2266798" y="2057400"/>
            <a:ext cx="365760" cy="274320"/>
          </a:xfrm>
          <a:prstGeom prst="rect">
            <a:avLst/>
          </a:prstGeom>
          <a:noFill/>
          <a:ln/>
        </p:spPr>
        <p:txBody>
          <a:bodyPr wrap="square" lIns="0" tIns="0" rIns="0" bIns="0" rtlCol="0" anchor="t"/>
          <a:lstStyle/>
          <a:p>
            <a:pPr indent="0" marL="0">
              <a:buNone/>
            </a:pPr>
            <a:r>
              <a:rPr lang="en-US" sz="1100" dirty="0">
                <a:solidFill>
                  <a:srgbClr val="6B7D89"/>
                </a:solidFill>
                <a:latin typeface="Consolas" pitchFamily="34" charset="0"/>
                <a:ea typeface="Consolas" pitchFamily="34" charset="-122"/>
                <a:cs typeface="Consolas" pitchFamily="34" charset="-120"/>
              </a:rPr>
              <a:t>2</a:t>
            </a:r>
            <a:endParaRPr lang="en-US" sz="1100" dirty="0"/>
          </a:p>
        </p:txBody>
      </p:sp>
      <p:sp>
        <p:nvSpPr>
          <p:cNvPr id="14" name="Text 10"/>
          <p:cNvSpPr txBox="1"/>
          <p:nvPr/>
        </p:nvSpPr>
        <p:spPr>
          <a:xfrm>
            <a:off x="2248510" y="2926080"/>
            <a:ext cx="1260958" cy="365760"/>
          </a:xfrm>
          <a:prstGeom prst="rect">
            <a:avLst/>
          </a:prstGeom>
          <a:noFill/>
          <a:ln/>
        </p:spPr>
        <p:txBody>
          <a:bodyPr wrap="square" lIns="0" tIns="0" rIns="0" bIns="0" rtlCol="0" anchor="t"/>
          <a:lstStyle/>
          <a:p>
            <a:pPr algn="ctr" indent="0" marL="0">
              <a:buNone/>
            </a:pPr>
            <a:r>
              <a:rPr lang="en-US" sz="1600" b="1" dirty="0">
                <a:solidFill>
                  <a:srgbClr val="E3EBF0"/>
                </a:solidFill>
                <a:latin typeface="Calibri" pitchFamily="34" charset="0"/>
                <a:ea typeface="Calibri" pitchFamily="34" charset="-122"/>
                <a:cs typeface="Calibri" pitchFamily="34" charset="-120"/>
              </a:rPr>
              <a:t>Seal</a:t>
            </a:r>
            <a:endParaRPr lang="en-US" sz="1600" dirty="0"/>
          </a:p>
        </p:txBody>
      </p:sp>
      <p:sp>
        <p:nvSpPr>
          <p:cNvPr id="15" name="Text 11"/>
          <p:cNvSpPr txBox="1"/>
          <p:nvPr/>
        </p:nvSpPr>
        <p:spPr>
          <a:xfrm>
            <a:off x="2266798" y="3337560"/>
            <a:ext cx="1224382" cy="868680"/>
          </a:xfrm>
          <a:prstGeom prst="rect">
            <a:avLst/>
          </a:prstGeom>
          <a:noFill/>
          <a:ln/>
        </p:spPr>
        <p:txBody>
          <a:bodyPr wrap="square" lIns="0" tIns="0" rIns="0" bIns="0" rtlCol="0" anchor="t"/>
          <a:lstStyle/>
          <a:p>
            <a:pPr algn="ctr" indent="0" marL="0">
              <a:buNone/>
            </a:pPr>
            <a:r>
              <a:rPr lang="en-US" sz="1200" dirty="0">
                <a:solidFill>
                  <a:srgbClr val="94A6B3"/>
                </a:solidFill>
                <a:latin typeface="Calibri" pitchFamily="34" charset="0"/>
                <a:ea typeface="Calibri" pitchFamily="34" charset="-122"/>
                <a:cs typeface="Calibri" pitchFamily="34" charset="-120"/>
              </a:rPr>
              <a:t>SHA-256 fingerprint + custody log</a:t>
            </a:r>
            <a:endParaRPr lang="en-US" sz="1200" dirty="0"/>
          </a:p>
        </p:txBody>
      </p:sp>
      <p:sp>
        <p:nvSpPr>
          <p:cNvPr id="16" name="Shape 12"/>
          <p:cNvSpPr/>
          <p:nvPr/>
        </p:nvSpPr>
        <p:spPr>
          <a:xfrm>
            <a:off x="3765499" y="1965960"/>
            <a:ext cx="1443838" cy="2331720"/>
          </a:xfrm>
          <a:prstGeom prst="roundRect">
            <a:avLst>
              <a:gd name="adj" fmla="val 5066"/>
            </a:avLst>
          </a:prstGeom>
          <a:solidFill>
            <a:srgbClr val="16212A"/>
          </a:solidFill>
          <a:ln w="9525">
            <a:solidFill>
              <a:srgbClr val="2A3A46"/>
            </a:solidFill>
            <a:prstDash val="solid"/>
          </a:ln>
        </p:spPr>
      </p:sp>
      <p:sp>
        <p:nvSpPr>
          <p:cNvPr id="17" name="Shape 13"/>
          <p:cNvSpPr/>
          <p:nvPr/>
        </p:nvSpPr>
        <p:spPr>
          <a:xfrm>
            <a:off x="4185666" y="2194560"/>
            <a:ext cx="603504" cy="603504"/>
          </a:xfrm>
          <a:prstGeom prst="ellipse">
            <a:avLst/>
          </a:prstGeom>
          <a:solidFill>
            <a:srgbClr val="1C2A35"/>
          </a:solidFill>
          <a:ln w="9525">
            <a:solidFill>
              <a:srgbClr val="2A3A46"/>
            </a:solidFill>
            <a:prstDash val="solid"/>
          </a:ln>
        </p:spPr>
      </p:sp>
      <p:pic>
        <p:nvPicPr>
          <p:cNvPr id="18" name="Image 2" descr="preencoded.png">    </p:cNvPr>
          <p:cNvPicPr>
            <a:picLocks noChangeAspect="1"/>
          </p:cNvPicPr>
          <p:nvPr/>
        </p:nvPicPr>
        <p:blipFill>
          <a:blip r:embed="rId3"/>
          <a:stretch>
            <a:fillRect/>
          </a:stretch>
        </p:blipFill>
        <p:spPr>
          <a:xfrm>
            <a:off x="4318437" y="2327331"/>
            <a:ext cx="337962" cy="337962"/>
          </a:xfrm>
          <a:prstGeom prst="rect">
            <a:avLst/>
          </a:prstGeom>
        </p:spPr>
      </p:pic>
      <p:sp>
        <p:nvSpPr>
          <p:cNvPr id="19" name="Text 14"/>
          <p:cNvSpPr txBox="1"/>
          <p:nvPr/>
        </p:nvSpPr>
        <p:spPr>
          <a:xfrm>
            <a:off x="3875227" y="2057400"/>
            <a:ext cx="365760" cy="274320"/>
          </a:xfrm>
          <a:prstGeom prst="rect">
            <a:avLst/>
          </a:prstGeom>
          <a:noFill/>
          <a:ln/>
        </p:spPr>
        <p:txBody>
          <a:bodyPr wrap="square" lIns="0" tIns="0" rIns="0" bIns="0" rtlCol="0" anchor="t"/>
          <a:lstStyle/>
          <a:p>
            <a:pPr indent="0" marL="0">
              <a:buNone/>
            </a:pPr>
            <a:r>
              <a:rPr lang="en-US" sz="1100" dirty="0">
                <a:solidFill>
                  <a:srgbClr val="6B7D89"/>
                </a:solidFill>
                <a:latin typeface="Consolas" pitchFamily="34" charset="0"/>
                <a:ea typeface="Consolas" pitchFamily="34" charset="-122"/>
                <a:cs typeface="Consolas" pitchFamily="34" charset="-120"/>
              </a:rPr>
              <a:t>3</a:t>
            </a:r>
            <a:endParaRPr lang="en-US" sz="1100" dirty="0"/>
          </a:p>
        </p:txBody>
      </p:sp>
      <p:sp>
        <p:nvSpPr>
          <p:cNvPr id="20" name="Text 15"/>
          <p:cNvSpPr txBox="1"/>
          <p:nvPr/>
        </p:nvSpPr>
        <p:spPr>
          <a:xfrm>
            <a:off x="3856939" y="2926080"/>
            <a:ext cx="1260958" cy="365760"/>
          </a:xfrm>
          <a:prstGeom prst="rect">
            <a:avLst/>
          </a:prstGeom>
          <a:noFill/>
          <a:ln/>
        </p:spPr>
        <p:txBody>
          <a:bodyPr wrap="square" lIns="0" tIns="0" rIns="0" bIns="0" rtlCol="0" anchor="t"/>
          <a:lstStyle/>
          <a:p>
            <a:pPr algn="ctr" indent="0" marL="0">
              <a:buNone/>
            </a:pPr>
            <a:r>
              <a:rPr lang="en-US" sz="1600" b="1" dirty="0">
                <a:solidFill>
                  <a:srgbClr val="E3EBF0"/>
                </a:solidFill>
                <a:latin typeface="Calibri" pitchFamily="34" charset="0"/>
                <a:ea typeface="Calibri" pitchFamily="34" charset="-122"/>
                <a:cs typeface="Calibri" pitchFamily="34" charset="-120"/>
              </a:rPr>
              <a:t>Ingest</a:t>
            </a:r>
            <a:endParaRPr lang="en-US" sz="1600" dirty="0"/>
          </a:p>
        </p:txBody>
      </p:sp>
      <p:sp>
        <p:nvSpPr>
          <p:cNvPr id="21" name="Text 16"/>
          <p:cNvSpPr txBox="1"/>
          <p:nvPr/>
        </p:nvSpPr>
        <p:spPr>
          <a:xfrm>
            <a:off x="3875227" y="3337560"/>
            <a:ext cx="1224382" cy="868680"/>
          </a:xfrm>
          <a:prstGeom prst="rect">
            <a:avLst/>
          </a:prstGeom>
          <a:noFill/>
          <a:ln/>
        </p:spPr>
        <p:txBody>
          <a:bodyPr wrap="square" lIns="0" tIns="0" rIns="0" bIns="0" rtlCol="0" anchor="t"/>
          <a:lstStyle/>
          <a:p>
            <a:pPr algn="ctr" indent="0" marL="0">
              <a:buNone/>
            </a:pPr>
            <a:r>
              <a:rPr lang="en-US" sz="1200" dirty="0">
                <a:solidFill>
                  <a:srgbClr val="94A6B3"/>
                </a:solidFill>
                <a:latin typeface="Calibri" pitchFamily="34" charset="0"/>
                <a:ea typeface="Calibri" pitchFamily="34" charset="-122"/>
                <a:cs typeface="Calibri" pitchFamily="34" charset="-120"/>
              </a:rPr>
              <a:t>Raw record kept untouched</a:t>
            </a:r>
            <a:endParaRPr lang="en-US" sz="1200" dirty="0"/>
          </a:p>
        </p:txBody>
      </p:sp>
      <p:sp>
        <p:nvSpPr>
          <p:cNvPr id="22" name="Shape 17"/>
          <p:cNvSpPr/>
          <p:nvPr/>
        </p:nvSpPr>
        <p:spPr>
          <a:xfrm>
            <a:off x="5373929" y="1965960"/>
            <a:ext cx="1443838" cy="2331720"/>
          </a:xfrm>
          <a:prstGeom prst="roundRect">
            <a:avLst>
              <a:gd name="adj" fmla="val 5066"/>
            </a:avLst>
          </a:prstGeom>
          <a:solidFill>
            <a:srgbClr val="16212A"/>
          </a:solidFill>
          <a:ln w="9525">
            <a:solidFill>
              <a:srgbClr val="2A3A46"/>
            </a:solidFill>
            <a:prstDash val="solid"/>
          </a:ln>
        </p:spPr>
      </p:sp>
      <p:sp>
        <p:nvSpPr>
          <p:cNvPr id="23" name="Shape 18"/>
          <p:cNvSpPr/>
          <p:nvPr/>
        </p:nvSpPr>
        <p:spPr>
          <a:xfrm>
            <a:off x="5794096" y="2194560"/>
            <a:ext cx="603504" cy="603504"/>
          </a:xfrm>
          <a:prstGeom prst="ellipse">
            <a:avLst/>
          </a:prstGeom>
          <a:solidFill>
            <a:srgbClr val="1C2A35"/>
          </a:solidFill>
          <a:ln w="9525">
            <a:solidFill>
              <a:srgbClr val="2A3A46"/>
            </a:solidFill>
            <a:prstDash val="solid"/>
          </a:ln>
        </p:spPr>
      </p:sp>
      <p:pic>
        <p:nvPicPr>
          <p:cNvPr id="24" name="Image 3" descr="preencoded.png">    </p:cNvPr>
          <p:cNvPicPr>
            <a:picLocks noChangeAspect="1"/>
          </p:cNvPicPr>
          <p:nvPr/>
        </p:nvPicPr>
        <p:blipFill>
          <a:blip r:embed="rId4"/>
          <a:stretch>
            <a:fillRect/>
          </a:stretch>
        </p:blipFill>
        <p:spPr>
          <a:xfrm>
            <a:off x="5926866" y="2327331"/>
            <a:ext cx="337962" cy="337962"/>
          </a:xfrm>
          <a:prstGeom prst="rect">
            <a:avLst/>
          </a:prstGeom>
        </p:spPr>
      </p:pic>
      <p:sp>
        <p:nvSpPr>
          <p:cNvPr id="25" name="Text 19"/>
          <p:cNvSpPr txBox="1"/>
          <p:nvPr/>
        </p:nvSpPr>
        <p:spPr>
          <a:xfrm>
            <a:off x="5483657" y="2057400"/>
            <a:ext cx="365760" cy="274320"/>
          </a:xfrm>
          <a:prstGeom prst="rect">
            <a:avLst/>
          </a:prstGeom>
          <a:noFill/>
          <a:ln/>
        </p:spPr>
        <p:txBody>
          <a:bodyPr wrap="square" lIns="0" tIns="0" rIns="0" bIns="0" rtlCol="0" anchor="t"/>
          <a:lstStyle/>
          <a:p>
            <a:pPr indent="0" marL="0">
              <a:buNone/>
            </a:pPr>
            <a:r>
              <a:rPr lang="en-US" sz="1100" dirty="0">
                <a:solidFill>
                  <a:srgbClr val="6B7D89"/>
                </a:solidFill>
                <a:latin typeface="Consolas" pitchFamily="34" charset="0"/>
                <a:ea typeface="Consolas" pitchFamily="34" charset="-122"/>
                <a:cs typeface="Consolas" pitchFamily="34" charset="-120"/>
              </a:rPr>
              <a:t>4</a:t>
            </a:r>
            <a:endParaRPr lang="en-US" sz="1100" dirty="0"/>
          </a:p>
        </p:txBody>
      </p:sp>
      <p:sp>
        <p:nvSpPr>
          <p:cNvPr id="26" name="Text 20"/>
          <p:cNvSpPr txBox="1"/>
          <p:nvPr/>
        </p:nvSpPr>
        <p:spPr>
          <a:xfrm>
            <a:off x="5465369" y="2926080"/>
            <a:ext cx="1260958" cy="365760"/>
          </a:xfrm>
          <a:prstGeom prst="rect">
            <a:avLst/>
          </a:prstGeom>
          <a:noFill/>
          <a:ln/>
        </p:spPr>
        <p:txBody>
          <a:bodyPr wrap="square" lIns="0" tIns="0" rIns="0" bIns="0" rtlCol="0" anchor="t"/>
          <a:lstStyle/>
          <a:p>
            <a:pPr algn="ctr" indent="0" marL="0">
              <a:buNone/>
            </a:pPr>
            <a:r>
              <a:rPr lang="en-US" sz="1600" b="1" dirty="0">
                <a:solidFill>
                  <a:srgbClr val="E3EBF0"/>
                </a:solidFill>
                <a:latin typeface="Calibri" pitchFamily="34" charset="0"/>
                <a:ea typeface="Calibri" pitchFamily="34" charset="-122"/>
                <a:cs typeface="Calibri" pitchFamily="34" charset="-120"/>
              </a:rPr>
              <a:t>Normalize</a:t>
            </a:r>
            <a:endParaRPr lang="en-US" sz="1600" dirty="0"/>
          </a:p>
        </p:txBody>
      </p:sp>
      <p:sp>
        <p:nvSpPr>
          <p:cNvPr id="27" name="Text 21"/>
          <p:cNvSpPr txBox="1"/>
          <p:nvPr/>
        </p:nvSpPr>
        <p:spPr>
          <a:xfrm>
            <a:off x="5483657" y="3337560"/>
            <a:ext cx="1224382" cy="868680"/>
          </a:xfrm>
          <a:prstGeom prst="rect">
            <a:avLst/>
          </a:prstGeom>
          <a:noFill/>
          <a:ln/>
        </p:spPr>
        <p:txBody>
          <a:bodyPr wrap="square" lIns="0" tIns="0" rIns="0" bIns="0" rtlCol="0" anchor="t"/>
          <a:lstStyle/>
          <a:p>
            <a:pPr algn="ctr" indent="0" marL="0">
              <a:buNone/>
            </a:pPr>
            <a:r>
              <a:rPr lang="en-US" sz="1200" dirty="0">
                <a:solidFill>
                  <a:srgbClr val="94A6B3"/>
                </a:solidFill>
                <a:latin typeface="Calibri" pitchFamily="34" charset="0"/>
                <a:ea typeface="Calibri" pitchFamily="34" charset="-122"/>
                <a:cs typeface="Calibri" pitchFamily="34" charset="-120"/>
              </a:rPr>
              <a:t>One common format, nothing guessed</a:t>
            </a:r>
            <a:endParaRPr lang="en-US" sz="1200" dirty="0"/>
          </a:p>
        </p:txBody>
      </p:sp>
      <p:sp>
        <p:nvSpPr>
          <p:cNvPr id="28" name="Shape 22"/>
          <p:cNvSpPr/>
          <p:nvPr/>
        </p:nvSpPr>
        <p:spPr>
          <a:xfrm>
            <a:off x="6982358" y="1965960"/>
            <a:ext cx="1443838" cy="2331720"/>
          </a:xfrm>
          <a:prstGeom prst="roundRect">
            <a:avLst>
              <a:gd name="adj" fmla="val 5066"/>
            </a:avLst>
          </a:prstGeom>
          <a:solidFill>
            <a:srgbClr val="1C2A35"/>
          </a:solidFill>
          <a:ln w="9525">
            <a:solidFill>
              <a:srgbClr val="2A3A46"/>
            </a:solidFill>
            <a:prstDash val="solid"/>
          </a:ln>
        </p:spPr>
      </p:sp>
      <p:sp>
        <p:nvSpPr>
          <p:cNvPr id="29" name="Shape 23"/>
          <p:cNvSpPr/>
          <p:nvPr/>
        </p:nvSpPr>
        <p:spPr>
          <a:xfrm>
            <a:off x="7402525" y="2194560"/>
            <a:ext cx="603504" cy="603504"/>
          </a:xfrm>
          <a:prstGeom prst="ellipse">
            <a:avLst/>
          </a:prstGeom>
          <a:solidFill>
            <a:srgbClr val="1C2A35"/>
          </a:solidFill>
          <a:ln w="9525">
            <a:solidFill>
              <a:srgbClr val="2A3A46"/>
            </a:solidFill>
            <a:prstDash val="solid"/>
          </a:ln>
        </p:spPr>
      </p:sp>
      <p:pic>
        <p:nvPicPr>
          <p:cNvPr id="30" name="Image 4" descr="preencoded.png">    </p:cNvPr>
          <p:cNvPicPr>
            <a:picLocks noChangeAspect="1"/>
          </p:cNvPicPr>
          <p:nvPr/>
        </p:nvPicPr>
        <p:blipFill>
          <a:blip r:embed="rId5"/>
          <a:stretch>
            <a:fillRect/>
          </a:stretch>
        </p:blipFill>
        <p:spPr>
          <a:xfrm>
            <a:off x="7535296" y="2327331"/>
            <a:ext cx="337962" cy="337962"/>
          </a:xfrm>
          <a:prstGeom prst="rect">
            <a:avLst/>
          </a:prstGeom>
        </p:spPr>
      </p:pic>
      <p:sp>
        <p:nvSpPr>
          <p:cNvPr id="31" name="Text 24"/>
          <p:cNvSpPr txBox="1"/>
          <p:nvPr/>
        </p:nvSpPr>
        <p:spPr>
          <a:xfrm>
            <a:off x="7092086" y="2057400"/>
            <a:ext cx="365760" cy="274320"/>
          </a:xfrm>
          <a:prstGeom prst="rect">
            <a:avLst/>
          </a:prstGeom>
          <a:noFill/>
          <a:ln/>
        </p:spPr>
        <p:txBody>
          <a:bodyPr wrap="square" lIns="0" tIns="0" rIns="0" bIns="0" rtlCol="0" anchor="t"/>
          <a:lstStyle/>
          <a:p>
            <a:pPr indent="0" marL="0">
              <a:buNone/>
            </a:pPr>
            <a:r>
              <a:rPr lang="en-US" sz="1100" dirty="0">
                <a:solidFill>
                  <a:srgbClr val="6B7D89"/>
                </a:solidFill>
                <a:latin typeface="Consolas" pitchFamily="34" charset="0"/>
                <a:ea typeface="Consolas" pitchFamily="34" charset="-122"/>
                <a:cs typeface="Consolas" pitchFamily="34" charset="-120"/>
              </a:rPr>
              <a:t>5</a:t>
            </a:r>
            <a:endParaRPr lang="en-US" sz="1100" dirty="0"/>
          </a:p>
        </p:txBody>
      </p:sp>
      <p:sp>
        <p:nvSpPr>
          <p:cNvPr id="32" name="Text 25"/>
          <p:cNvSpPr txBox="1"/>
          <p:nvPr/>
        </p:nvSpPr>
        <p:spPr>
          <a:xfrm>
            <a:off x="7073798" y="2926080"/>
            <a:ext cx="1260958" cy="365760"/>
          </a:xfrm>
          <a:prstGeom prst="rect">
            <a:avLst/>
          </a:prstGeom>
          <a:noFill/>
          <a:ln/>
        </p:spPr>
        <p:txBody>
          <a:bodyPr wrap="square" lIns="0" tIns="0" rIns="0" bIns="0" rtlCol="0" anchor="t"/>
          <a:lstStyle/>
          <a:p>
            <a:pPr algn="ctr" indent="0" marL="0">
              <a:buNone/>
            </a:pPr>
            <a:r>
              <a:rPr lang="en-US" sz="1600" b="1" dirty="0">
                <a:solidFill>
                  <a:srgbClr val="E3EBF0"/>
                </a:solidFill>
                <a:latin typeface="Calibri" pitchFamily="34" charset="0"/>
                <a:ea typeface="Calibri" pitchFamily="34" charset="-122"/>
                <a:cs typeface="Calibri" pitchFamily="34" charset="-120"/>
              </a:rPr>
              <a:t>Correlate</a:t>
            </a:r>
            <a:endParaRPr lang="en-US" sz="1600" dirty="0"/>
          </a:p>
        </p:txBody>
      </p:sp>
      <p:sp>
        <p:nvSpPr>
          <p:cNvPr id="33" name="Text 26"/>
          <p:cNvSpPr txBox="1"/>
          <p:nvPr/>
        </p:nvSpPr>
        <p:spPr>
          <a:xfrm>
            <a:off x="7092086" y="3337560"/>
            <a:ext cx="1224382" cy="868680"/>
          </a:xfrm>
          <a:prstGeom prst="rect">
            <a:avLst/>
          </a:prstGeom>
          <a:noFill/>
          <a:ln/>
        </p:spPr>
        <p:txBody>
          <a:bodyPr wrap="square" lIns="0" tIns="0" rIns="0" bIns="0" rtlCol="0" anchor="t"/>
          <a:lstStyle/>
          <a:p>
            <a:pPr algn="ctr" indent="0" marL="0">
              <a:buNone/>
            </a:pPr>
            <a:r>
              <a:rPr lang="en-US" sz="1200" dirty="0">
                <a:solidFill>
                  <a:srgbClr val="94A6B3"/>
                </a:solidFill>
                <a:latin typeface="Calibri" pitchFamily="34" charset="0"/>
                <a:ea typeface="Calibri" pitchFamily="34" charset="-122"/>
                <a:cs typeface="Calibri" pitchFamily="34" charset="-120"/>
              </a:rPr>
              <a:t>Same user, device, file and time window</a:t>
            </a:r>
            <a:endParaRPr lang="en-US" sz="1200" dirty="0"/>
          </a:p>
        </p:txBody>
      </p:sp>
      <p:sp>
        <p:nvSpPr>
          <p:cNvPr id="34" name="Shape 27"/>
          <p:cNvSpPr/>
          <p:nvPr/>
        </p:nvSpPr>
        <p:spPr>
          <a:xfrm>
            <a:off x="8590788" y="1965960"/>
            <a:ext cx="1443838" cy="2331720"/>
          </a:xfrm>
          <a:prstGeom prst="roundRect">
            <a:avLst>
              <a:gd name="adj" fmla="val 5066"/>
            </a:avLst>
          </a:prstGeom>
          <a:solidFill>
            <a:srgbClr val="16212A"/>
          </a:solidFill>
          <a:ln w="9525">
            <a:solidFill>
              <a:srgbClr val="2A3A46"/>
            </a:solidFill>
            <a:prstDash val="solid"/>
          </a:ln>
        </p:spPr>
      </p:sp>
      <p:sp>
        <p:nvSpPr>
          <p:cNvPr id="35" name="Shape 28"/>
          <p:cNvSpPr/>
          <p:nvPr/>
        </p:nvSpPr>
        <p:spPr>
          <a:xfrm>
            <a:off x="9010955" y="2194560"/>
            <a:ext cx="603504" cy="603504"/>
          </a:xfrm>
          <a:prstGeom prst="ellipse">
            <a:avLst/>
          </a:prstGeom>
          <a:solidFill>
            <a:srgbClr val="1C2A35"/>
          </a:solidFill>
          <a:ln w="9525">
            <a:solidFill>
              <a:srgbClr val="2A3A46"/>
            </a:solidFill>
            <a:prstDash val="solid"/>
          </a:ln>
        </p:spPr>
      </p:sp>
      <p:pic>
        <p:nvPicPr>
          <p:cNvPr id="36" name="Image 5" descr="preencoded.png">    </p:cNvPr>
          <p:cNvPicPr>
            <a:picLocks noChangeAspect="1"/>
          </p:cNvPicPr>
          <p:nvPr/>
        </p:nvPicPr>
        <p:blipFill>
          <a:blip r:embed="rId6"/>
          <a:stretch>
            <a:fillRect/>
          </a:stretch>
        </p:blipFill>
        <p:spPr>
          <a:xfrm>
            <a:off x="9143726" y="2327331"/>
            <a:ext cx="337962" cy="337962"/>
          </a:xfrm>
          <a:prstGeom prst="rect">
            <a:avLst/>
          </a:prstGeom>
        </p:spPr>
      </p:pic>
      <p:sp>
        <p:nvSpPr>
          <p:cNvPr id="37" name="Text 29"/>
          <p:cNvSpPr txBox="1"/>
          <p:nvPr/>
        </p:nvSpPr>
        <p:spPr>
          <a:xfrm>
            <a:off x="8700516" y="2057400"/>
            <a:ext cx="365760" cy="274320"/>
          </a:xfrm>
          <a:prstGeom prst="rect">
            <a:avLst/>
          </a:prstGeom>
          <a:noFill/>
          <a:ln/>
        </p:spPr>
        <p:txBody>
          <a:bodyPr wrap="square" lIns="0" tIns="0" rIns="0" bIns="0" rtlCol="0" anchor="t"/>
          <a:lstStyle/>
          <a:p>
            <a:pPr indent="0" marL="0">
              <a:buNone/>
            </a:pPr>
            <a:r>
              <a:rPr lang="en-US" sz="1100" dirty="0">
                <a:solidFill>
                  <a:srgbClr val="6B7D89"/>
                </a:solidFill>
                <a:latin typeface="Consolas" pitchFamily="34" charset="0"/>
                <a:ea typeface="Consolas" pitchFamily="34" charset="-122"/>
                <a:cs typeface="Consolas" pitchFamily="34" charset="-120"/>
              </a:rPr>
              <a:t>6</a:t>
            </a:r>
            <a:endParaRPr lang="en-US" sz="1100" dirty="0"/>
          </a:p>
        </p:txBody>
      </p:sp>
      <p:sp>
        <p:nvSpPr>
          <p:cNvPr id="38" name="Text 30"/>
          <p:cNvSpPr txBox="1"/>
          <p:nvPr/>
        </p:nvSpPr>
        <p:spPr>
          <a:xfrm>
            <a:off x="8682228" y="2926080"/>
            <a:ext cx="1260958" cy="365760"/>
          </a:xfrm>
          <a:prstGeom prst="rect">
            <a:avLst/>
          </a:prstGeom>
          <a:noFill/>
          <a:ln/>
        </p:spPr>
        <p:txBody>
          <a:bodyPr wrap="square" lIns="0" tIns="0" rIns="0" bIns="0" rtlCol="0" anchor="t"/>
          <a:lstStyle/>
          <a:p>
            <a:pPr algn="ctr" indent="0" marL="0">
              <a:buNone/>
            </a:pPr>
            <a:r>
              <a:rPr lang="en-US" sz="1600" b="1" dirty="0">
                <a:solidFill>
                  <a:srgbClr val="E3EBF0"/>
                </a:solidFill>
                <a:latin typeface="Calibri" pitchFamily="34" charset="0"/>
                <a:ea typeface="Calibri" pitchFamily="34" charset="-122"/>
                <a:cs typeface="Calibri" pitchFamily="34" charset="-120"/>
              </a:rPr>
              <a:t>Assess</a:t>
            </a:r>
            <a:endParaRPr lang="en-US" sz="1600" dirty="0"/>
          </a:p>
        </p:txBody>
      </p:sp>
      <p:sp>
        <p:nvSpPr>
          <p:cNvPr id="39" name="Text 31"/>
          <p:cNvSpPr txBox="1"/>
          <p:nvPr/>
        </p:nvSpPr>
        <p:spPr>
          <a:xfrm>
            <a:off x="8700516" y="3337560"/>
            <a:ext cx="1224382" cy="868680"/>
          </a:xfrm>
          <a:prstGeom prst="rect">
            <a:avLst/>
          </a:prstGeom>
          <a:noFill/>
          <a:ln/>
        </p:spPr>
        <p:txBody>
          <a:bodyPr wrap="square" lIns="0" tIns="0" rIns="0" bIns="0" rtlCol="0" anchor="t"/>
          <a:lstStyle/>
          <a:p>
            <a:pPr algn="ctr" indent="0" marL="0">
              <a:buNone/>
            </a:pPr>
            <a:r>
              <a:rPr lang="en-US" sz="1200" dirty="0">
                <a:solidFill>
                  <a:srgbClr val="94A6B3"/>
                </a:solidFill>
                <a:latin typeface="Calibri" pitchFamily="34" charset="0"/>
                <a:ea typeface="Calibri" pitchFamily="34" charset="-122"/>
                <a:cs typeface="Calibri" pitchFamily="34" charset="-120"/>
              </a:rPr>
              <a:t>Four hypotheses with limits</a:t>
            </a:r>
            <a:endParaRPr lang="en-US" sz="1200" dirty="0"/>
          </a:p>
        </p:txBody>
      </p:sp>
      <p:sp>
        <p:nvSpPr>
          <p:cNvPr id="40" name="Shape 32"/>
          <p:cNvSpPr/>
          <p:nvPr/>
        </p:nvSpPr>
        <p:spPr>
          <a:xfrm>
            <a:off x="10199218" y="1965960"/>
            <a:ext cx="1443838" cy="2331720"/>
          </a:xfrm>
          <a:prstGeom prst="roundRect">
            <a:avLst>
              <a:gd name="adj" fmla="val 5066"/>
            </a:avLst>
          </a:prstGeom>
          <a:solidFill>
            <a:srgbClr val="16212A"/>
          </a:solidFill>
          <a:ln w="9525">
            <a:solidFill>
              <a:srgbClr val="2A3A46"/>
            </a:solidFill>
            <a:prstDash val="solid"/>
          </a:ln>
        </p:spPr>
      </p:sp>
      <p:sp>
        <p:nvSpPr>
          <p:cNvPr id="41" name="Shape 33"/>
          <p:cNvSpPr/>
          <p:nvPr/>
        </p:nvSpPr>
        <p:spPr>
          <a:xfrm>
            <a:off x="10619384" y="2194560"/>
            <a:ext cx="603504" cy="603504"/>
          </a:xfrm>
          <a:prstGeom prst="ellipse">
            <a:avLst/>
          </a:prstGeom>
          <a:solidFill>
            <a:srgbClr val="1C2A35"/>
          </a:solidFill>
          <a:ln w="9525">
            <a:solidFill>
              <a:srgbClr val="2A3A46"/>
            </a:solidFill>
            <a:prstDash val="solid"/>
          </a:ln>
        </p:spPr>
      </p:sp>
      <p:pic>
        <p:nvPicPr>
          <p:cNvPr id="42" name="Image 6" descr="preencoded.png">    </p:cNvPr>
          <p:cNvPicPr>
            <a:picLocks noChangeAspect="1"/>
          </p:cNvPicPr>
          <p:nvPr/>
        </p:nvPicPr>
        <p:blipFill>
          <a:blip r:embed="rId7"/>
          <a:stretch>
            <a:fillRect/>
          </a:stretch>
        </p:blipFill>
        <p:spPr>
          <a:xfrm>
            <a:off x="10752155" y="2327331"/>
            <a:ext cx="337962" cy="337962"/>
          </a:xfrm>
          <a:prstGeom prst="rect">
            <a:avLst/>
          </a:prstGeom>
        </p:spPr>
      </p:pic>
      <p:sp>
        <p:nvSpPr>
          <p:cNvPr id="43" name="Text 34"/>
          <p:cNvSpPr txBox="1"/>
          <p:nvPr/>
        </p:nvSpPr>
        <p:spPr>
          <a:xfrm>
            <a:off x="10308946" y="2057400"/>
            <a:ext cx="365760" cy="274320"/>
          </a:xfrm>
          <a:prstGeom prst="rect">
            <a:avLst/>
          </a:prstGeom>
          <a:noFill/>
          <a:ln/>
        </p:spPr>
        <p:txBody>
          <a:bodyPr wrap="square" lIns="0" tIns="0" rIns="0" bIns="0" rtlCol="0" anchor="t"/>
          <a:lstStyle/>
          <a:p>
            <a:pPr indent="0" marL="0">
              <a:buNone/>
            </a:pPr>
            <a:r>
              <a:rPr lang="en-US" sz="1100" dirty="0">
                <a:solidFill>
                  <a:srgbClr val="6B7D89"/>
                </a:solidFill>
                <a:latin typeface="Consolas" pitchFamily="34" charset="0"/>
                <a:ea typeface="Consolas" pitchFamily="34" charset="-122"/>
                <a:cs typeface="Consolas" pitchFamily="34" charset="-120"/>
              </a:rPr>
              <a:t>7</a:t>
            </a:r>
            <a:endParaRPr lang="en-US" sz="1100" dirty="0"/>
          </a:p>
        </p:txBody>
      </p:sp>
      <p:sp>
        <p:nvSpPr>
          <p:cNvPr id="44" name="Text 35"/>
          <p:cNvSpPr txBox="1"/>
          <p:nvPr/>
        </p:nvSpPr>
        <p:spPr>
          <a:xfrm>
            <a:off x="10290658" y="2926080"/>
            <a:ext cx="1260958" cy="365760"/>
          </a:xfrm>
          <a:prstGeom prst="rect">
            <a:avLst/>
          </a:prstGeom>
          <a:noFill/>
          <a:ln/>
        </p:spPr>
        <p:txBody>
          <a:bodyPr wrap="square" lIns="0" tIns="0" rIns="0" bIns="0" rtlCol="0" anchor="t"/>
          <a:lstStyle/>
          <a:p>
            <a:pPr algn="ctr" indent="0" marL="0">
              <a:buNone/>
            </a:pPr>
            <a:r>
              <a:rPr lang="en-US" sz="1600" b="1" dirty="0">
                <a:solidFill>
                  <a:srgbClr val="E3EBF0"/>
                </a:solidFill>
                <a:latin typeface="Calibri" pitchFamily="34" charset="0"/>
                <a:ea typeface="Calibri" pitchFamily="34" charset="-122"/>
                <a:cs typeface="Calibri" pitchFamily="34" charset="-120"/>
              </a:rPr>
              <a:t>Present</a:t>
            </a:r>
            <a:endParaRPr lang="en-US" sz="1600" dirty="0"/>
          </a:p>
        </p:txBody>
      </p:sp>
      <p:sp>
        <p:nvSpPr>
          <p:cNvPr id="45" name="Text 36"/>
          <p:cNvSpPr txBox="1"/>
          <p:nvPr/>
        </p:nvSpPr>
        <p:spPr>
          <a:xfrm>
            <a:off x="10308946" y="3337560"/>
            <a:ext cx="1224382" cy="868680"/>
          </a:xfrm>
          <a:prstGeom prst="rect">
            <a:avLst/>
          </a:prstGeom>
          <a:noFill/>
          <a:ln/>
        </p:spPr>
        <p:txBody>
          <a:bodyPr wrap="square" lIns="0" tIns="0" rIns="0" bIns="0" rtlCol="0" anchor="t"/>
          <a:lstStyle/>
          <a:p>
            <a:pPr algn="ctr" indent="0" marL="0">
              <a:buNone/>
            </a:pPr>
            <a:r>
              <a:rPr lang="en-US" sz="1200" dirty="0">
                <a:solidFill>
                  <a:srgbClr val="94A6B3"/>
                </a:solidFill>
                <a:latin typeface="Calibri" pitchFamily="34" charset="0"/>
                <a:ea typeface="Calibri" pitchFamily="34" charset="-122"/>
                <a:cs typeface="Calibri" pitchFamily="34" charset="-120"/>
              </a:rPr>
              <a:t>Dashboard, PDF, HTML, CSV</a:t>
            </a:r>
            <a:endParaRPr lang="en-US" sz="1200" dirty="0"/>
          </a:p>
        </p:txBody>
      </p:sp>
      <p:sp>
        <p:nvSpPr>
          <p:cNvPr id="46" name="Text 37"/>
          <p:cNvSpPr txBox="1"/>
          <p:nvPr/>
        </p:nvSpPr>
        <p:spPr>
          <a:xfrm>
            <a:off x="548640" y="4754880"/>
            <a:ext cx="2743200" cy="274320"/>
          </a:xfrm>
          <a:prstGeom prst="rect">
            <a:avLst/>
          </a:prstGeom>
          <a:noFill/>
          <a:ln/>
        </p:spPr>
        <p:txBody>
          <a:bodyPr wrap="square" lIns="0" tIns="0" rIns="0" bIns="0" rtlCol="0" anchor="t"/>
          <a:lstStyle/>
          <a:p>
            <a:pPr indent="0" marL="0">
              <a:buNone/>
            </a:pPr>
            <a:r>
              <a:rPr lang="en-US" sz="1100" spc="300" kern="0" dirty="0">
                <a:solidFill>
                  <a:srgbClr val="6B7D89"/>
                </a:solidFill>
                <a:latin typeface="Consolas" pitchFamily="34" charset="0"/>
                <a:ea typeface="Consolas" pitchFamily="34" charset="-122"/>
                <a:cs typeface="Consolas" pitchFamily="34" charset="-120"/>
              </a:rPr>
              <a:t>BUILT WITH</a:t>
            </a:r>
            <a:endParaRPr lang="en-US" sz="1100" dirty="0"/>
          </a:p>
        </p:txBody>
      </p:sp>
      <p:sp>
        <p:nvSpPr>
          <p:cNvPr id="47" name="Shape 38"/>
          <p:cNvSpPr/>
          <p:nvPr/>
        </p:nvSpPr>
        <p:spPr>
          <a:xfrm>
            <a:off x="548640" y="5120640"/>
            <a:ext cx="923544" cy="274320"/>
          </a:xfrm>
          <a:prstGeom prst="roundRect">
            <a:avLst>
              <a:gd name="adj" fmla="val 16667"/>
            </a:avLst>
          </a:prstGeom>
          <a:solidFill>
            <a:srgbClr val="E3EBF0">
              <a:alpha val="18000"/>
            </a:srgbClr>
          </a:solidFill>
          <a:ln w="9525">
            <a:solidFill>
              <a:srgbClr val="E3EBF0"/>
            </a:solidFill>
            <a:prstDash val="solid"/>
          </a:ln>
        </p:spPr>
      </p:sp>
      <p:sp>
        <p:nvSpPr>
          <p:cNvPr id="48" name="Text 39"/>
          <p:cNvSpPr txBox="1"/>
          <p:nvPr/>
        </p:nvSpPr>
        <p:spPr>
          <a:xfrm>
            <a:off x="548640" y="5120640"/>
            <a:ext cx="923544" cy="274320"/>
          </a:xfrm>
          <a:prstGeom prst="rect">
            <a:avLst/>
          </a:prstGeom>
          <a:noFill/>
          <a:ln/>
        </p:spPr>
        <p:txBody>
          <a:bodyPr wrap="square" lIns="0" tIns="0" rIns="0" bIns="0" rtlCol="0" anchor="ctr"/>
          <a:lstStyle/>
          <a:p>
            <a:pPr algn="ctr" indent="0" marL="0">
              <a:buNone/>
            </a:pPr>
            <a:r>
              <a:rPr lang="en-US" sz="1000" dirty="0">
                <a:solidFill>
                  <a:srgbClr val="E3EBF0"/>
                </a:solidFill>
                <a:latin typeface="Consolas" pitchFamily="34" charset="0"/>
                <a:ea typeface="Consolas" pitchFamily="34" charset="-122"/>
                <a:cs typeface="Consolas" pitchFamily="34" charset="-120"/>
              </a:rPr>
              <a:t>PowerShell</a:t>
            </a:r>
            <a:endParaRPr lang="en-US" sz="1000" dirty="0"/>
          </a:p>
        </p:txBody>
      </p:sp>
      <p:sp>
        <p:nvSpPr>
          <p:cNvPr id="49" name="Shape 40"/>
          <p:cNvSpPr/>
          <p:nvPr/>
        </p:nvSpPr>
        <p:spPr>
          <a:xfrm>
            <a:off x="1655064" y="5120640"/>
            <a:ext cx="612648" cy="274320"/>
          </a:xfrm>
          <a:prstGeom prst="roundRect">
            <a:avLst>
              <a:gd name="adj" fmla="val 16667"/>
            </a:avLst>
          </a:prstGeom>
          <a:solidFill>
            <a:srgbClr val="E3EBF0">
              <a:alpha val="18000"/>
            </a:srgbClr>
          </a:solidFill>
          <a:ln w="9525">
            <a:solidFill>
              <a:srgbClr val="E3EBF0"/>
            </a:solidFill>
            <a:prstDash val="solid"/>
          </a:ln>
        </p:spPr>
      </p:sp>
      <p:sp>
        <p:nvSpPr>
          <p:cNvPr id="50" name="Text 41"/>
          <p:cNvSpPr txBox="1"/>
          <p:nvPr/>
        </p:nvSpPr>
        <p:spPr>
          <a:xfrm>
            <a:off x="1655064" y="5120640"/>
            <a:ext cx="612648" cy="274320"/>
          </a:xfrm>
          <a:prstGeom prst="rect">
            <a:avLst/>
          </a:prstGeom>
          <a:noFill/>
          <a:ln/>
        </p:spPr>
        <p:txBody>
          <a:bodyPr wrap="square" lIns="0" tIns="0" rIns="0" bIns="0" rtlCol="0" anchor="ctr"/>
          <a:lstStyle/>
          <a:p>
            <a:pPr algn="ctr" indent="0" marL="0">
              <a:buNone/>
            </a:pPr>
            <a:r>
              <a:rPr lang="en-US" sz="1000" dirty="0">
                <a:solidFill>
                  <a:srgbClr val="E3EBF0"/>
                </a:solidFill>
                <a:latin typeface="Consolas" pitchFamily="34" charset="0"/>
                <a:ea typeface="Consolas" pitchFamily="34" charset="-122"/>
                <a:cs typeface="Consolas" pitchFamily="34" charset="-120"/>
              </a:rPr>
              <a:t>Python</a:t>
            </a:r>
            <a:endParaRPr lang="en-US" sz="1000" dirty="0"/>
          </a:p>
        </p:txBody>
      </p:sp>
      <p:sp>
        <p:nvSpPr>
          <p:cNvPr id="51" name="Shape 42"/>
          <p:cNvSpPr/>
          <p:nvPr/>
        </p:nvSpPr>
        <p:spPr>
          <a:xfrm>
            <a:off x="2450592" y="5120640"/>
            <a:ext cx="612648" cy="274320"/>
          </a:xfrm>
          <a:prstGeom prst="roundRect">
            <a:avLst>
              <a:gd name="adj" fmla="val 16667"/>
            </a:avLst>
          </a:prstGeom>
          <a:solidFill>
            <a:srgbClr val="E3EBF0">
              <a:alpha val="18000"/>
            </a:srgbClr>
          </a:solidFill>
          <a:ln w="9525">
            <a:solidFill>
              <a:srgbClr val="E3EBF0"/>
            </a:solidFill>
            <a:prstDash val="solid"/>
          </a:ln>
        </p:spPr>
      </p:sp>
      <p:sp>
        <p:nvSpPr>
          <p:cNvPr id="52" name="Text 43"/>
          <p:cNvSpPr txBox="1"/>
          <p:nvPr/>
        </p:nvSpPr>
        <p:spPr>
          <a:xfrm>
            <a:off x="2450592" y="5120640"/>
            <a:ext cx="612648" cy="274320"/>
          </a:xfrm>
          <a:prstGeom prst="rect">
            <a:avLst/>
          </a:prstGeom>
          <a:noFill/>
          <a:ln/>
        </p:spPr>
        <p:txBody>
          <a:bodyPr wrap="square" lIns="0" tIns="0" rIns="0" bIns="0" rtlCol="0" anchor="ctr"/>
          <a:lstStyle/>
          <a:p>
            <a:pPr algn="ctr" indent="0" marL="0">
              <a:buNone/>
            </a:pPr>
            <a:r>
              <a:rPr lang="en-US" sz="1000" dirty="0">
                <a:solidFill>
                  <a:srgbClr val="E3EBF0"/>
                </a:solidFill>
                <a:latin typeface="Consolas" pitchFamily="34" charset="0"/>
                <a:ea typeface="Consolas" pitchFamily="34" charset="-122"/>
                <a:cs typeface="Consolas" pitchFamily="34" charset="-120"/>
              </a:rPr>
              <a:t>SQLite</a:t>
            </a:r>
            <a:endParaRPr lang="en-US" sz="1000" dirty="0"/>
          </a:p>
        </p:txBody>
      </p:sp>
      <p:sp>
        <p:nvSpPr>
          <p:cNvPr id="53" name="Shape 44"/>
          <p:cNvSpPr/>
          <p:nvPr/>
        </p:nvSpPr>
        <p:spPr>
          <a:xfrm>
            <a:off x="3246120" y="5120640"/>
            <a:ext cx="845820" cy="274320"/>
          </a:xfrm>
          <a:prstGeom prst="roundRect">
            <a:avLst>
              <a:gd name="adj" fmla="val 16667"/>
            </a:avLst>
          </a:prstGeom>
          <a:solidFill>
            <a:srgbClr val="E3EBF0">
              <a:alpha val="18000"/>
            </a:srgbClr>
          </a:solidFill>
          <a:ln w="9525">
            <a:solidFill>
              <a:srgbClr val="E3EBF0"/>
            </a:solidFill>
            <a:prstDash val="solid"/>
          </a:ln>
        </p:spPr>
      </p:sp>
      <p:sp>
        <p:nvSpPr>
          <p:cNvPr id="54" name="Text 45"/>
          <p:cNvSpPr txBox="1"/>
          <p:nvPr/>
        </p:nvSpPr>
        <p:spPr>
          <a:xfrm>
            <a:off x="3246120" y="5120640"/>
            <a:ext cx="845820" cy="274320"/>
          </a:xfrm>
          <a:prstGeom prst="rect">
            <a:avLst/>
          </a:prstGeom>
          <a:noFill/>
          <a:ln/>
        </p:spPr>
        <p:txBody>
          <a:bodyPr wrap="square" lIns="0" tIns="0" rIns="0" bIns="0" rtlCol="0" anchor="ctr"/>
          <a:lstStyle/>
          <a:p>
            <a:pPr algn="ctr" indent="0" marL="0">
              <a:buNone/>
            </a:pPr>
            <a:r>
              <a:rPr lang="en-US" sz="1000" dirty="0">
                <a:solidFill>
                  <a:srgbClr val="E3EBF0"/>
                </a:solidFill>
                <a:latin typeface="Consolas" pitchFamily="34" charset="0"/>
                <a:ea typeface="Consolas" pitchFamily="34" charset="-122"/>
                <a:cs typeface="Consolas" pitchFamily="34" charset="-120"/>
              </a:rPr>
              <a:t>Flask API</a:t>
            </a:r>
            <a:endParaRPr lang="en-US" sz="1000" dirty="0"/>
          </a:p>
        </p:txBody>
      </p:sp>
      <p:sp>
        <p:nvSpPr>
          <p:cNvPr id="55" name="Shape 46"/>
          <p:cNvSpPr/>
          <p:nvPr/>
        </p:nvSpPr>
        <p:spPr>
          <a:xfrm>
            <a:off x="4274820" y="5120640"/>
            <a:ext cx="1078992" cy="274320"/>
          </a:xfrm>
          <a:prstGeom prst="roundRect">
            <a:avLst>
              <a:gd name="adj" fmla="val 16667"/>
            </a:avLst>
          </a:prstGeom>
          <a:solidFill>
            <a:srgbClr val="E3EBF0">
              <a:alpha val="18000"/>
            </a:srgbClr>
          </a:solidFill>
          <a:ln w="9525">
            <a:solidFill>
              <a:srgbClr val="E3EBF0"/>
            </a:solidFill>
            <a:prstDash val="solid"/>
          </a:ln>
        </p:spPr>
      </p:sp>
      <p:sp>
        <p:nvSpPr>
          <p:cNvPr id="56" name="Text 47"/>
          <p:cNvSpPr txBox="1"/>
          <p:nvPr/>
        </p:nvSpPr>
        <p:spPr>
          <a:xfrm>
            <a:off x="4274820" y="5120640"/>
            <a:ext cx="1078992" cy="274320"/>
          </a:xfrm>
          <a:prstGeom prst="rect">
            <a:avLst/>
          </a:prstGeom>
          <a:noFill/>
          <a:ln/>
        </p:spPr>
        <p:txBody>
          <a:bodyPr wrap="square" lIns="0" tIns="0" rIns="0" bIns="0" rtlCol="0" anchor="ctr"/>
          <a:lstStyle/>
          <a:p>
            <a:pPr algn="ctr" indent="0" marL="0">
              <a:buNone/>
            </a:pPr>
            <a:r>
              <a:rPr lang="en-US" sz="1000" dirty="0">
                <a:solidFill>
                  <a:srgbClr val="E3EBF0"/>
                </a:solidFill>
                <a:latin typeface="Consolas" pitchFamily="34" charset="0"/>
                <a:ea typeface="Consolas" pitchFamily="34" charset="-122"/>
                <a:cs typeface="Consolas" pitchFamily="34" charset="-120"/>
              </a:rPr>
              <a:t>React + ReUI</a:t>
            </a:r>
            <a:endParaRPr lang="en-US" sz="1000" dirty="0"/>
          </a:p>
        </p:txBody>
      </p:sp>
      <p:sp>
        <p:nvSpPr>
          <p:cNvPr id="57" name="Shape 48"/>
          <p:cNvSpPr/>
          <p:nvPr/>
        </p:nvSpPr>
        <p:spPr>
          <a:xfrm>
            <a:off x="5536692" y="5120640"/>
            <a:ext cx="1545336" cy="274320"/>
          </a:xfrm>
          <a:prstGeom prst="roundRect">
            <a:avLst>
              <a:gd name="adj" fmla="val 16667"/>
            </a:avLst>
          </a:prstGeom>
          <a:solidFill>
            <a:srgbClr val="6FCF97">
              <a:alpha val="18000"/>
            </a:srgbClr>
          </a:solidFill>
          <a:ln w="9525">
            <a:solidFill>
              <a:srgbClr val="6FCF97"/>
            </a:solidFill>
            <a:prstDash val="solid"/>
          </a:ln>
        </p:spPr>
      </p:sp>
      <p:sp>
        <p:nvSpPr>
          <p:cNvPr id="58" name="Text 49"/>
          <p:cNvSpPr txBox="1"/>
          <p:nvPr/>
        </p:nvSpPr>
        <p:spPr>
          <a:xfrm>
            <a:off x="5536692" y="5120640"/>
            <a:ext cx="1545336" cy="274320"/>
          </a:xfrm>
          <a:prstGeom prst="rect">
            <a:avLst/>
          </a:prstGeom>
          <a:noFill/>
          <a:ln/>
        </p:spPr>
        <p:txBody>
          <a:bodyPr wrap="square" lIns="0" tIns="0" rIns="0" bIns="0" rtlCol="0" anchor="ctr"/>
          <a:lstStyle/>
          <a:p>
            <a:pPr algn="ctr" indent="0" marL="0">
              <a:buNone/>
            </a:pPr>
            <a:r>
              <a:rPr lang="en-US" sz="1000" dirty="0">
                <a:solidFill>
                  <a:srgbClr val="6FCF97"/>
                </a:solidFill>
                <a:latin typeface="Consolas" pitchFamily="34" charset="0"/>
                <a:ea typeface="Consolas" pitchFamily="34" charset="-122"/>
                <a:cs typeface="Consolas" pitchFamily="34" charset="-120"/>
              </a:rPr>
              <a:t>14 automated tests</a:t>
            </a:r>
            <a:endParaRPr lang="en-US" sz="1000" dirty="0"/>
          </a:p>
        </p:txBody>
      </p:sp>
      <p:sp>
        <p:nvSpPr>
          <p:cNvPr id="59" name="Text 50"/>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400" i="1" dirty="0">
                <a:solidFill>
                  <a:srgbClr val="94A6B3"/>
                </a:solidFill>
                <a:latin typeface="Calibri" pitchFamily="34" charset="0"/>
                <a:ea typeface="Calibri" pitchFamily="34" charset="-122"/>
                <a:cs typeface="Calibri" pitchFamily="34" charset="-120"/>
              </a:rPr>
              <a:t>Every stage keeps the IDs of the records it used, so any result can be traced back to the original evidence.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spc="300" kern="0" dirty="0">
                <a:solidFill>
                  <a:srgbClr val="5CC0DD"/>
                </a:solidFill>
                <a:latin typeface="Consolas" pitchFamily="34" charset="0"/>
                <a:ea typeface="Consolas" pitchFamily="34" charset="-122"/>
                <a:cs typeface="Consolas" pitchFamily="34" charset="-120"/>
              </a:rPr>
              <a:t>06 · FOUR QUESTIONS, NOT ONE VERDICT</a:t>
            </a:r>
            <a:endParaRPr lang="en-US" sz="1100" dirty="0"/>
          </a:p>
        </p:txBody>
      </p:sp>
      <p:sp>
        <p:nvSpPr>
          <p:cNvPr id="3" name="Text 1"/>
          <p:cNvSpPr/>
          <p:nvPr>
            <p:ph idx="101" type="title" hasCustomPrompt="1"/>
          </p:nvPr>
        </p:nvSpPr>
        <p:spPr>
          <a:xfrm>
            <a:off x="548640" y="749808"/>
            <a:ext cx="11094415" cy="777240"/>
          </a:xfrm>
          <a:prstGeom prst="rect">
            <a:avLst/>
          </a:prstGeom>
          <a:noFill/>
          <a:ln/>
        </p:spPr>
        <p:txBody>
          <a:bodyPr wrap="square" lIns="0" tIns="0" rIns="0" bIns="0" rtlCol="0" anchor="t"/>
          <a:lstStyle/>
          <a:p>
            <a:pPr algn="l" indent="0" marL="0">
              <a:buNone/>
            </a:pPr>
            <a:r>
              <a:rPr lang="en-US" sz="3000" b="1" dirty="0">
                <a:solidFill>
                  <a:srgbClr val="E3EBF0"/>
                </a:solidFill>
                <a:latin typeface="Cambria" pitchFamily="34" charset="0"/>
                <a:ea typeface="Cambria" pitchFamily="34" charset="-122"/>
                <a:cs typeface="Cambria" pitchFamily="34" charset="-120"/>
              </a:rPr>
              <a:t>Each answer comes with its evidence and its limit</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731520"/>
                <a:gridCol w="3108960"/>
                <a:gridCol w="4114800"/>
                <a:gridCol w="3136392"/>
              </a:tblGrid>
              <a:tr h="411480">
                <a:tc>
                  <a:txBody>
                    <a:bodyPr/>
                    <a:lstStyle/>
                    <a:p>
                      <a:pPr indent="0" marL="0">
                        <a:buNone/>
                      </a:pPr>
                      <a:endParaRPr lang="en-US" sz="12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0E161D"/>
                    </a:solidFill>
                  </a:tcPr>
                </a:tc>
                <a:tc>
                  <a:txBody>
                    <a:bodyPr/>
                    <a:lstStyle/>
                    <a:p>
                      <a:pPr indent="0" marL="0">
                        <a:buNone/>
                      </a:pPr>
                      <a:r>
                        <a:rPr lang="en-US" sz="1200" b="1" dirty="0">
                          <a:solidFill>
                            <a:srgbClr val="94A6B3"/>
                          </a:solidFill>
                          <a:latin typeface="Consolas" pitchFamily="34" charset="0"/>
                          <a:ea typeface="Consolas" pitchFamily="34" charset="-122"/>
                          <a:cs typeface="Consolas" pitchFamily="34" charset="-120"/>
                        </a:rPr>
                        <a:t>Question</a:t>
                      </a:r>
                      <a:endParaRPr lang="en-US" sz="12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0E161D"/>
                    </a:solidFill>
                  </a:tcPr>
                </a:tc>
                <a:tc>
                  <a:txBody>
                    <a:bodyPr/>
                    <a:lstStyle/>
                    <a:p>
                      <a:pPr indent="0" marL="0">
                        <a:buNone/>
                      </a:pPr>
                      <a:r>
                        <a:rPr lang="en-US" sz="1200" b="1" dirty="0">
                          <a:solidFill>
                            <a:srgbClr val="94A6B3"/>
                          </a:solidFill>
                          <a:latin typeface="Consolas" pitchFamily="34" charset="0"/>
                          <a:ea typeface="Consolas" pitchFamily="34" charset="-122"/>
                          <a:cs typeface="Consolas" pitchFamily="34" charset="-120"/>
                        </a:rPr>
                        <a:t>Evidence required</a:t>
                      </a:r>
                      <a:endParaRPr lang="en-US" sz="12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0E161D"/>
                    </a:solidFill>
                  </a:tcPr>
                </a:tc>
                <a:tc>
                  <a:txBody>
                    <a:bodyPr/>
                    <a:lstStyle/>
                    <a:p>
                      <a:pPr indent="0" marL="0">
                        <a:buNone/>
                      </a:pPr>
                      <a:r>
                        <a:rPr lang="en-US" sz="1200" b="1" dirty="0">
                          <a:solidFill>
                            <a:srgbClr val="94A6B3"/>
                          </a:solidFill>
                          <a:latin typeface="Consolas" pitchFamily="34" charset="0"/>
                          <a:ea typeface="Consolas" pitchFamily="34" charset="-122"/>
                          <a:cs typeface="Consolas" pitchFamily="34" charset="-120"/>
                        </a:rPr>
                        <a:t>Limit stated</a:t>
                      </a:r>
                      <a:endParaRPr lang="en-US" sz="12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0E161D"/>
                    </a:solidFill>
                  </a:tcPr>
                </a:tc>
              </a:tr>
              <a:tr h="868680">
                <a:tc>
                  <a:txBody>
                    <a:bodyPr/>
                    <a:lstStyle/>
                    <a:p>
                      <a:pPr indent="0" marL="0">
                        <a:buNone/>
                      </a:pPr>
                      <a:r>
                        <a:rPr lang="en-US" sz="1800" b="1" dirty="0">
                          <a:solidFill>
                            <a:srgbClr val="5CC0DD"/>
                          </a:solidFill>
                          <a:latin typeface="Consolas" pitchFamily="34" charset="0"/>
                          <a:ea typeface="Consolas" pitchFamily="34" charset="-122"/>
                          <a:cs typeface="Consolas" pitchFamily="34" charset="-120"/>
                        </a:rPr>
                        <a:t>H1</a:t>
                      </a:r>
                      <a:endParaRPr lang="en-US" sz="18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500" b="1" dirty="0">
                          <a:solidFill>
                            <a:srgbClr val="E3EBF0"/>
                          </a:solidFill>
                          <a:latin typeface="Calibri" pitchFamily="34" charset="0"/>
                          <a:ea typeface="Calibri" pitchFamily="34" charset="-122"/>
                          <a:cs typeface="Calibri" pitchFamily="34" charset="-120"/>
                        </a:rPr>
                        <a:t>Was a USB drive used?</a:t>
                      </a:r>
                      <a:endParaRPr lang="en-US" sz="15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dirty="0">
                          <a:solidFill>
                            <a:srgbClr val="E3EBF0"/>
                          </a:solidFill>
                          <a:latin typeface="Calibri" pitchFamily="34" charset="0"/>
                          <a:ea typeface="Calibri" pitchFamily="34" charset="-122"/>
                          <a:cs typeface="Calibri" pitchFamily="34" charset="-120"/>
                        </a:rPr>
                        <a:t>A USB connection record</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i="1" dirty="0">
                          <a:solidFill>
                            <a:srgbClr val="F0C04A"/>
                          </a:solidFill>
                          <a:latin typeface="Calibri" pitchFamily="34" charset="0"/>
                          <a:ea typeface="Calibri" pitchFamily="34" charset="-122"/>
                          <a:cs typeface="Calibri" pitchFamily="34" charset="-120"/>
                        </a:rPr>
                        <a:t>Normal users plug in USB drives too</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r>
              <a:tr h="868680">
                <a:tc>
                  <a:txBody>
                    <a:bodyPr/>
                    <a:lstStyle/>
                    <a:p>
                      <a:pPr indent="0" marL="0">
                        <a:buNone/>
                      </a:pPr>
                      <a:r>
                        <a:rPr lang="en-US" sz="1800" b="1" dirty="0">
                          <a:solidFill>
                            <a:srgbClr val="5CC0DD"/>
                          </a:solidFill>
                          <a:latin typeface="Consolas" pitchFamily="34" charset="0"/>
                          <a:ea typeface="Consolas" pitchFamily="34" charset="-122"/>
                          <a:cs typeface="Consolas" pitchFamily="34" charset="-120"/>
                        </a:rPr>
                        <a:t>H2</a:t>
                      </a:r>
                      <a:endParaRPr lang="en-US" sz="18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500" b="1" dirty="0">
                          <a:solidFill>
                            <a:srgbClr val="E3EBF0"/>
                          </a:solidFill>
                          <a:latin typeface="Calibri" pitchFamily="34" charset="0"/>
                          <a:ea typeface="Calibri" pitchFamily="34" charset="-122"/>
                          <a:cs typeface="Calibri" pitchFamily="34" charset="-120"/>
                        </a:rPr>
                        <a:t>Were the sensitive files opened?</a:t>
                      </a:r>
                      <a:endParaRPr lang="en-US" sz="15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dirty="0">
                          <a:solidFill>
                            <a:srgbClr val="E3EBF0"/>
                          </a:solidFill>
                          <a:latin typeface="Calibri" pitchFamily="34" charset="0"/>
                          <a:ea typeface="Calibri" pitchFamily="34" charset="-122"/>
                          <a:cs typeface="Calibri" pitchFamily="34" charset="-120"/>
                        </a:rPr>
                        <a:t>Shortcuts or recent-document records for listed files</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i="1" dirty="0">
                          <a:solidFill>
                            <a:srgbClr val="F0C04A"/>
                          </a:solidFill>
                          <a:latin typeface="Calibri" pitchFamily="34" charset="0"/>
                          <a:ea typeface="Calibri" pitchFamily="34" charset="-122"/>
                          <a:cs typeface="Calibri" pitchFamily="34" charset="-120"/>
                        </a:rPr>
                        <a:t>Opening is not copying</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r>
              <a:tr h="868680">
                <a:tc>
                  <a:txBody>
                    <a:bodyPr/>
                    <a:lstStyle/>
                    <a:p>
                      <a:pPr indent="0" marL="0">
                        <a:buNone/>
                      </a:pPr>
                      <a:r>
                        <a:rPr lang="en-US" sz="1800" b="1" dirty="0">
                          <a:solidFill>
                            <a:srgbClr val="5CC0DD"/>
                          </a:solidFill>
                          <a:latin typeface="Consolas" pitchFamily="34" charset="0"/>
                          <a:ea typeface="Consolas" pitchFamily="34" charset="-122"/>
                          <a:cs typeface="Consolas" pitchFamily="34" charset="-120"/>
                        </a:rPr>
                        <a:t>H3</a:t>
                      </a:r>
                      <a:endParaRPr lang="en-US" sz="18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500" b="1" dirty="0">
                          <a:solidFill>
                            <a:srgbClr val="E3EBF0"/>
                          </a:solidFill>
                          <a:latin typeface="Calibri" pitchFamily="34" charset="0"/>
                          <a:ea typeface="Calibri" pitchFamily="34" charset="-122"/>
                          <a:cs typeface="Calibri" pitchFamily="34" charset="-120"/>
                        </a:rPr>
                        <a:t>Were they copied to the USB?</a:t>
                      </a:r>
                      <a:endParaRPr lang="en-US" sz="15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dirty="0">
                          <a:solidFill>
                            <a:srgbClr val="E3EBF0"/>
                          </a:solidFill>
                          <a:latin typeface="Calibri" pitchFamily="34" charset="0"/>
                          <a:ea typeface="Calibri" pitchFamily="34" charset="-122"/>
                          <a:cs typeface="Calibri" pitchFamily="34" charset="-120"/>
                        </a:rPr>
                        <a:t>Sensitive file on the USB inside the connection window, plus a user session</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i="1" dirty="0">
                          <a:solidFill>
                            <a:srgbClr val="F0C04A"/>
                          </a:solidFill>
                          <a:latin typeface="Calibri" pitchFamily="34" charset="0"/>
                          <a:ea typeface="Calibri" pitchFamily="34" charset="-122"/>
                          <a:cs typeface="Calibri" pitchFamily="34" charset="-120"/>
                        </a:rPr>
                        <a:t>Shows timing and links, not intent</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r>
              <a:tr h="868680">
                <a:tc>
                  <a:txBody>
                    <a:bodyPr/>
                    <a:lstStyle/>
                    <a:p>
                      <a:pPr indent="0" marL="0">
                        <a:buNone/>
                      </a:pPr>
                      <a:r>
                        <a:rPr lang="en-US" sz="1800" b="1" dirty="0">
                          <a:solidFill>
                            <a:srgbClr val="5CC0DD"/>
                          </a:solidFill>
                          <a:latin typeface="Consolas" pitchFamily="34" charset="0"/>
                          <a:ea typeface="Consolas" pitchFamily="34" charset="-122"/>
                          <a:cs typeface="Consolas" pitchFamily="34" charset="-120"/>
                        </a:rPr>
                        <a:t>H4</a:t>
                      </a:r>
                      <a:endParaRPr lang="en-US" sz="18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500" b="1" dirty="0">
                          <a:solidFill>
                            <a:srgbClr val="E3EBF0"/>
                          </a:solidFill>
                          <a:latin typeface="Calibri" pitchFamily="34" charset="0"/>
                          <a:ea typeface="Calibri" pitchFamily="34" charset="-122"/>
                          <a:cs typeface="Calibri" pitchFamily="34" charset="-120"/>
                        </a:rPr>
                        <a:t>Was anything hidden?</a:t>
                      </a:r>
                      <a:endParaRPr lang="en-US" sz="15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dirty="0">
                          <a:solidFill>
                            <a:srgbClr val="E3EBF0"/>
                          </a:solidFill>
                          <a:latin typeface="Calibri" pitchFamily="34" charset="0"/>
                          <a:ea typeface="Calibri" pitchFamily="34" charset="-122"/>
                          <a:cs typeface="Calibri" pitchFamily="34" charset="-120"/>
                        </a:rPr>
                        <a:t>Archive or deletion records</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i="1" dirty="0">
                          <a:solidFill>
                            <a:srgbClr val="F0C04A"/>
                          </a:solidFill>
                          <a:latin typeface="Calibri" pitchFamily="34" charset="0"/>
                          <a:ea typeface="Calibri" pitchFamily="34" charset="-122"/>
                          <a:cs typeface="Calibri" pitchFamily="34" charset="-120"/>
                        </a:rPr>
                        <a:t>Zipping and deleting can be innocent</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r>
            </a:tbl>
          </a:graphicData>
        </a:graphic>
      </p:graphicFrame>
      <p:sp>
        <p:nvSpPr>
          <p:cNvPr id="5" name="Text 2"/>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300" i="1" dirty="0">
                <a:solidFill>
                  <a:srgbClr val="94A6B3"/>
                </a:solidFill>
                <a:latin typeface="Calibri" pitchFamily="34" charset="0"/>
                <a:ea typeface="Calibri" pitchFamily="34" charset="-122"/>
                <a:cs typeface="Calibri" pitchFamily="34" charset="-120"/>
              </a:rPr>
              <a:t>Confidence is Low, Medium or High: project-defined labels, not probabilities. The experimental score is a ranking aid, not a forensic standard.</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spc="300" kern="0" dirty="0">
                <a:solidFill>
                  <a:srgbClr val="5CC0DD"/>
                </a:solidFill>
                <a:latin typeface="Consolas" pitchFamily="34" charset="0"/>
                <a:ea typeface="Consolas" pitchFamily="34" charset="-122"/>
                <a:cs typeface="Consolas" pitchFamily="34" charset="-120"/>
              </a:rPr>
              <a:t>07 · FORENSIC SOUNDNESS</a:t>
            </a:r>
            <a:endParaRPr lang="en-US" sz="1100" dirty="0"/>
          </a:p>
        </p:txBody>
      </p:sp>
      <p:sp>
        <p:nvSpPr>
          <p:cNvPr id="3" name="Text 1"/>
          <p:cNvSpPr/>
          <p:nvPr>
            <p:ph idx="101" type="title" hasCustomPrompt="1"/>
          </p:nvPr>
        </p:nvSpPr>
        <p:spPr>
          <a:xfrm>
            <a:off x="548640" y="749808"/>
            <a:ext cx="11094415" cy="777240"/>
          </a:xfrm>
          <a:prstGeom prst="rect">
            <a:avLst/>
          </a:prstGeom>
          <a:noFill/>
          <a:ln/>
        </p:spPr>
        <p:txBody>
          <a:bodyPr wrap="square" lIns="0" tIns="0" rIns="0" bIns="0" rtlCol="0" anchor="t"/>
          <a:lstStyle/>
          <a:p>
            <a:pPr algn="l" indent="0" marL="0">
              <a:buNone/>
            </a:pPr>
            <a:r>
              <a:rPr lang="en-US" sz="3000" b="1" dirty="0">
                <a:solidFill>
                  <a:srgbClr val="E3EBF0"/>
                </a:solidFill>
                <a:latin typeface="Cambria" pitchFamily="34" charset="0"/>
                <a:ea typeface="Cambria" pitchFamily="34" charset="-122"/>
                <a:cs typeface="Cambria" pitchFamily="34" charset="-120"/>
              </a:rPr>
              <a:t>Evidence is preserved, fingerprinted and traceable</a:t>
            </a:r>
            <a:endParaRPr lang="en-US" sz="3000" dirty="0"/>
          </a:p>
        </p:txBody>
      </p:sp>
      <p:sp>
        <p:nvSpPr>
          <p:cNvPr id="4" name="Shape 2"/>
          <p:cNvSpPr/>
          <p:nvPr/>
        </p:nvSpPr>
        <p:spPr>
          <a:xfrm>
            <a:off x="548640" y="1828800"/>
            <a:ext cx="566928" cy="566928"/>
          </a:xfrm>
          <a:prstGeom prst="ellipse">
            <a:avLst/>
          </a:prstGeom>
          <a:solidFill>
            <a:srgbClr val="1C2A35"/>
          </a:solidFill>
          <a:ln w="9525">
            <a:solidFill>
              <a:srgbClr val="2A3A46"/>
            </a:solidFill>
            <a:prstDash val="solid"/>
          </a:ln>
        </p:spPr>
      </p:sp>
      <p:pic>
        <p:nvPicPr>
          <p:cNvPr id="5" name="Image 0" descr="preencoded.png">    </p:cNvPr>
          <p:cNvPicPr>
            <a:picLocks noChangeAspect="1"/>
          </p:cNvPicPr>
          <p:nvPr/>
        </p:nvPicPr>
        <p:blipFill>
          <a:blip r:embed="rId1"/>
          <a:stretch>
            <a:fillRect/>
          </a:stretch>
        </p:blipFill>
        <p:spPr>
          <a:xfrm>
            <a:off x="673364" y="1953524"/>
            <a:ext cx="317480" cy="317480"/>
          </a:xfrm>
          <a:prstGeom prst="rect">
            <a:avLst/>
          </a:prstGeom>
        </p:spPr>
      </p:pic>
      <p:sp>
        <p:nvSpPr>
          <p:cNvPr id="6" name="Text 3"/>
          <p:cNvSpPr txBox="1"/>
          <p:nvPr/>
        </p:nvSpPr>
        <p:spPr>
          <a:xfrm>
            <a:off x="1325880" y="1810512"/>
            <a:ext cx="4572000" cy="347472"/>
          </a:xfrm>
          <a:prstGeom prst="rect">
            <a:avLst/>
          </a:prstGeom>
          <a:noFill/>
          <a:ln/>
        </p:spPr>
        <p:txBody>
          <a:bodyPr wrap="square" lIns="0" tIns="0" rIns="0" bIns="0" rtlCol="0" anchor="t"/>
          <a:lstStyle/>
          <a:p>
            <a:pPr indent="0" marL="0">
              <a:buNone/>
            </a:pPr>
            <a:r>
              <a:rPr lang="en-US" sz="1700" b="1" dirty="0">
                <a:solidFill>
                  <a:srgbClr val="E3EBF0"/>
                </a:solidFill>
                <a:latin typeface="Calibri" pitchFamily="34" charset="0"/>
                <a:ea typeface="Calibri" pitchFamily="34" charset="-122"/>
                <a:cs typeface="Calibri" pitchFamily="34" charset="-120"/>
              </a:rPr>
              <a:t>Read-only collection</a:t>
            </a:r>
            <a:endParaRPr lang="en-US" sz="1700" dirty="0"/>
          </a:p>
        </p:txBody>
      </p:sp>
      <p:sp>
        <p:nvSpPr>
          <p:cNvPr id="7" name="Text 4"/>
          <p:cNvSpPr txBox="1"/>
          <p:nvPr/>
        </p:nvSpPr>
        <p:spPr>
          <a:xfrm>
            <a:off x="1325880" y="2176272"/>
            <a:ext cx="4572000" cy="566928"/>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The collector never edits the system it examines.</a:t>
            </a:r>
            <a:endParaRPr lang="en-US" sz="1300" dirty="0"/>
          </a:p>
        </p:txBody>
      </p:sp>
      <p:sp>
        <p:nvSpPr>
          <p:cNvPr id="8" name="Shape 5"/>
          <p:cNvSpPr/>
          <p:nvPr/>
        </p:nvSpPr>
        <p:spPr>
          <a:xfrm>
            <a:off x="548640" y="2852928"/>
            <a:ext cx="566928" cy="566928"/>
          </a:xfrm>
          <a:prstGeom prst="ellipse">
            <a:avLst/>
          </a:prstGeom>
          <a:solidFill>
            <a:srgbClr val="1C2A35"/>
          </a:solidFill>
          <a:ln w="9525">
            <a:solidFill>
              <a:srgbClr val="2A3A46"/>
            </a:solidFill>
            <a:prstDash val="solid"/>
          </a:ln>
        </p:spPr>
      </p:sp>
      <p:pic>
        <p:nvPicPr>
          <p:cNvPr id="9" name="Image 1" descr="preencoded.png">    </p:cNvPr>
          <p:cNvPicPr>
            <a:picLocks noChangeAspect="1"/>
          </p:cNvPicPr>
          <p:nvPr/>
        </p:nvPicPr>
        <p:blipFill>
          <a:blip r:embed="rId2"/>
          <a:stretch>
            <a:fillRect/>
          </a:stretch>
        </p:blipFill>
        <p:spPr>
          <a:xfrm>
            <a:off x="673364" y="2977652"/>
            <a:ext cx="317480" cy="317480"/>
          </a:xfrm>
          <a:prstGeom prst="rect">
            <a:avLst/>
          </a:prstGeom>
        </p:spPr>
      </p:pic>
      <p:sp>
        <p:nvSpPr>
          <p:cNvPr id="10" name="Text 6"/>
          <p:cNvSpPr txBox="1"/>
          <p:nvPr/>
        </p:nvSpPr>
        <p:spPr>
          <a:xfrm>
            <a:off x="1325880" y="2834640"/>
            <a:ext cx="4572000" cy="347472"/>
          </a:xfrm>
          <a:prstGeom prst="rect">
            <a:avLst/>
          </a:prstGeom>
          <a:noFill/>
          <a:ln/>
        </p:spPr>
        <p:txBody>
          <a:bodyPr wrap="square" lIns="0" tIns="0" rIns="0" bIns="0" rtlCol="0" anchor="t"/>
          <a:lstStyle/>
          <a:p>
            <a:pPr indent="0" marL="0">
              <a:buNone/>
            </a:pPr>
            <a:r>
              <a:rPr lang="en-US" sz="1700" b="1" dirty="0">
                <a:solidFill>
                  <a:srgbClr val="E3EBF0"/>
                </a:solidFill>
                <a:latin typeface="Calibri" pitchFamily="34" charset="0"/>
                <a:ea typeface="Calibri" pitchFamily="34" charset="-122"/>
                <a:cs typeface="Calibri" pitchFamily="34" charset="-120"/>
              </a:rPr>
              <a:t>SHA-256 fingerprint</a:t>
            </a:r>
            <a:endParaRPr lang="en-US" sz="1700" dirty="0"/>
          </a:p>
        </p:txBody>
      </p:sp>
      <p:sp>
        <p:nvSpPr>
          <p:cNvPr id="11" name="Text 7"/>
          <p:cNvSpPr txBox="1"/>
          <p:nvPr/>
        </p:nvSpPr>
        <p:spPr>
          <a:xfrm>
            <a:off x="1325880" y="3200400"/>
            <a:ext cx="4572000" cy="566928"/>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CA60D5A4ED47…7B9C41 sealed the real Experiment B export. Any later change would show.</a:t>
            </a:r>
            <a:endParaRPr lang="en-US" sz="1300" dirty="0"/>
          </a:p>
        </p:txBody>
      </p:sp>
      <p:sp>
        <p:nvSpPr>
          <p:cNvPr id="12" name="Shape 8"/>
          <p:cNvSpPr/>
          <p:nvPr/>
        </p:nvSpPr>
        <p:spPr>
          <a:xfrm>
            <a:off x="548640" y="3877056"/>
            <a:ext cx="566928" cy="566928"/>
          </a:xfrm>
          <a:prstGeom prst="ellipse">
            <a:avLst/>
          </a:prstGeom>
          <a:solidFill>
            <a:srgbClr val="1C2A35"/>
          </a:solidFill>
          <a:ln w="9525">
            <a:solidFill>
              <a:srgbClr val="2A3A46"/>
            </a:solidFill>
            <a:prstDash val="solid"/>
          </a:ln>
        </p:spPr>
      </p:sp>
      <p:pic>
        <p:nvPicPr>
          <p:cNvPr id="13" name="Image 2" descr="preencoded.png">    </p:cNvPr>
          <p:cNvPicPr>
            <a:picLocks noChangeAspect="1"/>
          </p:cNvPicPr>
          <p:nvPr/>
        </p:nvPicPr>
        <p:blipFill>
          <a:blip r:embed="rId3"/>
          <a:stretch>
            <a:fillRect/>
          </a:stretch>
        </p:blipFill>
        <p:spPr>
          <a:xfrm>
            <a:off x="673364" y="4001780"/>
            <a:ext cx="317480" cy="317480"/>
          </a:xfrm>
          <a:prstGeom prst="rect">
            <a:avLst/>
          </a:prstGeom>
        </p:spPr>
      </p:pic>
      <p:sp>
        <p:nvSpPr>
          <p:cNvPr id="14" name="Text 9"/>
          <p:cNvSpPr txBox="1"/>
          <p:nvPr/>
        </p:nvSpPr>
        <p:spPr>
          <a:xfrm>
            <a:off x="1325880" y="3858768"/>
            <a:ext cx="4572000" cy="347472"/>
          </a:xfrm>
          <a:prstGeom prst="rect">
            <a:avLst/>
          </a:prstGeom>
          <a:noFill/>
          <a:ln/>
        </p:spPr>
        <p:txBody>
          <a:bodyPr wrap="square" lIns="0" tIns="0" rIns="0" bIns="0" rtlCol="0" anchor="t"/>
          <a:lstStyle/>
          <a:p>
            <a:pPr indent="0" marL="0">
              <a:buNone/>
            </a:pPr>
            <a:r>
              <a:rPr lang="en-US" sz="1700" b="1" dirty="0">
                <a:solidFill>
                  <a:srgbClr val="E3EBF0"/>
                </a:solidFill>
                <a:latin typeface="Calibri" pitchFamily="34" charset="0"/>
                <a:ea typeface="Calibri" pitchFamily="34" charset="-122"/>
                <a:cs typeface="Calibri" pitchFamily="34" charset="-120"/>
              </a:rPr>
              <a:t>Raw record preserved</a:t>
            </a:r>
            <a:endParaRPr lang="en-US" sz="1700" dirty="0"/>
          </a:p>
        </p:txBody>
      </p:sp>
      <p:sp>
        <p:nvSpPr>
          <p:cNvPr id="15" name="Text 10"/>
          <p:cNvSpPr txBox="1"/>
          <p:nvPr/>
        </p:nvSpPr>
        <p:spPr>
          <a:xfrm>
            <a:off x="1325880" y="4224528"/>
            <a:ext cx="4572000" cy="566928"/>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The untouched source record sits next to the normalized one.</a:t>
            </a:r>
            <a:endParaRPr lang="en-US" sz="1300" dirty="0"/>
          </a:p>
        </p:txBody>
      </p:sp>
      <p:sp>
        <p:nvSpPr>
          <p:cNvPr id="16" name="Shape 11"/>
          <p:cNvSpPr/>
          <p:nvPr/>
        </p:nvSpPr>
        <p:spPr>
          <a:xfrm>
            <a:off x="548640" y="4901184"/>
            <a:ext cx="566928" cy="566928"/>
          </a:xfrm>
          <a:prstGeom prst="ellipse">
            <a:avLst/>
          </a:prstGeom>
          <a:solidFill>
            <a:srgbClr val="1C2A35"/>
          </a:solidFill>
          <a:ln w="9525">
            <a:solidFill>
              <a:srgbClr val="2A3A46"/>
            </a:solidFill>
            <a:prstDash val="solid"/>
          </a:ln>
        </p:spPr>
      </p:sp>
      <p:pic>
        <p:nvPicPr>
          <p:cNvPr id="17" name="Image 3" descr="preencoded.png">    </p:cNvPr>
          <p:cNvPicPr>
            <a:picLocks noChangeAspect="1"/>
          </p:cNvPicPr>
          <p:nvPr/>
        </p:nvPicPr>
        <p:blipFill>
          <a:blip r:embed="rId4"/>
          <a:stretch>
            <a:fillRect/>
          </a:stretch>
        </p:blipFill>
        <p:spPr>
          <a:xfrm>
            <a:off x="673364" y="5025908"/>
            <a:ext cx="317480" cy="317480"/>
          </a:xfrm>
          <a:prstGeom prst="rect">
            <a:avLst/>
          </a:prstGeom>
        </p:spPr>
      </p:pic>
      <p:sp>
        <p:nvSpPr>
          <p:cNvPr id="18" name="Text 12"/>
          <p:cNvSpPr txBox="1"/>
          <p:nvPr/>
        </p:nvSpPr>
        <p:spPr>
          <a:xfrm>
            <a:off x="1325880" y="4882896"/>
            <a:ext cx="4572000" cy="347472"/>
          </a:xfrm>
          <a:prstGeom prst="rect">
            <a:avLst/>
          </a:prstGeom>
          <a:noFill/>
          <a:ln/>
        </p:spPr>
        <p:txBody>
          <a:bodyPr wrap="square" lIns="0" tIns="0" rIns="0" bIns="0" rtlCol="0" anchor="t"/>
          <a:lstStyle/>
          <a:p>
            <a:pPr indent="0" marL="0">
              <a:buNone/>
            </a:pPr>
            <a:r>
              <a:rPr lang="en-US" sz="1700" b="1" dirty="0">
                <a:solidFill>
                  <a:srgbClr val="E3EBF0"/>
                </a:solidFill>
                <a:latin typeface="Calibri" pitchFamily="34" charset="0"/>
                <a:ea typeface="Calibri" pitchFamily="34" charset="-122"/>
                <a:cs typeface="Calibri" pitchFamily="34" charset="-120"/>
              </a:rPr>
              <a:t>Custody and audit log</a:t>
            </a:r>
            <a:endParaRPr lang="en-US" sz="1700" dirty="0"/>
          </a:p>
        </p:txBody>
      </p:sp>
      <p:sp>
        <p:nvSpPr>
          <p:cNvPr id="19" name="Text 13"/>
          <p:cNvSpPr txBox="1"/>
          <p:nvPr/>
        </p:nvSpPr>
        <p:spPr>
          <a:xfrm>
            <a:off x="1325880" y="5248656"/>
            <a:ext cx="4572000" cy="566928"/>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Who handled the evidence, when, and every analysis run.</a:t>
            </a:r>
            <a:endParaRPr lang="en-US" sz="1300" dirty="0"/>
          </a:p>
        </p:txBody>
      </p:sp>
      <p:sp>
        <p:nvSpPr>
          <p:cNvPr id="20" name="Shape 14"/>
          <p:cNvSpPr/>
          <p:nvPr/>
        </p:nvSpPr>
        <p:spPr>
          <a:xfrm>
            <a:off x="6254496" y="1728216"/>
            <a:ext cx="5440680" cy="3438144"/>
          </a:xfrm>
          <a:prstGeom prst="roundRect">
            <a:avLst>
              <a:gd name="adj" fmla="val 2128"/>
            </a:avLst>
          </a:prstGeom>
          <a:solidFill>
            <a:srgbClr val="1C2A35"/>
          </a:solidFill>
          <a:ln w="9525">
            <a:solidFill>
              <a:srgbClr val="2A3A46"/>
            </a:solidFill>
            <a:prstDash val="solid"/>
          </a:ln>
          <a:effectLst>
            <a:outerShdw sx="100000" sy="100000" kx="0" ky="0" algn="bl" rotWithShape="0" blurRad="177800" dist="50800" dir="5400000">
              <a:srgbClr val="000000">
                <a:alpha val="45000"/>
              </a:srgbClr>
            </a:outerShdw>
          </a:effectLst>
        </p:spPr>
      </p:sp>
      <p:pic>
        <p:nvPicPr>
          <p:cNvPr id="21" name="Image 4" descr="C:\Users\Gary\AppData\Local\Temp\claude\C--Users-Gary-Desktop-CF-proj\9eb8b016-f6a9-4b13-949a-4dbf52c2bac2\scratchpad\deck\img\drawer.png">    </p:cNvPr>
          <p:cNvPicPr>
            <a:picLocks noChangeAspect="1"/>
          </p:cNvPicPr>
          <p:nvPr/>
        </p:nvPicPr>
        <p:blipFill>
          <a:blip r:embed="rId5"/>
          <a:stretch>
            <a:fillRect/>
          </a:stretch>
        </p:blipFill>
        <p:spPr>
          <a:xfrm>
            <a:off x="6309360" y="1783080"/>
            <a:ext cx="5330952" cy="3328416"/>
          </a:xfrm>
          <a:prstGeom prst="rect">
            <a:avLst/>
          </a:prstGeom>
        </p:spPr>
      </p:pic>
      <p:sp>
        <p:nvSpPr>
          <p:cNvPr id="22" name="Text 15"/>
          <p:cNvSpPr txBox="1"/>
          <p:nvPr/>
        </p:nvSpPr>
        <p:spPr>
          <a:xfrm>
            <a:off x="6309360" y="5303520"/>
            <a:ext cx="5330952" cy="320040"/>
          </a:xfrm>
          <a:prstGeom prst="rect">
            <a:avLst/>
          </a:prstGeom>
          <a:noFill/>
          <a:ln/>
        </p:spPr>
        <p:txBody>
          <a:bodyPr wrap="square" lIns="0" tIns="0" rIns="0" bIns="0" rtlCol="0" anchor="t"/>
          <a:lstStyle/>
          <a:p>
            <a:pPr indent="0" marL="0">
              <a:buNone/>
            </a:pPr>
            <a:r>
              <a:rPr lang="en-US" sz="1200" i="1" dirty="0">
                <a:solidFill>
                  <a:srgbClr val="6B7D89"/>
                </a:solidFill>
                <a:latin typeface="Calibri" pitchFamily="34" charset="0"/>
                <a:ea typeface="Calibri" pitchFamily="34" charset="-122"/>
                <a:cs typeface="Calibri" pitchFamily="34" charset="-120"/>
              </a:rPr>
              <a:t>Dashboard evidence drawer: normalized fields above, raw JSON below</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spc="300" kern="0" dirty="0">
                <a:solidFill>
                  <a:srgbClr val="5CC0DD"/>
                </a:solidFill>
                <a:latin typeface="Consolas" pitchFamily="34" charset="0"/>
                <a:ea typeface="Consolas" pitchFamily="34" charset="-122"/>
                <a:cs typeface="Consolas" pitchFamily="34" charset="-120"/>
              </a:rPr>
              <a:t>08 · LIVE DEMONSTRATION</a:t>
            </a:r>
            <a:endParaRPr lang="en-US" sz="1100" dirty="0"/>
          </a:p>
        </p:txBody>
      </p:sp>
      <p:sp>
        <p:nvSpPr>
          <p:cNvPr id="3" name="Text 1"/>
          <p:cNvSpPr/>
          <p:nvPr>
            <p:ph idx="101" type="title" hasCustomPrompt="1"/>
          </p:nvPr>
        </p:nvSpPr>
        <p:spPr>
          <a:xfrm>
            <a:off x="548640" y="749808"/>
            <a:ext cx="11094415" cy="777240"/>
          </a:xfrm>
          <a:prstGeom prst="rect">
            <a:avLst/>
          </a:prstGeom>
          <a:noFill/>
          <a:ln/>
        </p:spPr>
        <p:txBody>
          <a:bodyPr wrap="square" lIns="0" tIns="0" rIns="0" bIns="0" rtlCol="0" anchor="t"/>
          <a:lstStyle/>
          <a:p>
            <a:pPr algn="l" indent="0" marL="0">
              <a:buNone/>
            </a:pPr>
            <a:r>
              <a:rPr lang="en-US" sz="3000" b="1" dirty="0">
                <a:solidFill>
                  <a:srgbClr val="E3EBF0"/>
                </a:solidFill>
                <a:latin typeface="Cambria" pitchFamily="34" charset="0"/>
                <a:ea typeface="Cambria" pitchFamily="34" charset="-122"/>
                <a:cs typeface="Cambria" pitchFamily="34" charset="-120"/>
              </a:rPr>
              <a:t>One command performs the whole investigation</a:t>
            </a:r>
            <a:endParaRPr lang="en-US" sz="3000" dirty="0"/>
          </a:p>
        </p:txBody>
      </p:sp>
      <p:sp>
        <p:nvSpPr>
          <p:cNvPr id="4" name="Shape 2"/>
          <p:cNvSpPr/>
          <p:nvPr/>
        </p:nvSpPr>
        <p:spPr>
          <a:xfrm>
            <a:off x="548640" y="1783080"/>
            <a:ext cx="4754880" cy="685800"/>
          </a:xfrm>
          <a:prstGeom prst="roundRect">
            <a:avLst>
              <a:gd name="adj" fmla="val 10667"/>
            </a:avLst>
          </a:prstGeom>
          <a:solidFill>
            <a:srgbClr val="1C2A35"/>
          </a:solidFill>
          <a:ln w="9525">
            <a:solidFill>
              <a:srgbClr val="2A3A46"/>
            </a:solidFill>
            <a:prstDash val="solid"/>
          </a:ln>
        </p:spPr>
      </p:sp>
      <p:sp>
        <p:nvSpPr>
          <p:cNvPr id="5" name="Text 3"/>
          <p:cNvSpPr txBox="1"/>
          <p:nvPr/>
        </p:nvSpPr>
        <p:spPr>
          <a:xfrm>
            <a:off x="822960" y="1938528"/>
            <a:ext cx="4206240" cy="365760"/>
          </a:xfrm>
          <a:prstGeom prst="rect">
            <a:avLst/>
          </a:prstGeom>
          <a:noFill/>
          <a:ln/>
        </p:spPr>
        <p:txBody>
          <a:bodyPr wrap="square" lIns="0" tIns="0" rIns="0" bIns="0" rtlCol="0" anchor="t"/>
          <a:lstStyle/>
          <a:p>
            <a:pPr indent="0" marL="0">
              <a:buNone/>
            </a:pPr>
            <a:r>
              <a:rPr lang="en-US" sz="2000" dirty="0">
                <a:solidFill>
                  <a:srgbClr val="6FCF97"/>
                </a:solidFill>
                <a:latin typeface="Consolas" pitchFamily="34" charset="0"/>
                <a:ea typeface="Consolas" pitchFamily="34" charset="-122"/>
                <a:cs typeface="Consolas" pitchFamily="34" charset="-120"/>
              </a:rPr>
              <a:t>PS&gt; .\live_demo.ps1</a:t>
            </a:r>
            <a:endParaRPr lang="en-US" sz="2000" dirty="0"/>
          </a:p>
        </p:txBody>
      </p:sp>
      <p:sp>
        <p:nvSpPr>
          <p:cNvPr id="6" name="Text 4"/>
          <p:cNvSpPr txBox="1"/>
          <p:nvPr/>
        </p:nvSpPr>
        <p:spPr>
          <a:xfrm>
            <a:off x="548640" y="2697480"/>
            <a:ext cx="4754880" cy="731520"/>
          </a:xfrm>
          <a:prstGeom prst="rect">
            <a:avLst/>
          </a:prstGeom>
          <a:noFill/>
          <a:ln/>
        </p:spPr>
        <p:txBody>
          <a:bodyPr wrap="square" lIns="0" tIns="0" rIns="0" bIns="0" rtlCol="0" anchor="t"/>
          <a:lstStyle/>
          <a:p>
            <a:pPr indent="0" marL="0">
              <a:buNone/>
            </a:pPr>
            <a:r>
              <a:rPr lang="en-US" sz="1500" dirty="0">
                <a:solidFill>
                  <a:srgbClr val="94A6B3"/>
                </a:solidFill>
                <a:latin typeface="Calibri" pitchFamily="34" charset="0"/>
                <a:ea typeface="Calibri" pitchFamily="34" charset="-122"/>
                <a:cs typeface="Calibri" pitchFamily="34" charset="-120"/>
              </a:rPr>
              <a:t>Each step prints the exact command and the real code lines it runs, then waits for Enter.</a:t>
            </a:r>
            <a:endParaRPr lang="en-US" sz="1500" dirty="0"/>
          </a:p>
        </p:txBody>
      </p:sp>
      <p:sp>
        <p:nvSpPr>
          <p:cNvPr id="7" name="Text 5"/>
          <p:cNvSpPr txBox="1"/>
          <p:nvPr/>
        </p:nvSpPr>
        <p:spPr>
          <a:xfrm>
            <a:off x="548640" y="3520440"/>
            <a:ext cx="4754880" cy="731520"/>
          </a:xfrm>
          <a:prstGeom prst="rect">
            <a:avLst/>
          </a:prstGeom>
          <a:noFill/>
          <a:ln/>
        </p:spPr>
        <p:txBody>
          <a:bodyPr wrap="square" lIns="0" tIns="0" rIns="0" bIns="0" rtlCol="0" anchor="t"/>
          <a:lstStyle/>
          <a:p>
            <a:pPr indent="0" marL="0">
              <a:buNone/>
            </a:pPr>
            <a:r>
              <a:rPr lang="en-US" sz="1500" dirty="0">
                <a:solidFill>
                  <a:srgbClr val="94A6B3"/>
                </a:solidFill>
                <a:latin typeface="Calibri" pitchFamily="34" charset="0"/>
                <a:ea typeface="Calibri" pitchFamily="34" charset="-122"/>
                <a:cs typeface="Calibri" pitchFamily="34" charset="-120"/>
              </a:rPr>
              <a:t>The USB drive is unplugged and plugged back in before each experiment, so Windows records a genuine connection.</a:t>
            </a:r>
            <a:endParaRPr lang="en-US" sz="1500" dirty="0"/>
          </a:p>
        </p:txBody>
      </p:sp>
      <p:sp>
        <p:nvSpPr>
          <p:cNvPr id="8" name="Text 6"/>
          <p:cNvSpPr txBox="1"/>
          <p:nvPr/>
        </p:nvSpPr>
        <p:spPr>
          <a:xfrm>
            <a:off x="548640" y="4434840"/>
            <a:ext cx="4754880" cy="548640"/>
          </a:xfrm>
          <a:prstGeom prst="rect">
            <a:avLst/>
          </a:prstGeom>
          <a:noFill/>
          <a:ln/>
        </p:spPr>
        <p:txBody>
          <a:bodyPr wrap="square" lIns="0" tIns="0" rIns="0" bIns="0" rtlCol="0" anchor="t"/>
          <a:lstStyle/>
          <a:p>
            <a:pPr indent="0" marL="0">
              <a:buNone/>
            </a:pPr>
            <a:r>
              <a:rPr lang="en-US" sz="1500" i="1" dirty="0">
                <a:solidFill>
                  <a:srgbClr val="E3EBF0"/>
                </a:solidFill>
                <a:latin typeface="Calibri" pitchFamily="34" charset="0"/>
                <a:ea typeface="Calibri" pitchFamily="34" charset="-122"/>
                <a:cs typeface="Calibri" pitchFamily="34" charset="-120"/>
              </a:rPr>
              <a:t>About 5 minutes. Only fictional files. Everything is cleaned up afterwards.</a:t>
            </a:r>
            <a:endParaRPr lang="en-US" sz="1500" dirty="0"/>
          </a:p>
        </p:txBody>
      </p:sp>
      <p:sp>
        <p:nvSpPr>
          <p:cNvPr id="9" name="Shape 7"/>
          <p:cNvSpPr/>
          <p:nvPr/>
        </p:nvSpPr>
        <p:spPr>
          <a:xfrm>
            <a:off x="5989320" y="1783080"/>
            <a:ext cx="402336" cy="402336"/>
          </a:xfrm>
          <a:prstGeom prst="ellipse">
            <a:avLst/>
          </a:prstGeom>
          <a:solidFill>
            <a:srgbClr val="1C2A35"/>
          </a:solidFill>
          <a:ln w="15875">
            <a:solidFill>
              <a:srgbClr val="5CC0DD"/>
            </a:solidFill>
            <a:prstDash val="solid"/>
          </a:ln>
        </p:spPr>
      </p:sp>
      <p:sp>
        <p:nvSpPr>
          <p:cNvPr id="10" name="Text 8"/>
          <p:cNvSpPr txBox="1"/>
          <p:nvPr/>
        </p:nvSpPr>
        <p:spPr>
          <a:xfrm>
            <a:off x="5989320" y="1783080"/>
            <a:ext cx="402336" cy="402336"/>
          </a:xfrm>
          <a:prstGeom prst="rect">
            <a:avLst/>
          </a:prstGeom>
          <a:noFill/>
          <a:ln/>
        </p:spPr>
        <p:txBody>
          <a:bodyPr wrap="square" lIns="0" tIns="0" rIns="0" bIns="0" rtlCol="0" anchor="ctr"/>
          <a:lstStyle/>
          <a:p>
            <a:pPr algn="ctr" indent="0" marL="0">
              <a:buNone/>
            </a:pPr>
            <a:r>
              <a:rPr lang="en-US" sz="1300" dirty="0">
                <a:solidFill>
                  <a:srgbClr val="5CC0DD"/>
                </a:solidFill>
                <a:latin typeface="Consolas" pitchFamily="34" charset="0"/>
                <a:ea typeface="Consolas" pitchFamily="34" charset="-122"/>
                <a:cs typeface="Consolas" pitchFamily="34" charset="-120"/>
              </a:rPr>
              <a:t>1</a:t>
            </a:r>
            <a:endParaRPr lang="en-US" sz="1300" dirty="0"/>
          </a:p>
        </p:txBody>
      </p:sp>
      <p:sp>
        <p:nvSpPr>
          <p:cNvPr id="11" name="Shape 9"/>
          <p:cNvSpPr/>
          <p:nvPr/>
        </p:nvSpPr>
        <p:spPr>
          <a:xfrm>
            <a:off x="6190488" y="2185416"/>
            <a:ext cx="0" cy="146304"/>
          </a:xfrm>
          <a:prstGeom prst="line">
            <a:avLst/>
          </a:prstGeom>
          <a:noFill/>
          <a:ln w="12700">
            <a:solidFill>
              <a:srgbClr val="2A3A46"/>
            </a:solidFill>
            <a:prstDash val="solid"/>
          </a:ln>
        </p:spPr>
      </p:sp>
      <p:sp>
        <p:nvSpPr>
          <p:cNvPr id="12" name="Shape 10"/>
          <p:cNvSpPr/>
          <p:nvPr/>
        </p:nvSpPr>
        <p:spPr>
          <a:xfrm>
            <a:off x="6583680" y="1764792"/>
            <a:ext cx="5056632" cy="438912"/>
          </a:xfrm>
          <a:prstGeom prst="roundRect">
            <a:avLst>
              <a:gd name="adj" fmla="val 16667"/>
            </a:avLst>
          </a:prstGeom>
          <a:solidFill>
            <a:srgbClr val="16212A"/>
          </a:solidFill>
          <a:ln w="9525">
            <a:solidFill>
              <a:srgbClr val="2A3A46"/>
            </a:solidFill>
            <a:prstDash val="solid"/>
          </a:ln>
        </p:spPr>
      </p:sp>
      <p:sp>
        <p:nvSpPr>
          <p:cNvPr id="13" name="Text 11"/>
          <p:cNvSpPr txBox="1"/>
          <p:nvPr/>
        </p:nvSpPr>
        <p:spPr>
          <a:xfrm>
            <a:off x="6784848" y="1837944"/>
            <a:ext cx="4754880" cy="292608"/>
          </a:xfrm>
          <a:prstGeom prst="rect">
            <a:avLst/>
          </a:prstGeom>
          <a:noFill/>
          <a:ln/>
        </p:spPr>
        <p:txBody>
          <a:bodyPr wrap="square" lIns="0" tIns="0" rIns="0" bIns="0" rtlCol="0" anchor="t"/>
          <a:lstStyle/>
          <a:p>
            <a:pPr indent="0" marL="0">
              <a:buNone/>
            </a:pPr>
            <a:r>
              <a:rPr lang="en-US" sz="1500" dirty="0">
                <a:solidFill>
                  <a:srgbClr val="E3EBF0"/>
                </a:solidFill>
                <a:latin typeface="Calibri" pitchFamily="34" charset="0"/>
                <a:ea typeface="Calibri" pitchFamily="34" charset="-122"/>
                <a:cs typeface="Calibri" pitchFamily="34" charset="-120"/>
              </a:rPr>
              <a:t>Find the USB drive</a:t>
            </a:r>
            <a:endParaRPr lang="en-US" sz="1500" dirty="0"/>
          </a:p>
        </p:txBody>
      </p:sp>
      <p:sp>
        <p:nvSpPr>
          <p:cNvPr id="14" name="Shape 12"/>
          <p:cNvSpPr/>
          <p:nvPr/>
        </p:nvSpPr>
        <p:spPr>
          <a:xfrm>
            <a:off x="5989320" y="2331720"/>
            <a:ext cx="402336" cy="402336"/>
          </a:xfrm>
          <a:prstGeom prst="ellipse">
            <a:avLst/>
          </a:prstGeom>
          <a:solidFill>
            <a:srgbClr val="1C2A35"/>
          </a:solidFill>
          <a:ln w="15875">
            <a:solidFill>
              <a:srgbClr val="94A6B3"/>
            </a:solidFill>
            <a:prstDash val="solid"/>
          </a:ln>
        </p:spPr>
      </p:sp>
      <p:sp>
        <p:nvSpPr>
          <p:cNvPr id="15" name="Text 13"/>
          <p:cNvSpPr txBox="1"/>
          <p:nvPr/>
        </p:nvSpPr>
        <p:spPr>
          <a:xfrm>
            <a:off x="5989320" y="2331720"/>
            <a:ext cx="402336" cy="402336"/>
          </a:xfrm>
          <a:prstGeom prst="rect">
            <a:avLst/>
          </a:prstGeom>
          <a:noFill/>
          <a:ln/>
        </p:spPr>
        <p:txBody>
          <a:bodyPr wrap="square" lIns="0" tIns="0" rIns="0" bIns="0" rtlCol="0" anchor="ctr"/>
          <a:lstStyle/>
          <a:p>
            <a:pPr algn="ctr" indent="0" marL="0">
              <a:buNone/>
            </a:pPr>
            <a:r>
              <a:rPr lang="en-US" sz="1300" dirty="0">
                <a:solidFill>
                  <a:srgbClr val="94A6B3"/>
                </a:solidFill>
                <a:latin typeface="Consolas" pitchFamily="34" charset="0"/>
                <a:ea typeface="Consolas" pitchFamily="34" charset="-122"/>
                <a:cs typeface="Consolas" pitchFamily="34" charset="-120"/>
              </a:rPr>
              <a:t>2</a:t>
            </a:r>
            <a:endParaRPr lang="en-US" sz="1300" dirty="0"/>
          </a:p>
        </p:txBody>
      </p:sp>
      <p:sp>
        <p:nvSpPr>
          <p:cNvPr id="16" name="Shape 14"/>
          <p:cNvSpPr/>
          <p:nvPr/>
        </p:nvSpPr>
        <p:spPr>
          <a:xfrm>
            <a:off x="6190488" y="2734056"/>
            <a:ext cx="0" cy="146304"/>
          </a:xfrm>
          <a:prstGeom prst="line">
            <a:avLst/>
          </a:prstGeom>
          <a:noFill/>
          <a:ln w="12700">
            <a:solidFill>
              <a:srgbClr val="2A3A46"/>
            </a:solidFill>
            <a:prstDash val="solid"/>
          </a:ln>
        </p:spPr>
      </p:sp>
      <p:sp>
        <p:nvSpPr>
          <p:cNvPr id="17" name="Shape 15"/>
          <p:cNvSpPr/>
          <p:nvPr/>
        </p:nvSpPr>
        <p:spPr>
          <a:xfrm>
            <a:off x="6583680" y="2313432"/>
            <a:ext cx="5056632" cy="438912"/>
          </a:xfrm>
          <a:prstGeom prst="roundRect">
            <a:avLst>
              <a:gd name="adj" fmla="val 16667"/>
            </a:avLst>
          </a:prstGeom>
          <a:solidFill>
            <a:srgbClr val="16212A"/>
          </a:solidFill>
          <a:ln w="9525">
            <a:solidFill>
              <a:srgbClr val="2A3A46"/>
            </a:solidFill>
            <a:prstDash val="solid"/>
          </a:ln>
        </p:spPr>
      </p:sp>
      <p:sp>
        <p:nvSpPr>
          <p:cNvPr id="18" name="Text 16"/>
          <p:cNvSpPr txBox="1"/>
          <p:nvPr/>
        </p:nvSpPr>
        <p:spPr>
          <a:xfrm>
            <a:off x="6784848" y="2386584"/>
            <a:ext cx="4754880" cy="292608"/>
          </a:xfrm>
          <a:prstGeom prst="rect">
            <a:avLst/>
          </a:prstGeom>
          <a:noFill/>
          <a:ln/>
        </p:spPr>
        <p:txBody>
          <a:bodyPr wrap="square" lIns="0" tIns="0" rIns="0" bIns="0" rtlCol="0" anchor="t"/>
          <a:lstStyle/>
          <a:p>
            <a:pPr indent="0" marL="0">
              <a:buNone/>
            </a:pPr>
            <a:r>
              <a:rPr lang="en-US" sz="1500" dirty="0">
                <a:solidFill>
                  <a:srgbClr val="E3EBF0"/>
                </a:solidFill>
                <a:latin typeface="Calibri" pitchFamily="34" charset="0"/>
                <a:ea typeface="Calibri" pitchFamily="34" charset="-122"/>
                <a:cs typeface="Calibri" pitchFamily="34" charset="-120"/>
              </a:rPr>
              <a:t>Create fictional company files</a:t>
            </a:r>
            <a:endParaRPr lang="en-US" sz="1500" dirty="0"/>
          </a:p>
        </p:txBody>
      </p:sp>
      <p:sp>
        <p:nvSpPr>
          <p:cNvPr id="19" name="Shape 17"/>
          <p:cNvSpPr/>
          <p:nvPr/>
        </p:nvSpPr>
        <p:spPr>
          <a:xfrm>
            <a:off x="5989320" y="2880360"/>
            <a:ext cx="402336" cy="402336"/>
          </a:xfrm>
          <a:prstGeom prst="ellipse">
            <a:avLst/>
          </a:prstGeom>
          <a:solidFill>
            <a:srgbClr val="1C2A35"/>
          </a:solidFill>
          <a:ln w="15875">
            <a:solidFill>
              <a:srgbClr val="5CC0DD"/>
            </a:solidFill>
            <a:prstDash val="solid"/>
          </a:ln>
        </p:spPr>
      </p:sp>
      <p:sp>
        <p:nvSpPr>
          <p:cNvPr id="20" name="Text 18"/>
          <p:cNvSpPr txBox="1"/>
          <p:nvPr/>
        </p:nvSpPr>
        <p:spPr>
          <a:xfrm>
            <a:off x="5989320" y="2880360"/>
            <a:ext cx="402336" cy="402336"/>
          </a:xfrm>
          <a:prstGeom prst="rect">
            <a:avLst/>
          </a:prstGeom>
          <a:noFill/>
          <a:ln/>
        </p:spPr>
        <p:txBody>
          <a:bodyPr wrap="square" lIns="0" tIns="0" rIns="0" bIns="0" rtlCol="0" anchor="ctr"/>
          <a:lstStyle/>
          <a:p>
            <a:pPr algn="ctr" indent="0" marL="0">
              <a:buNone/>
            </a:pPr>
            <a:r>
              <a:rPr lang="en-US" sz="1300" dirty="0">
                <a:solidFill>
                  <a:srgbClr val="5CC0DD"/>
                </a:solidFill>
                <a:latin typeface="Consolas" pitchFamily="34" charset="0"/>
                <a:ea typeface="Consolas" pitchFamily="34" charset="-122"/>
                <a:cs typeface="Consolas" pitchFamily="34" charset="-120"/>
              </a:rPr>
              <a:t>3</a:t>
            </a:r>
            <a:endParaRPr lang="en-US" sz="1300" dirty="0"/>
          </a:p>
        </p:txBody>
      </p:sp>
      <p:sp>
        <p:nvSpPr>
          <p:cNvPr id="21" name="Shape 19"/>
          <p:cNvSpPr/>
          <p:nvPr/>
        </p:nvSpPr>
        <p:spPr>
          <a:xfrm>
            <a:off x="6190488" y="3282696"/>
            <a:ext cx="0" cy="146304"/>
          </a:xfrm>
          <a:prstGeom prst="line">
            <a:avLst/>
          </a:prstGeom>
          <a:noFill/>
          <a:ln w="12700">
            <a:solidFill>
              <a:srgbClr val="2A3A46"/>
            </a:solidFill>
            <a:prstDash val="solid"/>
          </a:ln>
        </p:spPr>
      </p:sp>
      <p:sp>
        <p:nvSpPr>
          <p:cNvPr id="22" name="Shape 20"/>
          <p:cNvSpPr/>
          <p:nvPr/>
        </p:nvSpPr>
        <p:spPr>
          <a:xfrm>
            <a:off x="6583680" y="2862072"/>
            <a:ext cx="5056632" cy="438912"/>
          </a:xfrm>
          <a:prstGeom prst="roundRect">
            <a:avLst>
              <a:gd name="adj" fmla="val 16667"/>
            </a:avLst>
          </a:prstGeom>
          <a:solidFill>
            <a:srgbClr val="16212A"/>
          </a:solidFill>
          <a:ln w="9525">
            <a:solidFill>
              <a:srgbClr val="2A3A46"/>
            </a:solidFill>
            <a:prstDash val="solid"/>
          </a:ln>
        </p:spPr>
      </p:sp>
      <p:sp>
        <p:nvSpPr>
          <p:cNvPr id="23" name="Text 21"/>
          <p:cNvSpPr txBox="1"/>
          <p:nvPr/>
        </p:nvSpPr>
        <p:spPr>
          <a:xfrm>
            <a:off x="6784848" y="2935224"/>
            <a:ext cx="4754880" cy="292608"/>
          </a:xfrm>
          <a:prstGeom prst="rect">
            <a:avLst/>
          </a:prstGeom>
          <a:noFill/>
          <a:ln/>
        </p:spPr>
        <p:txBody>
          <a:bodyPr wrap="square" lIns="0" tIns="0" rIns="0" bIns="0" rtlCol="0" anchor="t"/>
          <a:lstStyle/>
          <a:p>
            <a:pPr indent="0" marL="0">
              <a:buNone/>
            </a:pPr>
            <a:r>
              <a:rPr lang="en-US" sz="1500" dirty="0">
                <a:solidFill>
                  <a:srgbClr val="E3EBF0"/>
                </a:solidFill>
                <a:latin typeface="Calibri" pitchFamily="34" charset="0"/>
                <a:ea typeface="Calibri" pitchFamily="34" charset="-122"/>
                <a:cs typeface="Calibri" pitchFamily="34" charset="-120"/>
              </a:rPr>
              <a:t>Experiment A: normal backup</a:t>
            </a:r>
            <a:endParaRPr lang="en-US" sz="1500" dirty="0"/>
          </a:p>
        </p:txBody>
      </p:sp>
      <p:sp>
        <p:nvSpPr>
          <p:cNvPr id="24" name="Shape 22"/>
          <p:cNvSpPr/>
          <p:nvPr/>
        </p:nvSpPr>
        <p:spPr>
          <a:xfrm>
            <a:off x="5989320" y="3429000"/>
            <a:ext cx="402336" cy="402336"/>
          </a:xfrm>
          <a:prstGeom prst="ellipse">
            <a:avLst/>
          </a:prstGeom>
          <a:solidFill>
            <a:srgbClr val="1C2A35"/>
          </a:solidFill>
          <a:ln w="15875">
            <a:solidFill>
              <a:srgbClr val="E3EBF0"/>
            </a:solidFill>
            <a:prstDash val="solid"/>
          </a:ln>
        </p:spPr>
      </p:sp>
      <p:sp>
        <p:nvSpPr>
          <p:cNvPr id="25" name="Text 23"/>
          <p:cNvSpPr txBox="1"/>
          <p:nvPr/>
        </p:nvSpPr>
        <p:spPr>
          <a:xfrm>
            <a:off x="5989320" y="3429000"/>
            <a:ext cx="402336" cy="402336"/>
          </a:xfrm>
          <a:prstGeom prst="rect">
            <a:avLst/>
          </a:prstGeom>
          <a:noFill/>
          <a:ln/>
        </p:spPr>
        <p:txBody>
          <a:bodyPr wrap="square" lIns="0" tIns="0" rIns="0" bIns="0" rtlCol="0" anchor="ctr"/>
          <a:lstStyle/>
          <a:p>
            <a:pPr algn="ctr" indent="0" marL="0">
              <a:buNone/>
            </a:pPr>
            <a:r>
              <a:rPr lang="en-US" sz="1300" dirty="0">
                <a:solidFill>
                  <a:srgbClr val="E3EBF0"/>
                </a:solidFill>
                <a:latin typeface="Consolas" pitchFamily="34" charset="0"/>
                <a:ea typeface="Consolas" pitchFamily="34" charset="-122"/>
                <a:cs typeface="Consolas" pitchFamily="34" charset="-120"/>
              </a:rPr>
              <a:t>4</a:t>
            </a:r>
            <a:endParaRPr lang="en-US" sz="1300" dirty="0"/>
          </a:p>
        </p:txBody>
      </p:sp>
      <p:sp>
        <p:nvSpPr>
          <p:cNvPr id="26" name="Shape 24"/>
          <p:cNvSpPr/>
          <p:nvPr/>
        </p:nvSpPr>
        <p:spPr>
          <a:xfrm>
            <a:off x="6190488" y="3831336"/>
            <a:ext cx="0" cy="146304"/>
          </a:xfrm>
          <a:prstGeom prst="line">
            <a:avLst/>
          </a:prstGeom>
          <a:noFill/>
          <a:ln w="12700">
            <a:solidFill>
              <a:srgbClr val="2A3A46"/>
            </a:solidFill>
            <a:prstDash val="solid"/>
          </a:ln>
        </p:spPr>
      </p:sp>
      <p:sp>
        <p:nvSpPr>
          <p:cNvPr id="27" name="Shape 25"/>
          <p:cNvSpPr/>
          <p:nvPr/>
        </p:nvSpPr>
        <p:spPr>
          <a:xfrm>
            <a:off x="6583680" y="3410712"/>
            <a:ext cx="5056632" cy="438912"/>
          </a:xfrm>
          <a:prstGeom prst="roundRect">
            <a:avLst>
              <a:gd name="adj" fmla="val 16667"/>
            </a:avLst>
          </a:prstGeom>
          <a:solidFill>
            <a:srgbClr val="16212A"/>
          </a:solidFill>
          <a:ln w="9525">
            <a:solidFill>
              <a:srgbClr val="2A3A46"/>
            </a:solidFill>
            <a:prstDash val="solid"/>
          </a:ln>
        </p:spPr>
      </p:sp>
      <p:sp>
        <p:nvSpPr>
          <p:cNvPr id="28" name="Text 26"/>
          <p:cNvSpPr txBox="1"/>
          <p:nvPr/>
        </p:nvSpPr>
        <p:spPr>
          <a:xfrm>
            <a:off x="6784848" y="3483864"/>
            <a:ext cx="4754880" cy="292608"/>
          </a:xfrm>
          <a:prstGeom prst="rect">
            <a:avLst/>
          </a:prstGeom>
          <a:noFill/>
          <a:ln/>
        </p:spPr>
        <p:txBody>
          <a:bodyPr wrap="square" lIns="0" tIns="0" rIns="0" bIns="0" rtlCol="0" anchor="t"/>
          <a:lstStyle/>
          <a:p>
            <a:pPr indent="0" marL="0">
              <a:buNone/>
            </a:pPr>
            <a:r>
              <a:rPr lang="en-US" sz="1500" dirty="0">
                <a:solidFill>
                  <a:srgbClr val="E3EBF0"/>
                </a:solidFill>
                <a:latin typeface="Calibri" pitchFamily="34" charset="0"/>
                <a:ea typeface="Calibri" pitchFamily="34" charset="-122"/>
                <a:cs typeface="Calibri" pitchFamily="34" charset="-120"/>
              </a:rPr>
              <a:t>Collect evidence for A</a:t>
            </a:r>
            <a:endParaRPr lang="en-US" sz="1500" dirty="0"/>
          </a:p>
        </p:txBody>
      </p:sp>
      <p:sp>
        <p:nvSpPr>
          <p:cNvPr id="29" name="Shape 27"/>
          <p:cNvSpPr/>
          <p:nvPr/>
        </p:nvSpPr>
        <p:spPr>
          <a:xfrm>
            <a:off x="5989320" y="3977640"/>
            <a:ext cx="402336" cy="402336"/>
          </a:xfrm>
          <a:prstGeom prst="ellipse">
            <a:avLst/>
          </a:prstGeom>
          <a:solidFill>
            <a:srgbClr val="1C2A35"/>
          </a:solidFill>
          <a:ln w="15875">
            <a:solidFill>
              <a:srgbClr val="F08B78"/>
            </a:solidFill>
            <a:prstDash val="solid"/>
          </a:ln>
        </p:spPr>
      </p:sp>
      <p:sp>
        <p:nvSpPr>
          <p:cNvPr id="30" name="Text 28"/>
          <p:cNvSpPr txBox="1"/>
          <p:nvPr/>
        </p:nvSpPr>
        <p:spPr>
          <a:xfrm>
            <a:off x="5989320" y="3977640"/>
            <a:ext cx="402336" cy="402336"/>
          </a:xfrm>
          <a:prstGeom prst="rect">
            <a:avLst/>
          </a:prstGeom>
          <a:noFill/>
          <a:ln/>
        </p:spPr>
        <p:txBody>
          <a:bodyPr wrap="square" lIns="0" tIns="0" rIns="0" bIns="0" rtlCol="0" anchor="ctr"/>
          <a:lstStyle/>
          <a:p>
            <a:pPr algn="ctr" indent="0" marL="0">
              <a:buNone/>
            </a:pPr>
            <a:r>
              <a:rPr lang="en-US" sz="1300" dirty="0">
                <a:solidFill>
                  <a:srgbClr val="F08B78"/>
                </a:solidFill>
                <a:latin typeface="Consolas" pitchFamily="34" charset="0"/>
                <a:ea typeface="Consolas" pitchFamily="34" charset="-122"/>
                <a:cs typeface="Consolas" pitchFamily="34" charset="-120"/>
              </a:rPr>
              <a:t>5</a:t>
            </a:r>
            <a:endParaRPr lang="en-US" sz="1300" dirty="0"/>
          </a:p>
        </p:txBody>
      </p:sp>
      <p:sp>
        <p:nvSpPr>
          <p:cNvPr id="31" name="Shape 29"/>
          <p:cNvSpPr/>
          <p:nvPr/>
        </p:nvSpPr>
        <p:spPr>
          <a:xfrm>
            <a:off x="6190488" y="4379976"/>
            <a:ext cx="0" cy="146304"/>
          </a:xfrm>
          <a:prstGeom prst="line">
            <a:avLst/>
          </a:prstGeom>
          <a:noFill/>
          <a:ln w="12700">
            <a:solidFill>
              <a:srgbClr val="2A3A46"/>
            </a:solidFill>
            <a:prstDash val="solid"/>
          </a:ln>
        </p:spPr>
      </p:sp>
      <p:sp>
        <p:nvSpPr>
          <p:cNvPr id="32" name="Shape 30"/>
          <p:cNvSpPr/>
          <p:nvPr/>
        </p:nvSpPr>
        <p:spPr>
          <a:xfrm>
            <a:off x="6583680" y="3959352"/>
            <a:ext cx="5056632" cy="438912"/>
          </a:xfrm>
          <a:prstGeom prst="roundRect">
            <a:avLst>
              <a:gd name="adj" fmla="val 16667"/>
            </a:avLst>
          </a:prstGeom>
          <a:solidFill>
            <a:srgbClr val="16212A"/>
          </a:solidFill>
          <a:ln w="9525">
            <a:solidFill>
              <a:srgbClr val="2A3A46"/>
            </a:solidFill>
            <a:prstDash val="solid"/>
          </a:ln>
        </p:spPr>
      </p:sp>
      <p:sp>
        <p:nvSpPr>
          <p:cNvPr id="33" name="Text 31"/>
          <p:cNvSpPr txBox="1"/>
          <p:nvPr/>
        </p:nvSpPr>
        <p:spPr>
          <a:xfrm>
            <a:off x="6784848" y="4032504"/>
            <a:ext cx="4754880" cy="292608"/>
          </a:xfrm>
          <a:prstGeom prst="rect">
            <a:avLst/>
          </a:prstGeom>
          <a:noFill/>
          <a:ln/>
        </p:spPr>
        <p:txBody>
          <a:bodyPr wrap="square" lIns="0" tIns="0" rIns="0" bIns="0" rtlCol="0" anchor="t"/>
          <a:lstStyle/>
          <a:p>
            <a:pPr indent="0" marL="0">
              <a:buNone/>
            </a:pPr>
            <a:r>
              <a:rPr lang="en-US" sz="1500" dirty="0">
                <a:solidFill>
                  <a:srgbClr val="E3EBF0"/>
                </a:solidFill>
                <a:latin typeface="Calibri" pitchFamily="34" charset="0"/>
                <a:ea typeface="Calibri" pitchFamily="34" charset="-122"/>
                <a:cs typeface="Calibri" pitchFamily="34" charset="-120"/>
              </a:rPr>
              <a:t>Experiment B: simulated insider</a:t>
            </a:r>
            <a:endParaRPr lang="en-US" sz="1500" dirty="0"/>
          </a:p>
        </p:txBody>
      </p:sp>
      <p:sp>
        <p:nvSpPr>
          <p:cNvPr id="34" name="Shape 32"/>
          <p:cNvSpPr/>
          <p:nvPr/>
        </p:nvSpPr>
        <p:spPr>
          <a:xfrm>
            <a:off x="5989320" y="4526280"/>
            <a:ext cx="402336" cy="402336"/>
          </a:xfrm>
          <a:prstGeom prst="ellipse">
            <a:avLst/>
          </a:prstGeom>
          <a:solidFill>
            <a:srgbClr val="1C2A35"/>
          </a:solidFill>
          <a:ln w="15875">
            <a:solidFill>
              <a:srgbClr val="E3EBF0"/>
            </a:solidFill>
            <a:prstDash val="solid"/>
          </a:ln>
        </p:spPr>
      </p:sp>
      <p:sp>
        <p:nvSpPr>
          <p:cNvPr id="35" name="Text 33"/>
          <p:cNvSpPr txBox="1"/>
          <p:nvPr/>
        </p:nvSpPr>
        <p:spPr>
          <a:xfrm>
            <a:off x="5989320" y="4526280"/>
            <a:ext cx="402336" cy="402336"/>
          </a:xfrm>
          <a:prstGeom prst="rect">
            <a:avLst/>
          </a:prstGeom>
          <a:noFill/>
          <a:ln/>
        </p:spPr>
        <p:txBody>
          <a:bodyPr wrap="square" lIns="0" tIns="0" rIns="0" bIns="0" rtlCol="0" anchor="ctr"/>
          <a:lstStyle/>
          <a:p>
            <a:pPr algn="ctr" indent="0" marL="0">
              <a:buNone/>
            </a:pPr>
            <a:r>
              <a:rPr lang="en-US" sz="1300" dirty="0">
                <a:solidFill>
                  <a:srgbClr val="E3EBF0"/>
                </a:solidFill>
                <a:latin typeface="Consolas" pitchFamily="34" charset="0"/>
                <a:ea typeface="Consolas" pitchFamily="34" charset="-122"/>
                <a:cs typeface="Consolas" pitchFamily="34" charset="-120"/>
              </a:rPr>
              <a:t>6</a:t>
            </a:r>
            <a:endParaRPr lang="en-US" sz="1300" dirty="0"/>
          </a:p>
        </p:txBody>
      </p:sp>
      <p:sp>
        <p:nvSpPr>
          <p:cNvPr id="36" name="Shape 34"/>
          <p:cNvSpPr/>
          <p:nvPr/>
        </p:nvSpPr>
        <p:spPr>
          <a:xfrm>
            <a:off x="6190488" y="4928616"/>
            <a:ext cx="0" cy="146304"/>
          </a:xfrm>
          <a:prstGeom prst="line">
            <a:avLst/>
          </a:prstGeom>
          <a:noFill/>
          <a:ln w="12700">
            <a:solidFill>
              <a:srgbClr val="2A3A46"/>
            </a:solidFill>
            <a:prstDash val="solid"/>
          </a:ln>
        </p:spPr>
      </p:sp>
      <p:sp>
        <p:nvSpPr>
          <p:cNvPr id="37" name="Shape 35"/>
          <p:cNvSpPr/>
          <p:nvPr/>
        </p:nvSpPr>
        <p:spPr>
          <a:xfrm>
            <a:off x="6583680" y="4507992"/>
            <a:ext cx="5056632" cy="438912"/>
          </a:xfrm>
          <a:prstGeom prst="roundRect">
            <a:avLst>
              <a:gd name="adj" fmla="val 16667"/>
            </a:avLst>
          </a:prstGeom>
          <a:solidFill>
            <a:srgbClr val="16212A"/>
          </a:solidFill>
          <a:ln w="9525">
            <a:solidFill>
              <a:srgbClr val="2A3A46"/>
            </a:solidFill>
            <a:prstDash val="solid"/>
          </a:ln>
        </p:spPr>
      </p:sp>
      <p:sp>
        <p:nvSpPr>
          <p:cNvPr id="38" name="Text 36"/>
          <p:cNvSpPr txBox="1"/>
          <p:nvPr/>
        </p:nvSpPr>
        <p:spPr>
          <a:xfrm>
            <a:off x="6784848" y="4581144"/>
            <a:ext cx="4754880" cy="292608"/>
          </a:xfrm>
          <a:prstGeom prst="rect">
            <a:avLst/>
          </a:prstGeom>
          <a:noFill/>
          <a:ln/>
        </p:spPr>
        <p:txBody>
          <a:bodyPr wrap="square" lIns="0" tIns="0" rIns="0" bIns="0" rtlCol="0" anchor="t"/>
          <a:lstStyle/>
          <a:p>
            <a:pPr indent="0" marL="0">
              <a:buNone/>
            </a:pPr>
            <a:r>
              <a:rPr lang="en-US" sz="1500" dirty="0">
                <a:solidFill>
                  <a:srgbClr val="E3EBF0"/>
                </a:solidFill>
                <a:latin typeface="Calibri" pitchFamily="34" charset="0"/>
                <a:ea typeface="Calibri" pitchFamily="34" charset="-122"/>
                <a:cs typeface="Calibri" pitchFamily="34" charset="-120"/>
              </a:rPr>
              <a:t>Collect evidence for B</a:t>
            </a:r>
            <a:endParaRPr lang="en-US" sz="1500" dirty="0"/>
          </a:p>
        </p:txBody>
      </p:sp>
      <p:sp>
        <p:nvSpPr>
          <p:cNvPr id="39" name="Shape 37"/>
          <p:cNvSpPr/>
          <p:nvPr/>
        </p:nvSpPr>
        <p:spPr>
          <a:xfrm>
            <a:off x="5989320" y="5074920"/>
            <a:ext cx="402336" cy="402336"/>
          </a:xfrm>
          <a:prstGeom prst="ellipse">
            <a:avLst/>
          </a:prstGeom>
          <a:solidFill>
            <a:srgbClr val="1C2A35"/>
          </a:solidFill>
          <a:ln w="15875">
            <a:solidFill>
              <a:srgbClr val="F0C04A"/>
            </a:solidFill>
            <a:prstDash val="solid"/>
          </a:ln>
        </p:spPr>
      </p:sp>
      <p:sp>
        <p:nvSpPr>
          <p:cNvPr id="40" name="Text 38"/>
          <p:cNvSpPr txBox="1"/>
          <p:nvPr/>
        </p:nvSpPr>
        <p:spPr>
          <a:xfrm>
            <a:off x="5989320" y="5074920"/>
            <a:ext cx="402336" cy="402336"/>
          </a:xfrm>
          <a:prstGeom prst="rect">
            <a:avLst/>
          </a:prstGeom>
          <a:noFill/>
          <a:ln/>
        </p:spPr>
        <p:txBody>
          <a:bodyPr wrap="square" lIns="0" tIns="0" rIns="0" bIns="0" rtlCol="0" anchor="ctr"/>
          <a:lstStyle/>
          <a:p>
            <a:pPr algn="ctr" indent="0" marL="0">
              <a:buNone/>
            </a:pPr>
            <a:r>
              <a:rPr lang="en-US" sz="1300" dirty="0">
                <a:solidFill>
                  <a:srgbClr val="F0C04A"/>
                </a:solidFill>
                <a:latin typeface="Consolas" pitchFamily="34" charset="0"/>
                <a:ea typeface="Consolas" pitchFamily="34" charset="-122"/>
                <a:cs typeface="Consolas" pitchFamily="34" charset="-120"/>
              </a:rPr>
              <a:t>7</a:t>
            </a:r>
            <a:endParaRPr lang="en-US" sz="1300" dirty="0"/>
          </a:p>
        </p:txBody>
      </p:sp>
      <p:sp>
        <p:nvSpPr>
          <p:cNvPr id="41" name="Shape 39"/>
          <p:cNvSpPr/>
          <p:nvPr/>
        </p:nvSpPr>
        <p:spPr>
          <a:xfrm>
            <a:off x="6190488" y="5477256"/>
            <a:ext cx="0" cy="146304"/>
          </a:xfrm>
          <a:prstGeom prst="line">
            <a:avLst/>
          </a:prstGeom>
          <a:noFill/>
          <a:ln w="12700">
            <a:solidFill>
              <a:srgbClr val="2A3A46"/>
            </a:solidFill>
            <a:prstDash val="solid"/>
          </a:ln>
        </p:spPr>
      </p:sp>
      <p:sp>
        <p:nvSpPr>
          <p:cNvPr id="42" name="Shape 40"/>
          <p:cNvSpPr/>
          <p:nvPr/>
        </p:nvSpPr>
        <p:spPr>
          <a:xfrm>
            <a:off x="6583680" y="5056632"/>
            <a:ext cx="5056632" cy="438912"/>
          </a:xfrm>
          <a:prstGeom prst="roundRect">
            <a:avLst>
              <a:gd name="adj" fmla="val 16667"/>
            </a:avLst>
          </a:prstGeom>
          <a:solidFill>
            <a:srgbClr val="16212A"/>
          </a:solidFill>
          <a:ln w="9525">
            <a:solidFill>
              <a:srgbClr val="2A3A46"/>
            </a:solidFill>
            <a:prstDash val="solid"/>
          </a:ln>
        </p:spPr>
      </p:sp>
      <p:sp>
        <p:nvSpPr>
          <p:cNvPr id="43" name="Text 41"/>
          <p:cNvSpPr txBox="1"/>
          <p:nvPr/>
        </p:nvSpPr>
        <p:spPr>
          <a:xfrm>
            <a:off x="6784848" y="5129784"/>
            <a:ext cx="4754880" cy="292608"/>
          </a:xfrm>
          <a:prstGeom prst="rect">
            <a:avLst/>
          </a:prstGeom>
          <a:noFill/>
          <a:ln/>
        </p:spPr>
        <p:txBody>
          <a:bodyPr wrap="square" lIns="0" tIns="0" rIns="0" bIns="0" rtlCol="0" anchor="t"/>
          <a:lstStyle/>
          <a:p>
            <a:pPr indent="0" marL="0">
              <a:buNone/>
            </a:pPr>
            <a:r>
              <a:rPr lang="en-US" sz="1500" dirty="0">
                <a:solidFill>
                  <a:srgbClr val="E3EBF0"/>
                </a:solidFill>
                <a:latin typeface="Calibri" pitchFamily="34" charset="0"/>
                <a:ea typeface="Calibri" pitchFamily="34" charset="-122"/>
                <a:cs typeface="Calibri" pitchFamily="34" charset="-120"/>
              </a:rPr>
              <a:t>Analyse: H1 to H4</a:t>
            </a:r>
            <a:endParaRPr lang="en-US" sz="1500" dirty="0"/>
          </a:p>
        </p:txBody>
      </p:sp>
      <p:sp>
        <p:nvSpPr>
          <p:cNvPr id="44" name="Shape 42"/>
          <p:cNvSpPr/>
          <p:nvPr/>
        </p:nvSpPr>
        <p:spPr>
          <a:xfrm>
            <a:off x="5989320" y="5623560"/>
            <a:ext cx="402336" cy="402336"/>
          </a:xfrm>
          <a:prstGeom prst="ellipse">
            <a:avLst/>
          </a:prstGeom>
          <a:solidFill>
            <a:srgbClr val="1C2A35"/>
          </a:solidFill>
          <a:ln w="15875">
            <a:solidFill>
              <a:srgbClr val="6FCF97"/>
            </a:solidFill>
            <a:prstDash val="solid"/>
          </a:ln>
        </p:spPr>
      </p:sp>
      <p:sp>
        <p:nvSpPr>
          <p:cNvPr id="45" name="Text 43"/>
          <p:cNvSpPr txBox="1"/>
          <p:nvPr/>
        </p:nvSpPr>
        <p:spPr>
          <a:xfrm>
            <a:off x="5989320" y="5623560"/>
            <a:ext cx="402336" cy="402336"/>
          </a:xfrm>
          <a:prstGeom prst="rect">
            <a:avLst/>
          </a:prstGeom>
          <a:noFill/>
          <a:ln/>
        </p:spPr>
        <p:txBody>
          <a:bodyPr wrap="square" lIns="0" tIns="0" rIns="0" bIns="0" rtlCol="0" anchor="ctr"/>
          <a:lstStyle/>
          <a:p>
            <a:pPr algn="ctr" indent="0" marL="0">
              <a:buNone/>
            </a:pPr>
            <a:r>
              <a:rPr lang="en-US" sz="1300" dirty="0">
                <a:solidFill>
                  <a:srgbClr val="6FCF97"/>
                </a:solidFill>
                <a:latin typeface="Consolas" pitchFamily="34" charset="0"/>
                <a:ea typeface="Consolas" pitchFamily="34" charset="-122"/>
                <a:cs typeface="Consolas" pitchFamily="34" charset="-120"/>
              </a:rPr>
              <a:t>8</a:t>
            </a:r>
            <a:endParaRPr lang="en-US" sz="1300" dirty="0"/>
          </a:p>
        </p:txBody>
      </p:sp>
      <p:sp>
        <p:nvSpPr>
          <p:cNvPr id="46" name="Shape 44"/>
          <p:cNvSpPr/>
          <p:nvPr/>
        </p:nvSpPr>
        <p:spPr>
          <a:xfrm>
            <a:off x="6583680" y="5605272"/>
            <a:ext cx="5056632" cy="438912"/>
          </a:xfrm>
          <a:prstGeom prst="roundRect">
            <a:avLst>
              <a:gd name="adj" fmla="val 16667"/>
            </a:avLst>
          </a:prstGeom>
          <a:solidFill>
            <a:srgbClr val="16212A"/>
          </a:solidFill>
          <a:ln w="9525">
            <a:solidFill>
              <a:srgbClr val="2A3A46"/>
            </a:solidFill>
            <a:prstDash val="solid"/>
          </a:ln>
        </p:spPr>
      </p:sp>
      <p:sp>
        <p:nvSpPr>
          <p:cNvPr id="47" name="Text 45"/>
          <p:cNvSpPr txBox="1"/>
          <p:nvPr/>
        </p:nvSpPr>
        <p:spPr>
          <a:xfrm>
            <a:off x="6784848" y="5678424"/>
            <a:ext cx="4754880" cy="292608"/>
          </a:xfrm>
          <a:prstGeom prst="rect">
            <a:avLst/>
          </a:prstGeom>
          <a:noFill/>
          <a:ln/>
        </p:spPr>
        <p:txBody>
          <a:bodyPr wrap="square" lIns="0" tIns="0" rIns="0" bIns="0" rtlCol="0" anchor="t"/>
          <a:lstStyle/>
          <a:p>
            <a:pPr indent="0" marL="0">
              <a:buNone/>
            </a:pPr>
            <a:r>
              <a:rPr lang="en-US" sz="1500" dirty="0">
                <a:solidFill>
                  <a:srgbClr val="E3EBF0"/>
                </a:solidFill>
                <a:latin typeface="Calibri" pitchFamily="34" charset="0"/>
                <a:ea typeface="Calibri" pitchFamily="34" charset="-122"/>
                <a:cs typeface="Calibri" pitchFamily="34" charset="-120"/>
              </a:rPr>
              <a:t>Clean up, open dashboard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spc="300" kern="0" dirty="0">
                <a:solidFill>
                  <a:srgbClr val="5CC0DD"/>
                </a:solidFill>
                <a:latin typeface="Consolas" pitchFamily="34" charset="0"/>
                <a:ea typeface="Consolas" pitchFamily="34" charset="-122"/>
                <a:cs typeface="Consolas" pitchFamily="34" charset="-120"/>
              </a:rPr>
              <a:t>09 · THE REAL RUN · 21 OCTOBER 2026</a:t>
            </a:r>
            <a:endParaRPr lang="en-US" sz="1100" dirty="0"/>
          </a:p>
        </p:txBody>
      </p:sp>
      <p:sp>
        <p:nvSpPr>
          <p:cNvPr id="3" name="Text 1"/>
          <p:cNvSpPr/>
          <p:nvPr>
            <p:ph idx="101" type="title" hasCustomPrompt="1"/>
          </p:nvPr>
        </p:nvSpPr>
        <p:spPr>
          <a:xfrm>
            <a:off x="548640" y="749808"/>
            <a:ext cx="11094415" cy="777240"/>
          </a:xfrm>
          <a:prstGeom prst="rect">
            <a:avLst/>
          </a:prstGeom>
          <a:noFill/>
          <a:ln/>
        </p:spPr>
        <p:txBody>
          <a:bodyPr wrap="square" lIns="0" tIns="0" rIns="0" bIns="0" rtlCol="0" anchor="t"/>
          <a:lstStyle/>
          <a:p>
            <a:pPr algn="l" indent="0" marL="0">
              <a:buNone/>
            </a:pPr>
            <a:r>
              <a:rPr lang="en-US" sz="3000" b="1" dirty="0">
                <a:solidFill>
                  <a:srgbClr val="E3EBF0"/>
                </a:solidFill>
                <a:latin typeface="Cambria" pitchFamily="34" charset="0"/>
                <a:ea typeface="Cambria" pitchFamily="34" charset="-122"/>
                <a:cs typeface="Cambria" pitchFamily="34" charset="-120"/>
              </a:rPr>
              <a:t>What Windows actually recorded on the project laptop</a:t>
            </a:r>
            <a:endParaRPr lang="en-US" sz="3000" dirty="0"/>
          </a:p>
        </p:txBody>
      </p:sp>
      <p:sp>
        <p:nvSpPr>
          <p:cNvPr id="4" name="Text 2"/>
          <p:cNvSpPr txBox="1"/>
          <p:nvPr/>
        </p:nvSpPr>
        <p:spPr>
          <a:xfrm>
            <a:off x="548640" y="1600200"/>
            <a:ext cx="11094415" cy="320040"/>
          </a:xfrm>
          <a:prstGeom prst="rect">
            <a:avLst/>
          </a:prstGeom>
          <a:noFill/>
          <a:ln/>
        </p:spPr>
        <p:txBody>
          <a:bodyPr wrap="square" lIns="0" tIns="0" rIns="0" bIns="0" rtlCol="0" anchor="t"/>
          <a:lstStyle/>
          <a:p>
            <a:pPr indent="0" marL="0">
              <a:buNone/>
            </a:pPr>
            <a:r>
              <a:rPr lang="en-US" sz="1400" dirty="0">
                <a:solidFill>
                  <a:srgbClr val="94A6B3"/>
                </a:solidFill>
                <a:latin typeface="Calibri" pitchFamily="34" charset="0"/>
                <a:ea typeface="Calibri" pitchFamily="34" charset="-122"/>
                <a:cs typeface="Calibri" pitchFamily="34" charset="-120"/>
              </a:rPr>
              <a:t>Seagate Expansion external USB disk (D:)  ·  laptop LAPTOP-MKT5QBHD  ·  user Gary</a:t>
            </a:r>
            <a:endParaRPr lang="en-US" sz="1400" dirty="0"/>
          </a:p>
        </p:txBody>
      </p:sp>
      <p:sp>
        <p:nvSpPr>
          <p:cNvPr id="5" name="Shape 3"/>
          <p:cNvSpPr/>
          <p:nvPr/>
        </p:nvSpPr>
        <p:spPr>
          <a:xfrm>
            <a:off x="548640" y="2103120"/>
            <a:ext cx="5394960" cy="4023360"/>
          </a:xfrm>
          <a:prstGeom prst="roundRect">
            <a:avLst>
              <a:gd name="adj" fmla="val 1818"/>
            </a:avLst>
          </a:prstGeom>
          <a:solidFill>
            <a:srgbClr val="16212A"/>
          </a:solidFill>
          <a:ln w="9525">
            <a:solidFill>
              <a:srgbClr val="2A3A46"/>
            </a:solidFill>
            <a:prstDash val="solid"/>
          </a:ln>
        </p:spPr>
      </p:sp>
      <p:sp>
        <p:nvSpPr>
          <p:cNvPr id="6" name="Shape 4"/>
          <p:cNvSpPr/>
          <p:nvPr/>
        </p:nvSpPr>
        <p:spPr>
          <a:xfrm>
            <a:off x="868680" y="2331720"/>
            <a:ext cx="1417320" cy="274320"/>
          </a:xfrm>
          <a:prstGeom prst="roundRect">
            <a:avLst>
              <a:gd name="adj" fmla="val 16667"/>
            </a:avLst>
          </a:prstGeom>
          <a:solidFill>
            <a:srgbClr val="5CC0DD">
              <a:alpha val="18000"/>
            </a:srgbClr>
          </a:solidFill>
          <a:ln w="9525">
            <a:solidFill>
              <a:srgbClr val="5CC0DD"/>
            </a:solidFill>
            <a:prstDash val="solid"/>
          </a:ln>
        </p:spPr>
      </p:sp>
      <p:sp>
        <p:nvSpPr>
          <p:cNvPr id="7" name="Text 5"/>
          <p:cNvSpPr txBox="1"/>
          <p:nvPr/>
        </p:nvSpPr>
        <p:spPr>
          <a:xfrm>
            <a:off x="868680" y="2331720"/>
            <a:ext cx="1417320" cy="274320"/>
          </a:xfrm>
          <a:prstGeom prst="rect">
            <a:avLst/>
          </a:prstGeom>
          <a:noFill/>
          <a:ln/>
        </p:spPr>
        <p:txBody>
          <a:bodyPr wrap="square" lIns="0" tIns="0" rIns="0" bIns="0" rtlCol="0" anchor="ctr"/>
          <a:lstStyle/>
          <a:p>
            <a:pPr algn="ctr" indent="0" marL="0">
              <a:buNone/>
            </a:pPr>
            <a:r>
              <a:rPr lang="en-US" sz="1000" dirty="0">
                <a:solidFill>
                  <a:srgbClr val="5CC0DD"/>
                </a:solidFill>
                <a:latin typeface="Consolas" pitchFamily="34" charset="0"/>
                <a:ea typeface="Consolas" pitchFamily="34" charset="-122"/>
                <a:cs typeface="Consolas" pitchFamily="34" charset="-120"/>
              </a:rPr>
              <a:t>EXPERIMENT A</a:t>
            </a:r>
            <a:endParaRPr lang="en-US" sz="1000" dirty="0"/>
          </a:p>
        </p:txBody>
      </p:sp>
      <p:sp>
        <p:nvSpPr>
          <p:cNvPr id="8" name="Shape 6"/>
          <p:cNvSpPr/>
          <p:nvPr/>
        </p:nvSpPr>
        <p:spPr>
          <a:xfrm>
            <a:off x="1078992" y="2907792"/>
            <a:ext cx="0" cy="1444752"/>
          </a:xfrm>
          <a:prstGeom prst="line">
            <a:avLst/>
          </a:prstGeom>
          <a:noFill/>
          <a:ln w="19050">
            <a:solidFill>
              <a:srgbClr val="2A3A46"/>
            </a:solidFill>
            <a:prstDash val="solid"/>
          </a:ln>
        </p:spPr>
      </p:sp>
      <p:sp>
        <p:nvSpPr>
          <p:cNvPr id="9" name="Shape 7"/>
          <p:cNvSpPr/>
          <p:nvPr/>
        </p:nvSpPr>
        <p:spPr>
          <a:xfrm>
            <a:off x="996696" y="2852928"/>
            <a:ext cx="164592" cy="164592"/>
          </a:xfrm>
          <a:prstGeom prst="ellipse">
            <a:avLst/>
          </a:prstGeom>
          <a:solidFill>
            <a:srgbClr val="5CC0DD"/>
          </a:solidFill>
          <a:ln w="12700">
            <a:solidFill>
              <a:srgbClr val="5CC0DD"/>
            </a:solidFill>
            <a:prstDash val="solid"/>
          </a:ln>
        </p:spPr>
      </p:sp>
      <p:sp>
        <p:nvSpPr>
          <p:cNvPr id="10" name="Text 8"/>
          <p:cNvSpPr txBox="1"/>
          <p:nvPr/>
        </p:nvSpPr>
        <p:spPr>
          <a:xfrm>
            <a:off x="1325880" y="2788920"/>
            <a:ext cx="960120" cy="292608"/>
          </a:xfrm>
          <a:prstGeom prst="rect">
            <a:avLst/>
          </a:prstGeom>
          <a:noFill/>
          <a:ln/>
        </p:spPr>
        <p:txBody>
          <a:bodyPr wrap="square" lIns="0" tIns="0" rIns="0" bIns="0" rtlCol="0" anchor="t"/>
          <a:lstStyle/>
          <a:p>
            <a:pPr indent="0" marL="0">
              <a:buNone/>
            </a:pPr>
            <a:r>
              <a:rPr lang="en-US" sz="1300" dirty="0">
                <a:solidFill>
                  <a:srgbClr val="94A6B3"/>
                </a:solidFill>
                <a:latin typeface="Consolas" pitchFamily="34" charset="0"/>
                <a:ea typeface="Consolas" pitchFamily="34" charset="-122"/>
                <a:cs typeface="Consolas" pitchFamily="34" charset="-120"/>
              </a:rPr>
              <a:t>21:02:07</a:t>
            </a:r>
            <a:endParaRPr lang="en-US" sz="1300" dirty="0"/>
          </a:p>
        </p:txBody>
      </p:sp>
      <p:sp>
        <p:nvSpPr>
          <p:cNvPr id="11" name="Text 9"/>
          <p:cNvSpPr txBox="1"/>
          <p:nvPr/>
        </p:nvSpPr>
        <p:spPr>
          <a:xfrm>
            <a:off x="2331720" y="2788920"/>
            <a:ext cx="3474720" cy="502920"/>
          </a:xfrm>
          <a:prstGeom prst="rect">
            <a:avLst/>
          </a:prstGeom>
          <a:noFill/>
          <a:ln/>
        </p:spPr>
        <p:txBody>
          <a:bodyPr wrap="square" lIns="0" tIns="0" rIns="0" bIns="0" rtlCol="0" anchor="t"/>
          <a:lstStyle/>
          <a:p>
            <a:pPr indent="0" marL="0">
              <a:buNone/>
            </a:pPr>
            <a:r>
              <a:rPr lang="en-US" sz="1400" dirty="0">
                <a:solidFill>
                  <a:srgbClr val="E3EBF0"/>
                </a:solidFill>
                <a:latin typeface="Calibri" pitchFamily="34" charset="0"/>
                <a:ea typeface="Calibri" pitchFamily="34" charset="-122"/>
                <a:cs typeface="Calibri" pitchFamily="34" charset="-120"/>
              </a:rPr>
              <a:t>USB disk connected</a:t>
            </a:r>
            <a:endParaRPr lang="en-US" sz="1400" dirty="0"/>
          </a:p>
        </p:txBody>
      </p:sp>
      <p:sp>
        <p:nvSpPr>
          <p:cNvPr id="12" name="Shape 10"/>
          <p:cNvSpPr/>
          <p:nvPr/>
        </p:nvSpPr>
        <p:spPr>
          <a:xfrm>
            <a:off x="996696" y="3456432"/>
            <a:ext cx="164592" cy="164592"/>
          </a:xfrm>
          <a:prstGeom prst="ellipse">
            <a:avLst/>
          </a:prstGeom>
          <a:solidFill>
            <a:srgbClr val="F0C04A"/>
          </a:solidFill>
          <a:ln w="12700">
            <a:solidFill>
              <a:srgbClr val="F0C04A"/>
            </a:solidFill>
            <a:prstDash val="solid"/>
          </a:ln>
        </p:spPr>
      </p:sp>
      <p:sp>
        <p:nvSpPr>
          <p:cNvPr id="13" name="Text 11"/>
          <p:cNvSpPr txBox="1"/>
          <p:nvPr/>
        </p:nvSpPr>
        <p:spPr>
          <a:xfrm>
            <a:off x="1325880" y="3392424"/>
            <a:ext cx="960120" cy="292608"/>
          </a:xfrm>
          <a:prstGeom prst="rect">
            <a:avLst/>
          </a:prstGeom>
          <a:noFill/>
          <a:ln/>
        </p:spPr>
        <p:txBody>
          <a:bodyPr wrap="square" lIns="0" tIns="0" rIns="0" bIns="0" rtlCol="0" anchor="t"/>
          <a:lstStyle/>
          <a:p>
            <a:pPr indent="0" marL="0">
              <a:buNone/>
            </a:pPr>
            <a:r>
              <a:rPr lang="en-US" sz="1300" dirty="0">
                <a:solidFill>
                  <a:srgbClr val="94A6B3"/>
                </a:solidFill>
                <a:latin typeface="Consolas" pitchFamily="34" charset="0"/>
                <a:ea typeface="Consolas" pitchFamily="34" charset="-122"/>
                <a:cs typeface="Consolas" pitchFamily="34" charset="-120"/>
              </a:rPr>
              <a:t>21:03:08</a:t>
            </a:r>
            <a:endParaRPr lang="en-US" sz="1300" dirty="0"/>
          </a:p>
        </p:txBody>
      </p:sp>
      <p:sp>
        <p:nvSpPr>
          <p:cNvPr id="14" name="Text 12"/>
          <p:cNvSpPr txBox="1"/>
          <p:nvPr/>
        </p:nvSpPr>
        <p:spPr>
          <a:xfrm>
            <a:off x="2331720" y="3392424"/>
            <a:ext cx="3474720" cy="502920"/>
          </a:xfrm>
          <a:prstGeom prst="rect">
            <a:avLst/>
          </a:prstGeom>
          <a:noFill/>
          <a:ln/>
        </p:spPr>
        <p:txBody>
          <a:bodyPr wrap="square" lIns="0" tIns="0" rIns="0" bIns="0" rtlCol="0" anchor="t"/>
          <a:lstStyle/>
          <a:p>
            <a:pPr indent="0" marL="0">
              <a:buNone/>
            </a:pPr>
            <a:r>
              <a:rPr lang="en-US" sz="1400" dirty="0">
                <a:solidFill>
                  <a:srgbClr val="E3EBF0"/>
                </a:solidFill>
                <a:latin typeface="Calibri" pitchFamily="34" charset="0"/>
                <a:ea typeface="Calibri" pitchFamily="34" charset="-122"/>
                <a:cs typeface="Calibri" pitchFamily="34" charset="-120"/>
              </a:rPr>
              <a:t>Readme.txt opened (shortcut)</a:t>
            </a:r>
            <a:endParaRPr lang="en-US" sz="1400" dirty="0"/>
          </a:p>
        </p:txBody>
      </p:sp>
      <p:sp>
        <p:nvSpPr>
          <p:cNvPr id="15" name="Shape 13"/>
          <p:cNvSpPr/>
          <p:nvPr/>
        </p:nvSpPr>
        <p:spPr>
          <a:xfrm>
            <a:off x="996696" y="4059936"/>
            <a:ext cx="164592" cy="164592"/>
          </a:xfrm>
          <a:prstGeom prst="ellipse">
            <a:avLst/>
          </a:prstGeom>
          <a:solidFill>
            <a:srgbClr val="F0C04A"/>
          </a:solidFill>
          <a:ln w="12700">
            <a:solidFill>
              <a:srgbClr val="F0C04A"/>
            </a:solidFill>
            <a:prstDash val="solid"/>
          </a:ln>
        </p:spPr>
      </p:sp>
      <p:sp>
        <p:nvSpPr>
          <p:cNvPr id="16" name="Text 14"/>
          <p:cNvSpPr txBox="1"/>
          <p:nvPr/>
        </p:nvSpPr>
        <p:spPr>
          <a:xfrm>
            <a:off x="1325880" y="3995928"/>
            <a:ext cx="960120" cy="292608"/>
          </a:xfrm>
          <a:prstGeom prst="rect">
            <a:avLst/>
          </a:prstGeom>
          <a:noFill/>
          <a:ln/>
        </p:spPr>
        <p:txBody>
          <a:bodyPr wrap="square" lIns="0" tIns="0" rIns="0" bIns="0" rtlCol="0" anchor="t"/>
          <a:lstStyle/>
          <a:p>
            <a:pPr indent="0" marL="0">
              <a:buNone/>
            </a:pPr>
            <a:r>
              <a:rPr lang="en-US" sz="1300" dirty="0">
                <a:solidFill>
                  <a:srgbClr val="94A6B3"/>
                </a:solidFill>
                <a:latin typeface="Consolas" pitchFamily="34" charset="0"/>
                <a:ea typeface="Consolas" pitchFamily="34" charset="-122"/>
                <a:cs typeface="Consolas" pitchFamily="34" charset="-120"/>
              </a:rPr>
              <a:t>21:03:08</a:t>
            </a:r>
            <a:endParaRPr lang="en-US" sz="1300" dirty="0"/>
          </a:p>
        </p:txBody>
      </p:sp>
      <p:sp>
        <p:nvSpPr>
          <p:cNvPr id="17" name="Text 15"/>
          <p:cNvSpPr txBox="1"/>
          <p:nvPr/>
        </p:nvSpPr>
        <p:spPr>
          <a:xfrm>
            <a:off x="2331720" y="3995928"/>
            <a:ext cx="3474720" cy="502920"/>
          </a:xfrm>
          <a:prstGeom prst="rect">
            <a:avLst/>
          </a:prstGeom>
          <a:noFill/>
          <a:ln/>
        </p:spPr>
        <p:txBody>
          <a:bodyPr wrap="square" lIns="0" tIns="0" rIns="0" bIns="0" rtlCol="0" anchor="t"/>
          <a:lstStyle/>
          <a:p>
            <a:pPr indent="0" marL="0">
              <a:buNone/>
            </a:pPr>
            <a:r>
              <a:rPr lang="en-US" sz="1400" dirty="0">
                <a:solidFill>
                  <a:srgbClr val="E3EBF0"/>
                </a:solidFill>
                <a:latin typeface="Calibri" pitchFamily="34" charset="0"/>
                <a:ea typeface="Calibri" pitchFamily="34" charset="-122"/>
                <a:cs typeface="Calibri" pitchFamily="34" charset="-120"/>
              </a:rPr>
              <a:t>Readme.txt written to D:\Backup</a:t>
            </a:r>
            <a:endParaRPr lang="en-US" sz="1400" dirty="0"/>
          </a:p>
        </p:txBody>
      </p:sp>
      <p:sp>
        <p:nvSpPr>
          <p:cNvPr id="18" name="Shape 16"/>
          <p:cNvSpPr/>
          <p:nvPr/>
        </p:nvSpPr>
        <p:spPr>
          <a:xfrm>
            <a:off x="6190488" y="2103120"/>
            <a:ext cx="5394960" cy="4023360"/>
          </a:xfrm>
          <a:prstGeom prst="roundRect">
            <a:avLst>
              <a:gd name="adj" fmla="val 1818"/>
            </a:avLst>
          </a:prstGeom>
          <a:solidFill>
            <a:srgbClr val="16212A"/>
          </a:solidFill>
          <a:ln w="9525">
            <a:solidFill>
              <a:srgbClr val="2A3A46"/>
            </a:solidFill>
            <a:prstDash val="solid"/>
          </a:ln>
        </p:spPr>
      </p:sp>
      <p:sp>
        <p:nvSpPr>
          <p:cNvPr id="19" name="Shape 17"/>
          <p:cNvSpPr/>
          <p:nvPr/>
        </p:nvSpPr>
        <p:spPr>
          <a:xfrm>
            <a:off x="6510528" y="2331720"/>
            <a:ext cx="1417320" cy="274320"/>
          </a:xfrm>
          <a:prstGeom prst="roundRect">
            <a:avLst>
              <a:gd name="adj" fmla="val 16667"/>
            </a:avLst>
          </a:prstGeom>
          <a:solidFill>
            <a:srgbClr val="F08B78">
              <a:alpha val="18000"/>
            </a:srgbClr>
          </a:solidFill>
          <a:ln w="9525">
            <a:solidFill>
              <a:srgbClr val="F08B78"/>
            </a:solidFill>
            <a:prstDash val="solid"/>
          </a:ln>
        </p:spPr>
      </p:sp>
      <p:sp>
        <p:nvSpPr>
          <p:cNvPr id="20" name="Text 18"/>
          <p:cNvSpPr txBox="1"/>
          <p:nvPr/>
        </p:nvSpPr>
        <p:spPr>
          <a:xfrm>
            <a:off x="6510528" y="2331720"/>
            <a:ext cx="1417320" cy="274320"/>
          </a:xfrm>
          <a:prstGeom prst="rect">
            <a:avLst/>
          </a:prstGeom>
          <a:noFill/>
          <a:ln/>
        </p:spPr>
        <p:txBody>
          <a:bodyPr wrap="square" lIns="0" tIns="0" rIns="0" bIns="0" rtlCol="0" anchor="ctr"/>
          <a:lstStyle/>
          <a:p>
            <a:pPr algn="ctr" indent="0" marL="0">
              <a:buNone/>
            </a:pPr>
            <a:r>
              <a:rPr lang="en-US" sz="1000" dirty="0">
                <a:solidFill>
                  <a:srgbClr val="F08B78"/>
                </a:solidFill>
                <a:latin typeface="Consolas" pitchFamily="34" charset="0"/>
                <a:ea typeface="Consolas" pitchFamily="34" charset="-122"/>
                <a:cs typeface="Consolas" pitchFamily="34" charset="-120"/>
              </a:rPr>
              <a:t>EXPERIMENT B</a:t>
            </a:r>
            <a:endParaRPr lang="en-US" sz="1000" dirty="0"/>
          </a:p>
        </p:txBody>
      </p:sp>
      <p:sp>
        <p:nvSpPr>
          <p:cNvPr id="21" name="Shape 19"/>
          <p:cNvSpPr/>
          <p:nvPr/>
        </p:nvSpPr>
        <p:spPr>
          <a:xfrm>
            <a:off x="6720840" y="2907792"/>
            <a:ext cx="0" cy="2651760"/>
          </a:xfrm>
          <a:prstGeom prst="line">
            <a:avLst/>
          </a:prstGeom>
          <a:noFill/>
          <a:ln w="19050">
            <a:solidFill>
              <a:srgbClr val="2A3A46"/>
            </a:solidFill>
            <a:prstDash val="solid"/>
          </a:ln>
        </p:spPr>
      </p:sp>
      <p:sp>
        <p:nvSpPr>
          <p:cNvPr id="22" name="Shape 20"/>
          <p:cNvSpPr/>
          <p:nvPr/>
        </p:nvSpPr>
        <p:spPr>
          <a:xfrm>
            <a:off x="6638544" y="2852928"/>
            <a:ext cx="164592" cy="164592"/>
          </a:xfrm>
          <a:prstGeom prst="ellipse">
            <a:avLst/>
          </a:prstGeom>
          <a:solidFill>
            <a:srgbClr val="5CC0DD"/>
          </a:solidFill>
          <a:ln w="12700">
            <a:solidFill>
              <a:srgbClr val="5CC0DD"/>
            </a:solidFill>
            <a:prstDash val="solid"/>
          </a:ln>
        </p:spPr>
      </p:sp>
      <p:sp>
        <p:nvSpPr>
          <p:cNvPr id="23" name="Text 21"/>
          <p:cNvSpPr txBox="1"/>
          <p:nvPr/>
        </p:nvSpPr>
        <p:spPr>
          <a:xfrm>
            <a:off x="6967728" y="2788920"/>
            <a:ext cx="960120" cy="292608"/>
          </a:xfrm>
          <a:prstGeom prst="rect">
            <a:avLst/>
          </a:prstGeom>
          <a:noFill/>
          <a:ln/>
        </p:spPr>
        <p:txBody>
          <a:bodyPr wrap="square" lIns="0" tIns="0" rIns="0" bIns="0" rtlCol="0" anchor="t"/>
          <a:lstStyle/>
          <a:p>
            <a:pPr indent="0" marL="0">
              <a:buNone/>
            </a:pPr>
            <a:r>
              <a:rPr lang="en-US" sz="1300" dirty="0">
                <a:solidFill>
                  <a:srgbClr val="94A6B3"/>
                </a:solidFill>
                <a:latin typeface="Consolas" pitchFamily="34" charset="0"/>
                <a:ea typeface="Consolas" pitchFamily="34" charset="-122"/>
                <a:cs typeface="Consolas" pitchFamily="34" charset="-120"/>
              </a:rPr>
              <a:t>21:32:36</a:t>
            </a:r>
            <a:endParaRPr lang="en-US" sz="1300" dirty="0"/>
          </a:p>
        </p:txBody>
      </p:sp>
      <p:sp>
        <p:nvSpPr>
          <p:cNvPr id="24" name="Text 22"/>
          <p:cNvSpPr txBox="1"/>
          <p:nvPr/>
        </p:nvSpPr>
        <p:spPr>
          <a:xfrm>
            <a:off x="7973568" y="2788920"/>
            <a:ext cx="3474720" cy="502920"/>
          </a:xfrm>
          <a:prstGeom prst="rect">
            <a:avLst/>
          </a:prstGeom>
          <a:noFill/>
          <a:ln/>
        </p:spPr>
        <p:txBody>
          <a:bodyPr wrap="square" lIns="0" tIns="0" rIns="0" bIns="0" rtlCol="0" anchor="t"/>
          <a:lstStyle/>
          <a:p>
            <a:pPr indent="0" marL="0">
              <a:buNone/>
            </a:pPr>
            <a:r>
              <a:rPr lang="en-US" sz="1400" dirty="0">
                <a:solidFill>
                  <a:srgbClr val="E3EBF0"/>
                </a:solidFill>
                <a:latin typeface="Calibri" pitchFamily="34" charset="0"/>
                <a:ea typeface="Calibri" pitchFamily="34" charset="-122"/>
                <a:cs typeface="Calibri" pitchFamily="34" charset="-120"/>
              </a:rPr>
              <a:t>USB disk connected</a:t>
            </a:r>
            <a:endParaRPr lang="en-US" sz="1400" dirty="0"/>
          </a:p>
        </p:txBody>
      </p:sp>
      <p:sp>
        <p:nvSpPr>
          <p:cNvPr id="25" name="Shape 23"/>
          <p:cNvSpPr/>
          <p:nvPr/>
        </p:nvSpPr>
        <p:spPr>
          <a:xfrm>
            <a:off x="6638544" y="3456432"/>
            <a:ext cx="164592" cy="164592"/>
          </a:xfrm>
          <a:prstGeom prst="ellipse">
            <a:avLst/>
          </a:prstGeom>
          <a:solidFill>
            <a:srgbClr val="F0C04A"/>
          </a:solidFill>
          <a:ln w="12700">
            <a:solidFill>
              <a:srgbClr val="F0C04A"/>
            </a:solidFill>
            <a:prstDash val="solid"/>
          </a:ln>
        </p:spPr>
      </p:sp>
      <p:sp>
        <p:nvSpPr>
          <p:cNvPr id="26" name="Text 24"/>
          <p:cNvSpPr txBox="1"/>
          <p:nvPr/>
        </p:nvSpPr>
        <p:spPr>
          <a:xfrm>
            <a:off x="6967728" y="3392424"/>
            <a:ext cx="960120" cy="292608"/>
          </a:xfrm>
          <a:prstGeom prst="rect">
            <a:avLst/>
          </a:prstGeom>
          <a:noFill/>
          <a:ln/>
        </p:spPr>
        <p:txBody>
          <a:bodyPr wrap="square" lIns="0" tIns="0" rIns="0" bIns="0" rtlCol="0" anchor="t"/>
          <a:lstStyle/>
          <a:p>
            <a:pPr indent="0" marL="0">
              <a:buNone/>
            </a:pPr>
            <a:r>
              <a:rPr lang="en-US" sz="1300" dirty="0">
                <a:solidFill>
                  <a:srgbClr val="94A6B3"/>
                </a:solidFill>
                <a:latin typeface="Consolas" pitchFamily="34" charset="0"/>
                <a:ea typeface="Consolas" pitchFamily="34" charset="-122"/>
                <a:cs typeface="Consolas" pitchFamily="34" charset="-120"/>
              </a:rPr>
              <a:t>21:32:57</a:t>
            </a:r>
            <a:endParaRPr lang="en-US" sz="1300" dirty="0"/>
          </a:p>
        </p:txBody>
      </p:sp>
      <p:sp>
        <p:nvSpPr>
          <p:cNvPr id="27" name="Text 25"/>
          <p:cNvSpPr txBox="1"/>
          <p:nvPr/>
        </p:nvSpPr>
        <p:spPr>
          <a:xfrm>
            <a:off x="7973568" y="3392424"/>
            <a:ext cx="3474720" cy="502920"/>
          </a:xfrm>
          <a:prstGeom prst="rect">
            <a:avLst/>
          </a:prstGeom>
          <a:noFill/>
          <a:ln/>
        </p:spPr>
        <p:txBody>
          <a:bodyPr wrap="square" lIns="0" tIns="0" rIns="0" bIns="0" rtlCol="0" anchor="t"/>
          <a:lstStyle/>
          <a:p>
            <a:pPr indent="0" marL="0">
              <a:buNone/>
            </a:pPr>
            <a:r>
              <a:rPr lang="en-US" sz="1400" dirty="0">
                <a:solidFill>
                  <a:srgbClr val="E3EBF0"/>
                </a:solidFill>
                <a:latin typeface="Calibri" pitchFamily="34" charset="0"/>
                <a:ea typeface="Calibri" pitchFamily="34" charset="-122"/>
                <a:cs typeface="Calibri" pitchFamily="34" charset="-120"/>
              </a:rPr>
              <a:t>Salaries, customer and Apollo files opened</a:t>
            </a:r>
            <a:endParaRPr lang="en-US" sz="1400" dirty="0"/>
          </a:p>
        </p:txBody>
      </p:sp>
      <p:sp>
        <p:nvSpPr>
          <p:cNvPr id="28" name="Shape 26"/>
          <p:cNvSpPr/>
          <p:nvPr/>
        </p:nvSpPr>
        <p:spPr>
          <a:xfrm>
            <a:off x="6638544" y="4059936"/>
            <a:ext cx="164592" cy="164592"/>
          </a:xfrm>
          <a:prstGeom prst="ellipse">
            <a:avLst/>
          </a:prstGeom>
          <a:solidFill>
            <a:srgbClr val="F0C04A"/>
          </a:solidFill>
          <a:ln w="12700">
            <a:solidFill>
              <a:srgbClr val="F0C04A"/>
            </a:solidFill>
            <a:prstDash val="solid"/>
          </a:ln>
        </p:spPr>
      </p:sp>
      <p:sp>
        <p:nvSpPr>
          <p:cNvPr id="29" name="Text 27"/>
          <p:cNvSpPr txBox="1"/>
          <p:nvPr/>
        </p:nvSpPr>
        <p:spPr>
          <a:xfrm>
            <a:off x="6967728" y="3995928"/>
            <a:ext cx="960120" cy="292608"/>
          </a:xfrm>
          <a:prstGeom prst="rect">
            <a:avLst/>
          </a:prstGeom>
          <a:noFill/>
          <a:ln/>
        </p:spPr>
        <p:txBody>
          <a:bodyPr wrap="square" lIns="0" tIns="0" rIns="0" bIns="0" rtlCol="0" anchor="t"/>
          <a:lstStyle/>
          <a:p>
            <a:pPr indent="0" marL="0">
              <a:buNone/>
            </a:pPr>
            <a:r>
              <a:rPr lang="en-US" sz="1300" dirty="0">
                <a:solidFill>
                  <a:srgbClr val="94A6B3"/>
                </a:solidFill>
                <a:latin typeface="Consolas" pitchFamily="34" charset="0"/>
                <a:ea typeface="Consolas" pitchFamily="34" charset="-122"/>
                <a:cs typeface="Consolas" pitchFamily="34" charset="-120"/>
              </a:rPr>
              <a:t>21:32:57</a:t>
            </a:r>
            <a:endParaRPr lang="en-US" sz="1300" dirty="0"/>
          </a:p>
        </p:txBody>
      </p:sp>
      <p:sp>
        <p:nvSpPr>
          <p:cNvPr id="30" name="Text 28"/>
          <p:cNvSpPr txBox="1"/>
          <p:nvPr/>
        </p:nvSpPr>
        <p:spPr>
          <a:xfrm>
            <a:off x="7973568" y="3995928"/>
            <a:ext cx="3474720" cy="502920"/>
          </a:xfrm>
          <a:prstGeom prst="rect">
            <a:avLst/>
          </a:prstGeom>
          <a:noFill/>
          <a:ln/>
        </p:spPr>
        <p:txBody>
          <a:bodyPr wrap="square" lIns="0" tIns="0" rIns="0" bIns="0" rtlCol="0" anchor="t"/>
          <a:lstStyle/>
          <a:p>
            <a:pPr indent="0" marL="0">
              <a:buNone/>
            </a:pPr>
            <a:r>
              <a:rPr lang="en-US" sz="1400" dirty="0">
                <a:solidFill>
                  <a:srgbClr val="E3EBF0"/>
                </a:solidFill>
                <a:latin typeface="Calibri" pitchFamily="34" charset="0"/>
                <a:ea typeface="Calibri" pitchFamily="34" charset="-122"/>
                <a:cs typeface="Calibri" pitchFamily="34" charset="-120"/>
              </a:rPr>
              <a:t>Two sensitive files written to D:\Backup</a:t>
            </a:r>
            <a:endParaRPr lang="en-US" sz="1400" dirty="0"/>
          </a:p>
        </p:txBody>
      </p:sp>
      <p:sp>
        <p:nvSpPr>
          <p:cNvPr id="31" name="Shape 29"/>
          <p:cNvSpPr/>
          <p:nvPr/>
        </p:nvSpPr>
        <p:spPr>
          <a:xfrm>
            <a:off x="6638544" y="4663440"/>
            <a:ext cx="164592" cy="164592"/>
          </a:xfrm>
          <a:prstGeom prst="ellipse">
            <a:avLst/>
          </a:prstGeom>
          <a:solidFill>
            <a:srgbClr val="F08B78"/>
          </a:solidFill>
          <a:ln w="12700">
            <a:solidFill>
              <a:srgbClr val="F08B78"/>
            </a:solidFill>
            <a:prstDash val="solid"/>
          </a:ln>
        </p:spPr>
      </p:sp>
      <p:sp>
        <p:nvSpPr>
          <p:cNvPr id="32" name="Text 30"/>
          <p:cNvSpPr txBox="1"/>
          <p:nvPr/>
        </p:nvSpPr>
        <p:spPr>
          <a:xfrm>
            <a:off x="6967728" y="4599432"/>
            <a:ext cx="960120" cy="292608"/>
          </a:xfrm>
          <a:prstGeom prst="rect">
            <a:avLst/>
          </a:prstGeom>
          <a:noFill/>
          <a:ln/>
        </p:spPr>
        <p:txBody>
          <a:bodyPr wrap="square" lIns="0" tIns="0" rIns="0" bIns="0" rtlCol="0" anchor="t"/>
          <a:lstStyle/>
          <a:p>
            <a:pPr indent="0" marL="0">
              <a:buNone/>
            </a:pPr>
            <a:r>
              <a:rPr lang="en-US" sz="1300" dirty="0">
                <a:solidFill>
                  <a:srgbClr val="94A6B3"/>
                </a:solidFill>
                <a:latin typeface="Consolas" pitchFamily="34" charset="0"/>
                <a:ea typeface="Consolas" pitchFamily="34" charset="-122"/>
                <a:cs typeface="Consolas" pitchFamily="34" charset="-120"/>
              </a:rPr>
              <a:t>21:32:58</a:t>
            </a:r>
            <a:endParaRPr lang="en-US" sz="1300" dirty="0"/>
          </a:p>
        </p:txBody>
      </p:sp>
      <p:sp>
        <p:nvSpPr>
          <p:cNvPr id="33" name="Text 31"/>
          <p:cNvSpPr txBox="1"/>
          <p:nvPr/>
        </p:nvSpPr>
        <p:spPr>
          <a:xfrm>
            <a:off x="7973568" y="4599432"/>
            <a:ext cx="3474720" cy="502920"/>
          </a:xfrm>
          <a:prstGeom prst="rect">
            <a:avLst/>
          </a:prstGeom>
          <a:noFill/>
          <a:ln/>
        </p:spPr>
        <p:txBody>
          <a:bodyPr wrap="square" lIns="0" tIns="0" rIns="0" bIns="0" rtlCol="0" anchor="t"/>
          <a:lstStyle/>
          <a:p>
            <a:pPr indent="0" marL="0">
              <a:buNone/>
            </a:pPr>
            <a:r>
              <a:rPr lang="en-US" sz="1400" dirty="0">
                <a:solidFill>
                  <a:srgbClr val="E3EBF0"/>
                </a:solidFill>
                <a:latin typeface="Calibri" pitchFamily="34" charset="0"/>
                <a:ea typeface="Calibri" pitchFamily="34" charset="-122"/>
                <a:cs typeface="Calibri" pitchFamily="34" charset="-120"/>
              </a:rPr>
              <a:t>Project_Files.zip created on the USB</a:t>
            </a:r>
            <a:endParaRPr lang="en-US" sz="1400" dirty="0"/>
          </a:p>
        </p:txBody>
      </p:sp>
      <p:sp>
        <p:nvSpPr>
          <p:cNvPr id="34" name="Shape 32"/>
          <p:cNvSpPr/>
          <p:nvPr/>
        </p:nvSpPr>
        <p:spPr>
          <a:xfrm>
            <a:off x="6638544" y="5266944"/>
            <a:ext cx="164592" cy="164592"/>
          </a:xfrm>
          <a:prstGeom prst="ellipse">
            <a:avLst/>
          </a:prstGeom>
          <a:solidFill>
            <a:srgbClr val="F08B78"/>
          </a:solidFill>
          <a:ln w="12700">
            <a:solidFill>
              <a:srgbClr val="F08B78"/>
            </a:solidFill>
            <a:prstDash val="solid"/>
          </a:ln>
        </p:spPr>
      </p:sp>
      <p:sp>
        <p:nvSpPr>
          <p:cNvPr id="35" name="Text 33"/>
          <p:cNvSpPr txBox="1"/>
          <p:nvPr/>
        </p:nvSpPr>
        <p:spPr>
          <a:xfrm>
            <a:off x="6967728" y="5202936"/>
            <a:ext cx="960120" cy="292608"/>
          </a:xfrm>
          <a:prstGeom prst="rect">
            <a:avLst/>
          </a:prstGeom>
          <a:noFill/>
          <a:ln/>
        </p:spPr>
        <p:txBody>
          <a:bodyPr wrap="square" lIns="0" tIns="0" rIns="0" bIns="0" rtlCol="0" anchor="t"/>
          <a:lstStyle/>
          <a:p>
            <a:pPr indent="0" marL="0">
              <a:buNone/>
            </a:pPr>
            <a:r>
              <a:rPr lang="en-US" sz="1300" dirty="0">
                <a:solidFill>
                  <a:srgbClr val="94A6B3"/>
                </a:solidFill>
                <a:latin typeface="Consolas" pitchFamily="34" charset="0"/>
                <a:ea typeface="Consolas" pitchFamily="34" charset="-122"/>
                <a:cs typeface="Consolas" pitchFamily="34" charset="-120"/>
              </a:rPr>
              <a:t>21:32:59</a:t>
            </a:r>
            <a:endParaRPr lang="en-US" sz="1300" dirty="0"/>
          </a:p>
        </p:txBody>
      </p:sp>
      <p:sp>
        <p:nvSpPr>
          <p:cNvPr id="36" name="Text 34"/>
          <p:cNvSpPr txBox="1"/>
          <p:nvPr/>
        </p:nvSpPr>
        <p:spPr>
          <a:xfrm>
            <a:off x="7973568" y="5202936"/>
            <a:ext cx="3474720" cy="502920"/>
          </a:xfrm>
          <a:prstGeom prst="rect">
            <a:avLst/>
          </a:prstGeom>
          <a:noFill/>
          <a:ln/>
        </p:spPr>
        <p:txBody>
          <a:bodyPr wrap="square" lIns="0" tIns="0" rIns="0" bIns="0" rtlCol="0" anchor="t"/>
          <a:lstStyle/>
          <a:p>
            <a:pPr indent="0" marL="0">
              <a:buNone/>
            </a:pPr>
            <a:r>
              <a:rPr lang="en-US" sz="1400" dirty="0">
                <a:solidFill>
                  <a:srgbClr val="E3EBF0"/>
                </a:solidFill>
                <a:latin typeface="Calibri" pitchFamily="34" charset="0"/>
                <a:ea typeface="Calibri" pitchFamily="34" charset="-122"/>
                <a:cs typeface="Calibri" pitchFamily="34" charset="-120"/>
              </a:rPr>
              <a:t>Apollo copy moved to the Recycle Bin</a:t>
            </a:r>
            <a:endParaRPr lang="en-US" sz="1400" dirty="0"/>
          </a:p>
        </p:txBody>
      </p:sp>
      <p:sp>
        <p:nvSpPr>
          <p:cNvPr id="37" name="Text 35"/>
          <p:cNvSpPr txBox="1"/>
          <p:nvPr/>
        </p:nvSpPr>
        <p:spPr>
          <a:xfrm>
            <a:off x="6510528" y="5669280"/>
            <a:ext cx="4937760" cy="274320"/>
          </a:xfrm>
          <a:prstGeom prst="rect">
            <a:avLst/>
          </a:prstGeom>
          <a:noFill/>
          <a:ln/>
        </p:spPr>
        <p:txBody>
          <a:bodyPr wrap="square" lIns="0" tIns="0" rIns="0" bIns="0" rtlCol="0" anchor="t"/>
          <a:lstStyle/>
          <a:p>
            <a:pPr indent="0" marL="0">
              <a:buNone/>
            </a:pPr>
            <a:r>
              <a:rPr lang="en-US" sz="1300" i="1" dirty="0">
                <a:solidFill>
                  <a:srgbClr val="F0C04A"/>
                </a:solidFill>
                <a:latin typeface="Calibri" pitchFamily="34" charset="0"/>
                <a:ea typeface="Calibri" pitchFamily="34" charset="-122"/>
                <a:cs typeface="Calibri" pitchFamily="34" charset="-120"/>
              </a:rPr>
              <a:t>Open, copy, zip and delete within 3 seconds, inside the USB window.</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spc="300" kern="0" dirty="0">
                <a:solidFill>
                  <a:srgbClr val="5CC0DD"/>
                </a:solidFill>
                <a:latin typeface="Consolas" pitchFamily="34" charset="0"/>
                <a:ea typeface="Consolas" pitchFamily="34" charset="-122"/>
                <a:cs typeface="Consolas" pitchFamily="34" charset="-120"/>
              </a:rPr>
              <a:t>10 · RESULTS ON REAL EVIDENCE</a:t>
            </a:r>
            <a:endParaRPr lang="en-US" sz="1100" dirty="0"/>
          </a:p>
        </p:txBody>
      </p:sp>
      <p:sp>
        <p:nvSpPr>
          <p:cNvPr id="3" name="Text 1"/>
          <p:cNvSpPr/>
          <p:nvPr>
            <p:ph idx="101" type="title" hasCustomPrompt="1"/>
          </p:nvPr>
        </p:nvSpPr>
        <p:spPr>
          <a:xfrm>
            <a:off x="548640" y="749808"/>
            <a:ext cx="11094415" cy="777240"/>
          </a:xfrm>
          <a:prstGeom prst="rect">
            <a:avLst/>
          </a:prstGeom>
          <a:noFill/>
          <a:ln/>
        </p:spPr>
        <p:txBody>
          <a:bodyPr wrap="square" lIns="0" tIns="0" rIns="0" bIns="0" rtlCol="0" anchor="t"/>
          <a:lstStyle/>
          <a:p>
            <a:pPr algn="l" indent="0" marL="0">
              <a:buNone/>
            </a:pPr>
            <a:r>
              <a:rPr lang="en-US" sz="3000" b="1" dirty="0">
                <a:solidFill>
                  <a:srgbClr val="E3EBF0"/>
                </a:solidFill>
                <a:latin typeface="Cambria" pitchFamily="34" charset="0"/>
                <a:ea typeface="Cambria" pitchFamily="34" charset="-122"/>
                <a:cs typeface="Cambria" pitchFamily="34" charset="-120"/>
              </a:rPr>
              <a:t>Experiment B flagged, Experiment A cleared</a:t>
            </a:r>
            <a:endParaRPr lang="en-US" sz="3000" dirty="0"/>
          </a:p>
        </p:txBody>
      </p:sp>
      <p:sp>
        <p:nvSpPr>
          <p:cNvPr id="4" name="Shape 2"/>
          <p:cNvSpPr/>
          <p:nvPr/>
        </p:nvSpPr>
        <p:spPr>
          <a:xfrm>
            <a:off x="548640" y="1783080"/>
            <a:ext cx="6675120" cy="4343400"/>
          </a:xfrm>
          <a:prstGeom prst="roundRect">
            <a:avLst>
              <a:gd name="adj" fmla="val 1684"/>
            </a:avLst>
          </a:prstGeom>
          <a:solidFill>
            <a:srgbClr val="16212A"/>
          </a:solidFill>
          <a:ln w="9525">
            <a:solidFill>
              <a:srgbClr val="2A3A46"/>
            </a:solidFill>
            <a:prstDash val="solid"/>
          </a:ln>
        </p:spPr>
      </p:sp>
      <p:graphicFrame>
        <p:nvGraphicFramePr>
          <p:cNvPr id="5" name="Chart 0" descr=""/>
          <p:cNvGraphicFramePr/>
          <p:nvPr/>
        </p:nvGraphicFramePr>
        <p:xfrm>
          <a:off x="731520" y="1920240"/>
          <a:ext cx="6309360" cy="40690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452360" y="1783080"/>
            <a:ext cx="4187952" cy="1965960"/>
          </a:xfrm>
          <a:prstGeom prst="roundRect">
            <a:avLst>
              <a:gd name="adj" fmla="val 3721"/>
            </a:avLst>
          </a:prstGeom>
          <a:solidFill>
            <a:srgbClr val="1C2A35"/>
          </a:solidFill>
          <a:ln w="9525">
            <a:solidFill>
              <a:srgbClr val="2A3A46"/>
            </a:solidFill>
            <a:prstDash val="solid"/>
          </a:ln>
        </p:spPr>
      </p:sp>
      <p:sp>
        <p:nvSpPr>
          <p:cNvPr id="7" name="Shape 4"/>
          <p:cNvSpPr/>
          <p:nvPr/>
        </p:nvSpPr>
        <p:spPr>
          <a:xfrm>
            <a:off x="7726680" y="2057400"/>
            <a:ext cx="1417320" cy="274320"/>
          </a:xfrm>
          <a:prstGeom prst="roundRect">
            <a:avLst>
              <a:gd name="adj" fmla="val 16667"/>
            </a:avLst>
          </a:prstGeom>
          <a:solidFill>
            <a:srgbClr val="5CC0DD">
              <a:alpha val="18000"/>
            </a:srgbClr>
          </a:solidFill>
          <a:ln w="9525">
            <a:solidFill>
              <a:srgbClr val="5CC0DD"/>
            </a:solidFill>
            <a:prstDash val="solid"/>
          </a:ln>
        </p:spPr>
      </p:sp>
      <p:sp>
        <p:nvSpPr>
          <p:cNvPr id="8" name="Text 5"/>
          <p:cNvSpPr txBox="1"/>
          <p:nvPr/>
        </p:nvSpPr>
        <p:spPr>
          <a:xfrm>
            <a:off x="7726680" y="2057400"/>
            <a:ext cx="1417320" cy="274320"/>
          </a:xfrm>
          <a:prstGeom prst="rect">
            <a:avLst/>
          </a:prstGeom>
          <a:noFill/>
          <a:ln/>
        </p:spPr>
        <p:txBody>
          <a:bodyPr wrap="square" lIns="0" tIns="0" rIns="0" bIns="0" rtlCol="0" anchor="ctr"/>
          <a:lstStyle/>
          <a:p>
            <a:pPr algn="ctr" indent="0" marL="0">
              <a:buNone/>
            </a:pPr>
            <a:r>
              <a:rPr lang="en-US" sz="1000" dirty="0">
                <a:solidFill>
                  <a:srgbClr val="5CC0DD"/>
                </a:solidFill>
                <a:latin typeface="Consolas" pitchFamily="34" charset="0"/>
                <a:ea typeface="Consolas" pitchFamily="34" charset="-122"/>
                <a:cs typeface="Consolas" pitchFamily="34" charset="-120"/>
              </a:rPr>
              <a:t>EXPERIMENT A</a:t>
            </a:r>
            <a:endParaRPr lang="en-US" sz="1000" dirty="0"/>
          </a:p>
        </p:txBody>
      </p:sp>
      <p:pic>
        <p:nvPicPr>
          <p:cNvPr id="9" name="Image 0" descr="preencoded.png">    </p:cNvPr>
          <p:cNvPicPr>
            <a:picLocks noChangeAspect="1"/>
          </p:cNvPicPr>
          <p:nvPr/>
        </p:nvPicPr>
        <p:blipFill>
          <a:blip r:embed="rId2"/>
          <a:stretch>
            <a:fillRect/>
          </a:stretch>
        </p:blipFill>
        <p:spPr>
          <a:xfrm>
            <a:off x="11018520" y="2039112"/>
            <a:ext cx="365760" cy="365760"/>
          </a:xfrm>
          <a:prstGeom prst="rect">
            <a:avLst/>
          </a:prstGeom>
        </p:spPr>
      </p:pic>
      <p:sp>
        <p:nvSpPr>
          <p:cNvPr id="10" name="Text 6"/>
          <p:cNvSpPr txBox="1"/>
          <p:nvPr/>
        </p:nvSpPr>
        <p:spPr>
          <a:xfrm>
            <a:off x="7726680" y="2514600"/>
            <a:ext cx="3657600" cy="457200"/>
          </a:xfrm>
          <a:prstGeom prst="rect">
            <a:avLst/>
          </a:prstGeom>
          <a:noFill/>
          <a:ln/>
        </p:spPr>
        <p:txBody>
          <a:bodyPr wrap="square" lIns="0" tIns="0" rIns="0" bIns="0" rtlCol="0" anchor="t"/>
          <a:lstStyle/>
          <a:p>
            <a:pPr indent="0" marL="0">
              <a:buNone/>
            </a:pPr>
            <a:r>
              <a:rPr lang="en-US" sz="2200" b="1" dirty="0">
                <a:solidFill>
                  <a:srgbClr val="5CC0DD"/>
                </a:solidFill>
                <a:latin typeface="Cambria" pitchFamily="34" charset="0"/>
                <a:ea typeface="Cambria" pitchFamily="34" charset="-122"/>
                <a:cs typeface="Cambria" pitchFamily="34" charset="-120"/>
              </a:rPr>
              <a:t>No transfer flagged</a:t>
            </a:r>
            <a:endParaRPr lang="en-US" sz="2200" dirty="0"/>
          </a:p>
        </p:txBody>
      </p:sp>
      <p:sp>
        <p:nvSpPr>
          <p:cNvPr id="11" name="Text 7"/>
          <p:cNvSpPr txBox="1"/>
          <p:nvPr/>
        </p:nvSpPr>
        <p:spPr>
          <a:xfrm>
            <a:off x="7726680" y="3017520"/>
            <a:ext cx="3657600" cy="548640"/>
          </a:xfrm>
          <a:prstGeom prst="rect">
            <a:avLst/>
          </a:prstGeom>
          <a:noFill/>
          <a:ln/>
        </p:spPr>
        <p:txBody>
          <a:bodyPr wrap="square" lIns="0" tIns="0" rIns="0" bIns="0" rtlCol="0" anchor="t"/>
          <a:lstStyle/>
          <a:p>
            <a:pPr indent="0" marL="0">
              <a:buNone/>
            </a:pPr>
            <a:r>
              <a:rPr lang="en-US" sz="1400" dirty="0">
                <a:solidFill>
                  <a:srgbClr val="94A6B3"/>
                </a:solidFill>
                <a:latin typeface="Calibri" pitchFamily="34" charset="0"/>
                <a:ea typeface="Calibri" pitchFamily="34" charset="-122"/>
                <a:cs typeface="Calibri" pitchFamily="34" charset="-120"/>
              </a:rPr>
              <a:t>USB used, but no sensitive file reached the drive</a:t>
            </a:r>
            <a:endParaRPr lang="en-US" sz="1400" dirty="0"/>
          </a:p>
        </p:txBody>
      </p:sp>
      <p:sp>
        <p:nvSpPr>
          <p:cNvPr id="12" name="Shape 8"/>
          <p:cNvSpPr/>
          <p:nvPr/>
        </p:nvSpPr>
        <p:spPr>
          <a:xfrm>
            <a:off x="7452360" y="4023360"/>
            <a:ext cx="4187952" cy="1965960"/>
          </a:xfrm>
          <a:prstGeom prst="roundRect">
            <a:avLst>
              <a:gd name="adj" fmla="val 3721"/>
            </a:avLst>
          </a:prstGeom>
          <a:solidFill>
            <a:srgbClr val="1C2A35"/>
          </a:solidFill>
          <a:ln w="9525">
            <a:solidFill>
              <a:srgbClr val="2A3A46"/>
            </a:solidFill>
            <a:prstDash val="solid"/>
          </a:ln>
        </p:spPr>
      </p:sp>
      <p:sp>
        <p:nvSpPr>
          <p:cNvPr id="13" name="Shape 9"/>
          <p:cNvSpPr/>
          <p:nvPr/>
        </p:nvSpPr>
        <p:spPr>
          <a:xfrm>
            <a:off x="7726680" y="4297680"/>
            <a:ext cx="1417320" cy="274320"/>
          </a:xfrm>
          <a:prstGeom prst="roundRect">
            <a:avLst>
              <a:gd name="adj" fmla="val 16667"/>
            </a:avLst>
          </a:prstGeom>
          <a:solidFill>
            <a:srgbClr val="F08B78">
              <a:alpha val="18000"/>
            </a:srgbClr>
          </a:solidFill>
          <a:ln w="9525">
            <a:solidFill>
              <a:srgbClr val="F08B78"/>
            </a:solidFill>
            <a:prstDash val="solid"/>
          </a:ln>
        </p:spPr>
      </p:sp>
      <p:sp>
        <p:nvSpPr>
          <p:cNvPr id="14" name="Text 10"/>
          <p:cNvSpPr txBox="1"/>
          <p:nvPr/>
        </p:nvSpPr>
        <p:spPr>
          <a:xfrm>
            <a:off x="7726680" y="4297680"/>
            <a:ext cx="1417320" cy="274320"/>
          </a:xfrm>
          <a:prstGeom prst="rect">
            <a:avLst/>
          </a:prstGeom>
          <a:noFill/>
          <a:ln/>
        </p:spPr>
        <p:txBody>
          <a:bodyPr wrap="square" lIns="0" tIns="0" rIns="0" bIns="0" rtlCol="0" anchor="ctr"/>
          <a:lstStyle/>
          <a:p>
            <a:pPr algn="ctr" indent="0" marL="0">
              <a:buNone/>
            </a:pPr>
            <a:r>
              <a:rPr lang="en-US" sz="1000" dirty="0">
                <a:solidFill>
                  <a:srgbClr val="F08B78"/>
                </a:solidFill>
                <a:latin typeface="Consolas" pitchFamily="34" charset="0"/>
                <a:ea typeface="Consolas" pitchFamily="34" charset="-122"/>
                <a:cs typeface="Consolas" pitchFamily="34" charset="-120"/>
              </a:rPr>
              <a:t>EXPERIMENT B</a:t>
            </a:r>
            <a:endParaRPr lang="en-US" sz="1000" dirty="0"/>
          </a:p>
        </p:txBody>
      </p:sp>
      <p:pic>
        <p:nvPicPr>
          <p:cNvPr id="15" name="Image 1" descr="preencoded.png">    </p:cNvPr>
          <p:cNvPicPr>
            <a:picLocks noChangeAspect="1"/>
          </p:cNvPicPr>
          <p:nvPr/>
        </p:nvPicPr>
        <p:blipFill>
          <a:blip r:embed="rId3"/>
          <a:stretch>
            <a:fillRect/>
          </a:stretch>
        </p:blipFill>
        <p:spPr>
          <a:xfrm>
            <a:off x="11018520" y="4279392"/>
            <a:ext cx="365760" cy="365760"/>
          </a:xfrm>
          <a:prstGeom prst="rect">
            <a:avLst/>
          </a:prstGeom>
        </p:spPr>
      </p:pic>
      <p:sp>
        <p:nvSpPr>
          <p:cNvPr id="16" name="Text 11"/>
          <p:cNvSpPr txBox="1"/>
          <p:nvPr/>
        </p:nvSpPr>
        <p:spPr>
          <a:xfrm>
            <a:off x="7726680" y="4754880"/>
            <a:ext cx="3657600" cy="457200"/>
          </a:xfrm>
          <a:prstGeom prst="rect">
            <a:avLst/>
          </a:prstGeom>
          <a:noFill/>
          <a:ln/>
        </p:spPr>
        <p:txBody>
          <a:bodyPr wrap="square" lIns="0" tIns="0" rIns="0" bIns="0" rtlCol="0" anchor="t"/>
          <a:lstStyle/>
          <a:p>
            <a:pPr indent="0" marL="0">
              <a:buNone/>
            </a:pPr>
            <a:r>
              <a:rPr lang="en-US" sz="2200" b="1" dirty="0">
                <a:solidFill>
                  <a:srgbClr val="F08B78"/>
                </a:solidFill>
                <a:latin typeface="Cambria" pitchFamily="34" charset="0"/>
                <a:ea typeface="Cambria" pitchFamily="34" charset="-122"/>
                <a:cs typeface="Cambria" pitchFamily="34" charset="-120"/>
              </a:rPr>
              <a:t>Possible transfer: HIGH</a:t>
            </a:r>
            <a:endParaRPr lang="en-US" sz="2200" dirty="0"/>
          </a:p>
        </p:txBody>
      </p:sp>
      <p:sp>
        <p:nvSpPr>
          <p:cNvPr id="17" name="Text 12"/>
          <p:cNvSpPr txBox="1"/>
          <p:nvPr/>
        </p:nvSpPr>
        <p:spPr>
          <a:xfrm>
            <a:off x="7726680" y="5257800"/>
            <a:ext cx="3657600" cy="548640"/>
          </a:xfrm>
          <a:prstGeom prst="rect">
            <a:avLst/>
          </a:prstGeom>
          <a:noFill/>
          <a:ln/>
        </p:spPr>
        <p:txBody>
          <a:bodyPr wrap="square" lIns="0" tIns="0" rIns="0" bIns="0" rtlCol="0" anchor="t"/>
          <a:lstStyle/>
          <a:p>
            <a:pPr indent="0" marL="0">
              <a:buNone/>
            </a:pPr>
            <a:r>
              <a:rPr lang="en-US" sz="1400" dirty="0">
                <a:solidFill>
                  <a:srgbClr val="94A6B3"/>
                </a:solidFill>
                <a:latin typeface="Calibri" pitchFamily="34" charset="0"/>
                <a:ea typeface="Calibri" pitchFamily="34" charset="-122"/>
                <a:cs typeface="Calibri" pitchFamily="34" charset="-120"/>
              </a:rPr>
              <a:t>CORR-005 links 9 real records inside the USB window</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spc="300" kern="0" dirty="0">
                <a:solidFill>
                  <a:srgbClr val="5CC0DD"/>
                </a:solidFill>
                <a:latin typeface="Consolas" pitchFamily="34" charset="0"/>
                <a:ea typeface="Consolas" pitchFamily="34" charset="-122"/>
                <a:cs typeface="Consolas" pitchFamily="34" charset="-120"/>
              </a:rPr>
              <a:t>11 · CONSISTENCY CHECK</a:t>
            </a:r>
            <a:endParaRPr lang="en-US" sz="1100" dirty="0"/>
          </a:p>
        </p:txBody>
      </p:sp>
      <p:sp>
        <p:nvSpPr>
          <p:cNvPr id="3" name="Text 1"/>
          <p:cNvSpPr/>
          <p:nvPr>
            <p:ph idx="101" type="title" hasCustomPrompt="1"/>
          </p:nvPr>
        </p:nvSpPr>
        <p:spPr>
          <a:xfrm>
            <a:off x="548640" y="749808"/>
            <a:ext cx="11094415" cy="777240"/>
          </a:xfrm>
          <a:prstGeom prst="rect">
            <a:avLst/>
          </a:prstGeom>
          <a:noFill/>
          <a:ln/>
        </p:spPr>
        <p:txBody>
          <a:bodyPr wrap="square" lIns="0" tIns="0" rIns="0" bIns="0" rtlCol="0" anchor="t"/>
          <a:lstStyle/>
          <a:p>
            <a:pPr algn="l" indent="0" marL="0">
              <a:buNone/>
            </a:pPr>
            <a:r>
              <a:rPr lang="en-US" sz="3000" b="1" dirty="0">
                <a:solidFill>
                  <a:srgbClr val="E3EBF0"/>
                </a:solidFill>
                <a:latin typeface="Cambria" pitchFamily="34" charset="0"/>
                <a:ea typeface="Cambria" pitchFamily="34" charset="-122"/>
                <a:cs typeface="Cambria" pitchFamily="34" charset="-120"/>
              </a:rPr>
              <a:t>Same rules, three kinds of evidence, right every time</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657600"/>
                <a:gridCol w="1417320"/>
                <a:gridCol w="1554480"/>
                <a:gridCol w="1874520"/>
                <a:gridCol w="1280160"/>
                <a:gridCol w="1307592"/>
              </a:tblGrid>
              <a:tr h="411480">
                <a:tc>
                  <a:txBody>
                    <a:bodyPr/>
                    <a:lstStyle/>
                    <a:p>
                      <a:pPr indent="0" marL="0">
                        <a:buNone/>
                      </a:pPr>
                      <a:r>
                        <a:rPr lang="en-US" sz="1200" b="1" dirty="0">
                          <a:solidFill>
                            <a:srgbClr val="94A6B3"/>
                          </a:solidFill>
                          <a:latin typeface="Consolas" pitchFamily="34" charset="0"/>
                          <a:ea typeface="Consolas" pitchFamily="34" charset="-122"/>
                          <a:cs typeface="Consolas" pitchFamily="34" charset="-120"/>
                        </a:rPr>
                        <a:t>Evidence</a:t>
                      </a:r>
                      <a:endParaRPr lang="en-US" sz="12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0E161D"/>
                    </a:solidFill>
                  </a:tcPr>
                </a:tc>
                <a:tc>
                  <a:txBody>
                    <a:bodyPr/>
                    <a:lstStyle/>
                    <a:p>
                      <a:pPr indent="0" marL="0">
                        <a:buNone/>
                      </a:pPr>
                      <a:r>
                        <a:rPr lang="en-US" sz="1200" b="1" dirty="0">
                          <a:solidFill>
                            <a:srgbClr val="94A6B3"/>
                          </a:solidFill>
                          <a:latin typeface="Consolas" pitchFamily="34" charset="0"/>
                          <a:ea typeface="Consolas" pitchFamily="34" charset="-122"/>
                          <a:cs typeface="Consolas" pitchFamily="34" charset="-120"/>
                        </a:rPr>
                        <a:t>H1 USB used</a:t>
                      </a:r>
                      <a:endParaRPr lang="en-US" sz="12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0E161D"/>
                    </a:solidFill>
                  </a:tcPr>
                </a:tc>
                <a:tc>
                  <a:txBody>
                    <a:bodyPr/>
                    <a:lstStyle/>
                    <a:p>
                      <a:pPr indent="0" marL="0">
                        <a:buNone/>
                      </a:pPr>
                      <a:r>
                        <a:rPr lang="en-US" sz="1200" b="1" dirty="0">
                          <a:solidFill>
                            <a:srgbClr val="94A6B3"/>
                          </a:solidFill>
                          <a:latin typeface="Consolas" pitchFamily="34" charset="0"/>
                          <a:ea typeface="Consolas" pitchFamily="34" charset="-122"/>
                          <a:cs typeface="Consolas" pitchFamily="34" charset="-120"/>
                        </a:rPr>
                        <a:t>H2 Files opened</a:t>
                      </a:r>
                      <a:endParaRPr lang="en-US" sz="12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0E161D"/>
                    </a:solidFill>
                  </a:tcPr>
                </a:tc>
                <a:tc>
                  <a:txBody>
                    <a:bodyPr/>
                    <a:lstStyle/>
                    <a:p>
                      <a:pPr indent="0" marL="0">
                        <a:buNone/>
                      </a:pPr>
                      <a:r>
                        <a:rPr lang="en-US" sz="1200" b="1" dirty="0">
                          <a:solidFill>
                            <a:srgbClr val="94A6B3"/>
                          </a:solidFill>
                          <a:latin typeface="Consolas" pitchFamily="34" charset="0"/>
                          <a:ea typeface="Consolas" pitchFamily="34" charset="-122"/>
                          <a:cs typeface="Consolas" pitchFamily="34" charset="-120"/>
                        </a:rPr>
                        <a:t>H3 Copied to USB</a:t>
                      </a:r>
                      <a:endParaRPr lang="en-US" sz="12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0E161D"/>
                    </a:solidFill>
                  </a:tcPr>
                </a:tc>
                <a:tc>
                  <a:txBody>
                    <a:bodyPr/>
                    <a:lstStyle/>
                    <a:p>
                      <a:pPr indent="0" marL="0">
                        <a:buNone/>
                      </a:pPr>
                      <a:r>
                        <a:rPr lang="en-US" sz="1200" b="1" dirty="0">
                          <a:solidFill>
                            <a:srgbClr val="94A6B3"/>
                          </a:solidFill>
                          <a:latin typeface="Consolas" pitchFamily="34" charset="0"/>
                          <a:ea typeface="Consolas" pitchFamily="34" charset="-122"/>
                          <a:cs typeface="Consolas" pitchFamily="34" charset="-120"/>
                        </a:rPr>
                        <a:t>H4 Hidden</a:t>
                      </a:r>
                      <a:endParaRPr lang="en-US" sz="12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0E161D"/>
                    </a:solidFill>
                  </a:tcPr>
                </a:tc>
                <a:tc>
                  <a:txBody>
                    <a:bodyPr/>
                    <a:lstStyle/>
                    <a:p>
                      <a:pPr indent="0" marL="0">
                        <a:buNone/>
                      </a:pPr>
                      <a:r>
                        <a:rPr lang="en-US" sz="1200" b="1" dirty="0">
                          <a:solidFill>
                            <a:srgbClr val="94A6B3"/>
                          </a:solidFill>
                          <a:latin typeface="Consolas" pitchFamily="34" charset="0"/>
                          <a:ea typeface="Consolas" pitchFamily="34" charset="-122"/>
                          <a:cs typeface="Consolas" pitchFamily="34" charset="-120"/>
                        </a:rPr>
                        <a:t>Score</a:t>
                      </a:r>
                      <a:endParaRPr lang="en-US" sz="12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0E161D"/>
                    </a:solidFill>
                  </a:tcPr>
                </a:tc>
              </a:tr>
              <a:tr h="777240">
                <a:tc>
                  <a:txBody>
                    <a:bodyPr/>
                    <a:lstStyle/>
                    <a:p>
                      <a:pPr indent="0" marL="0">
                        <a:buNone/>
                      </a:pPr>
                      <a:r>
                        <a:rPr lang="en-US" sz="1400" b="1" dirty="0">
                          <a:solidFill>
                            <a:srgbClr val="E3EBF0"/>
                          </a:solidFill>
                          <a:latin typeface="Calibri" pitchFamily="34" charset="0"/>
                          <a:ea typeface="Calibri" pitchFamily="34" charset="-122"/>
                          <a:cs typeface="Calibri" pitchFamily="34" charset="-120"/>
                        </a:rPr>
                        <a:t>Designed dataset, answer known in advance</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b="1" dirty="0">
                          <a:solidFill>
                            <a:srgbClr val="6FCF97"/>
                          </a:solidFill>
                          <a:latin typeface="Calibri" pitchFamily="34" charset="0"/>
                          <a:ea typeface="Calibri" pitchFamily="34" charset="-122"/>
                          <a:cs typeface="Calibri" pitchFamily="34" charset="-120"/>
                        </a:rPr>
                        <a:t>Supported</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b="1" dirty="0">
                          <a:solidFill>
                            <a:srgbClr val="6FCF97"/>
                          </a:solidFill>
                          <a:latin typeface="Calibri" pitchFamily="34" charset="0"/>
                          <a:ea typeface="Calibri" pitchFamily="34" charset="-122"/>
                          <a:cs typeface="Calibri" pitchFamily="34" charset="-120"/>
                        </a:rPr>
                        <a:t>Supported</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b="1" dirty="0">
                          <a:solidFill>
                            <a:srgbClr val="6FCF97"/>
                          </a:solidFill>
                          <a:latin typeface="Calibri" pitchFamily="34" charset="0"/>
                          <a:ea typeface="Calibri" pitchFamily="34" charset="-122"/>
                          <a:cs typeface="Calibri" pitchFamily="34" charset="-120"/>
                        </a:rPr>
                        <a:t>Supported</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b="1" dirty="0">
                          <a:solidFill>
                            <a:srgbClr val="F0C04A"/>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dirty="0">
                          <a:solidFill>
                            <a:srgbClr val="E3EBF0"/>
                          </a:solidFill>
                          <a:latin typeface="Consolas" pitchFamily="34" charset="0"/>
                          <a:ea typeface="Consolas" pitchFamily="34" charset="-122"/>
                          <a:cs typeface="Consolas" pitchFamily="34" charset="-120"/>
                        </a:rPr>
                        <a:t>13 / 13</a:t>
                      </a:r>
                      <a:endParaRPr lang="en-US" sz="14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r>
              <a:tr h="777240">
                <a:tc>
                  <a:txBody>
                    <a:bodyPr/>
                    <a:lstStyle/>
                    <a:p>
                      <a:pPr indent="0" marL="0">
                        <a:buNone/>
                      </a:pPr>
                      <a:r>
                        <a:rPr lang="en-US" sz="1400" b="1" dirty="0">
                          <a:solidFill>
                            <a:srgbClr val="E3EBF0"/>
                          </a:solidFill>
                          <a:latin typeface="Calibri" pitchFamily="34" charset="0"/>
                          <a:ea typeface="Calibri" pitchFamily="34" charset="-122"/>
                          <a:cs typeface="Calibri" pitchFamily="34" charset="-120"/>
                        </a:rPr>
                        <a:t>Real run of A and B on the laptop</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b="1" dirty="0">
                          <a:solidFill>
                            <a:srgbClr val="6FCF97"/>
                          </a:solidFill>
                          <a:latin typeface="Calibri" pitchFamily="34" charset="0"/>
                          <a:ea typeface="Calibri" pitchFamily="34" charset="-122"/>
                          <a:cs typeface="Calibri" pitchFamily="34" charset="-120"/>
                        </a:rPr>
                        <a:t>Supported</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b="1" dirty="0">
                          <a:solidFill>
                            <a:srgbClr val="6FCF97"/>
                          </a:solidFill>
                          <a:latin typeface="Calibri" pitchFamily="34" charset="0"/>
                          <a:ea typeface="Calibri" pitchFamily="34" charset="-122"/>
                          <a:cs typeface="Calibri" pitchFamily="34" charset="-120"/>
                        </a:rPr>
                        <a:t>Supported</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b="1" dirty="0">
                          <a:solidFill>
                            <a:srgbClr val="6FCF97"/>
                          </a:solidFill>
                          <a:latin typeface="Calibri" pitchFamily="34" charset="0"/>
                          <a:ea typeface="Calibri" pitchFamily="34" charset="-122"/>
                          <a:cs typeface="Calibri" pitchFamily="34" charset="-120"/>
                        </a:rPr>
                        <a:t>Supported (B only)</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b="1" dirty="0">
                          <a:solidFill>
                            <a:srgbClr val="F0C04A"/>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dirty="0">
                          <a:solidFill>
                            <a:srgbClr val="E3EBF0"/>
                          </a:solidFill>
                          <a:latin typeface="Consolas" pitchFamily="34" charset="0"/>
                          <a:ea typeface="Consolas" pitchFamily="34" charset="-122"/>
                          <a:cs typeface="Consolas" pitchFamily="34" charset="-120"/>
                        </a:rPr>
                        <a:t>13 / 13</a:t>
                      </a:r>
                      <a:endParaRPr lang="en-US" sz="14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r>
              <a:tr h="777240">
                <a:tc>
                  <a:txBody>
                    <a:bodyPr/>
                    <a:lstStyle/>
                    <a:p>
                      <a:pPr indent="0" marL="0">
                        <a:buNone/>
                      </a:pPr>
                      <a:r>
                        <a:rPr lang="en-US" sz="1400" b="1" dirty="0">
                          <a:solidFill>
                            <a:srgbClr val="E3EBF0"/>
                          </a:solidFill>
                          <a:latin typeface="Calibri" pitchFamily="34" charset="0"/>
                          <a:ea typeface="Calibri" pitchFamily="34" charset="-122"/>
                          <a:cs typeface="Calibri" pitchFamily="34" charset="-120"/>
                        </a:rPr>
                        <a:t>Same laptop, 30 days, no experiment</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b="1" dirty="0">
                          <a:solidFill>
                            <a:srgbClr val="6FCF97"/>
                          </a:solidFill>
                          <a:latin typeface="Calibri" pitchFamily="34" charset="0"/>
                          <a:ea typeface="Calibri" pitchFamily="34" charset="-122"/>
                          <a:cs typeface="Calibri" pitchFamily="34" charset="-120"/>
                        </a:rPr>
                        <a:t>Supported</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dirty="0">
                          <a:solidFill>
                            <a:srgbClr val="94A6B3"/>
                          </a:solidFill>
                          <a:latin typeface="Calibri" pitchFamily="34" charset="0"/>
                          <a:ea typeface="Calibri" pitchFamily="34" charset="-122"/>
                          <a:cs typeface="Calibri" pitchFamily="34" charset="-120"/>
                        </a:rPr>
                        <a:t>Not supported</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dirty="0">
                          <a:solidFill>
                            <a:srgbClr val="94A6B3"/>
                          </a:solidFill>
                          <a:latin typeface="Calibri" pitchFamily="34" charset="0"/>
                          <a:ea typeface="Calibri" pitchFamily="34" charset="-122"/>
                          <a:cs typeface="Calibri" pitchFamily="34" charset="-120"/>
                        </a:rPr>
                        <a:t>Not supported</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b="1" dirty="0">
                          <a:solidFill>
                            <a:srgbClr val="F0C04A"/>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c>
                  <a:txBody>
                    <a:bodyPr/>
                    <a:lstStyle/>
                    <a:p>
                      <a:pPr indent="0" marL="0">
                        <a:buNone/>
                      </a:pPr>
                      <a:r>
                        <a:rPr lang="en-US" sz="1400" dirty="0">
                          <a:solidFill>
                            <a:srgbClr val="E3EBF0"/>
                          </a:solidFill>
                          <a:latin typeface="Consolas" pitchFamily="34" charset="0"/>
                          <a:ea typeface="Consolas" pitchFamily="34" charset="-122"/>
                          <a:cs typeface="Consolas" pitchFamily="34" charset="-120"/>
                        </a:rPr>
                        <a:t>2 / 13</a:t>
                      </a:r>
                      <a:endParaRPr lang="en-US" sz="1400" dirty="0">
                        <a:latin typeface="Consolas" charset="0"/>
                        <a:ea typeface="Consolas" charset="0"/>
                        <a:cs typeface="Consolas" charset="0"/>
                      </a:endParaRPr>
                    </a:p>
                  </a:txBody>
                  <a:tcPr marL="109728" marR="109728" marT="54864" marB="54864" anchor="ctr">
                    <a:lnL w="9525" cap="flat" cmpd="sng" algn="ctr">
                      <a:solidFill>
                        <a:srgbClr val="2A3A46"/>
                      </a:solidFill>
                      <a:prstDash val="solid"/>
                      <a:round/>
                      <a:headEnd type="none" w="med" len="med"/>
                      <a:tailEnd type="none" w="med" len="med"/>
                    </a:lnL>
                    <a:lnR w="9525" cap="flat" cmpd="sng" algn="ctr">
                      <a:solidFill>
                        <a:srgbClr val="2A3A46"/>
                      </a:solidFill>
                      <a:prstDash val="solid"/>
                      <a:round/>
                      <a:headEnd type="none" w="med" len="med"/>
                      <a:tailEnd type="none" w="med" len="med"/>
                    </a:lnR>
                    <a:lnT w="9525" cap="flat" cmpd="sng" algn="ctr">
                      <a:solidFill>
                        <a:srgbClr val="2A3A46"/>
                      </a:solidFill>
                      <a:prstDash val="solid"/>
                      <a:round/>
                      <a:headEnd type="none" w="med" len="med"/>
                      <a:tailEnd type="none" w="med" len="med"/>
                    </a:lnT>
                    <a:lnB w="9525" cap="flat" cmpd="sng" algn="ctr">
                      <a:solidFill>
                        <a:srgbClr val="2A3A46"/>
                      </a:solidFill>
                      <a:prstDash val="solid"/>
                      <a:round/>
                      <a:headEnd type="none" w="med" len="med"/>
                      <a:tailEnd type="none" w="med" len="med"/>
                    </a:lnB>
                    <a:solidFill>
                      <a:srgbClr val="16212A"/>
                    </a:solidFill>
                  </a:tcPr>
                </a:tc>
              </a:tr>
            </a:tbl>
          </a:graphicData>
        </a:graphic>
      </p:graphicFrame>
      <p:pic>
        <p:nvPicPr>
          <p:cNvPr id="5" name="Image 0" descr="preencoded.png">    </p:cNvPr>
          <p:cNvPicPr>
            <a:picLocks noChangeAspect="1"/>
          </p:cNvPicPr>
          <p:nvPr/>
        </p:nvPicPr>
        <p:blipFill>
          <a:blip r:embed="rId1"/>
          <a:stretch>
            <a:fillRect/>
          </a:stretch>
        </p:blipFill>
        <p:spPr>
          <a:xfrm>
            <a:off x="548640" y="4892040"/>
            <a:ext cx="329184" cy="329184"/>
          </a:xfrm>
          <a:prstGeom prst="rect">
            <a:avLst/>
          </a:prstGeom>
        </p:spPr>
      </p:pic>
      <p:sp>
        <p:nvSpPr>
          <p:cNvPr id="6" name="Text 2"/>
          <p:cNvSpPr txBox="1"/>
          <p:nvPr/>
        </p:nvSpPr>
        <p:spPr>
          <a:xfrm>
            <a:off x="1051560" y="4910328"/>
            <a:ext cx="10058400" cy="320040"/>
          </a:xfrm>
          <a:prstGeom prst="rect">
            <a:avLst/>
          </a:prstGeom>
          <a:noFill/>
          <a:ln/>
        </p:spPr>
        <p:txBody>
          <a:bodyPr wrap="square" lIns="0" tIns="0" rIns="0" bIns="0" rtlCol="0" anchor="t"/>
          <a:lstStyle/>
          <a:p>
            <a:pPr indent="0" marL="0">
              <a:buNone/>
            </a:pPr>
            <a:r>
              <a:rPr lang="en-US" sz="1600" dirty="0">
                <a:solidFill>
                  <a:srgbClr val="E3EBF0"/>
                </a:solidFill>
                <a:latin typeface="Calibri" pitchFamily="34" charset="0"/>
                <a:ea typeface="Calibri" pitchFamily="34" charset="-122"/>
                <a:cs typeface="Calibri" pitchFamily="34" charset="-120"/>
              </a:rPr>
              <a:t>Real evidence reproduced the designed result.</a:t>
            </a:r>
            <a:endParaRPr lang="en-US" sz="1600" dirty="0"/>
          </a:p>
        </p:txBody>
      </p:sp>
      <p:pic>
        <p:nvPicPr>
          <p:cNvPr id="7" name="Image 1" descr="preencoded.png">    </p:cNvPr>
          <p:cNvPicPr>
            <a:picLocks noChangeAspect="1"/>
          </p:cNvPicPr>
          <p:nvPr/>
        </p:nvPicPr>
        <p:blipFill>
          <a:blip r:embed="rId2"/>
          <a:stretch>
            <a:fillRect/>
          </a:stretch>
        </p:blipFill>
        <p:spPr>
          <a:xfrm>
            <a:off x="548640" y="5440680"/>
            <a:ext cx="329184" cy="329184"/>
          </a:xfrm>
          <a:prstGeom prst="rect">
            <a:avLst/>
          </a:prstGeom>
        </p:spPr>
      </p:pic>
      <p:sp>
        <p:nvSpPr>
          <p:cNvPr id="8" name="Text 3"/>
          <p:cNvSpPr txBox="1"/>
          <p:nvPr/>
        </p:nvSpPr>
        <p:spPr>
          <a:xfrm>
            <a:off x="1051560" y="5458968"/>
            <a:ext cx="10058400" cy="320040"/>
          </a:xfrm>
          <a:prstGeom prst="rect">
            <a:avLst/>
          </a:prstGeom>
          <a:noFill/>
          <a:ln/>
        </p:spPr>
        <p:txBody>
          <a:bodyPr wrap="square" lIns="0" tIns="0" rIns="0" bIns="0" rtlCol="0" anchor="t"/>
          <a:lstStyle/>
          <a:p>
            <a:pPr indent="0" marL="0">
              <a:buNone/>
            </a:pPr>
            <a:r>
              <a:rPr lang="en-US" sz="1600" dirty="0">
                <a:solidFill>
                  <a:srgbClr val="E3EBF0"/>
                </a:solidFill>
                <a:latin typeface="Calibri" pitchFamily="34" charset="0"/>
                <a:ea typeface="Calibri" pitchFamily="34" charset="-122"/>
                <a:cs typeface="Calibri" pitchFamily="34" charset="-120"/>
              </a:rPr>
              <a:t>No false alarm: ordinary USB use on a real laptop was not called a leak.</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spc="300" kern="0" dirty="0">
                <a:solidFill>
                  <a:srgbClr val="5CC0DD"/>
                </a:solidFill>
                <a:latin typeface="Consolas" pitchFamily="34" charset="0"/>
                <a:ea typeface="Consolas" pitchFamily="34" charset="-122"/>
                <a:cs typeface="Consolas" pitchFamily="34" charset="-120"/>
              </a:rPr>
              <a:t>12 · THE DASHBOARD</a:t>
            </a:r>
            <a:endParaRPr lang="en-US" sz="1100" dirty="0"/>
          </a:p>
        </p:txBody>
      </p:sp>
      <p:sp>
        <p:nvSpPr>
          <p:cNvPr id="3" name="Text 1"/>
          <p:cNvSpPr/>
          <p:nvPr>
            <p:ph idx="101" type="title" hasCustomPrompt="1"/>
          </p:nvPr>
        </p:nvSpPr>
        <p:spPr>
          <a:xfrm>
            <a:off x="548640" y="749808"/>
            <a:ext cx="11094415" cy="777240"/>
          </a:xfrm>
          <a:prstGeom prst="rect">
            <a:avLst/>
          </a:prstGeom>
          <a:noFill/>
          <a:ln/>
        </p:spPr>
        <p:txBody>
          <a:bodyPr wrap="square" lIns="0" tIns="0" rIns="0" bIns="0" rtlCol="0" anchor="t"/>
          <a:lstStyle/>
          <a:p>
            <a:pPr algn="l" indent="0" marL="0">
              <a:buNone/>
            </a:pPr>
            <a:r>
              <a:rPr lang="en-US" sz="3000" b="1" dirty="0">
                <a:solidFill>
                  <a:srgbClr val="E3EBF0"/>
                </a:solidFill>
                <a:latin typeface="Cambria" pitchFamily="34" charset="0"/>
                <a:ea typeface="Cambria" pitchFamily="34" charset="-122"/>
                <a:cs typeface="Cambria" pitchFamily="34" charset="-120"/>
              </a:rPr>
              <a:t>Every conclusion can be checked by hand</a:t>
            </a:r>
            <a:endParaRPr lang="en-US" sz="3000" dirty="0"/>
          </a:p>
        </p:txBody>
      </p:sp>
      <p:sp>
        <p:nvSpPr>
          <p:cNvPr id="4" name="Shape 2"/>
          <p:cNvSpPr/>
          <p:nvPr/>
        </p:nvSpPr>
        <p:spPr>
          <a:xfrm>
            <a:off x="493776" y="1728216"/>
            <a:ext cx="5596128" cy="3538728"/>
          </a:xfrm>
          <a:prstGeom prst="roundRect">
            <a:avLst>
              <a:gd name="adj" fmla="val 2067"/>
            </a:avLst>
          </a:prstGeom>
          <a:solidFill>
            <a:srgbClr val="1C2A35"/>
          </a:solidFill>
          <a:ln w="9525">
            <a:solidFill>
              <a:srgbClr val="2A3A46"/>
            </a:solidFill>
            <a:prstDash val="solid"/>
          </a:ln>
          <a:effectLst>
            <a:outerShdw sx="100000" sy="100000" kx="0" ky="0" algn="bl" rotWithShape="0" blurRad="177800" dist="50800" dir="5400000">
              <a:srgbClr val="000000">
                <a:alpha val="45000"/>
              </a:srgbClr>
            </a:outerShdw>
          </a:effectLst>
        </p:spPr>
      </p:sp>
      <p:pic>
        <p:nvPicPr>
          <p:cNvPr id="5" name="Image 0" descr="C:\Users\Gary\AppData\Local\Temp\claude\C--Users-Gary-Desktop-CF-proj\9eb8b016-f6a9-4b13-949a-4dbf52c2bac2\scratchpad\deck\img\correlations.png">    </p:cNvPr>
          <p:cNvPicPr>
            <a:picLocks noChangeAspect="1"/>
          </p:cNvPicPr>
          <p:nvPr/>
        </p:nvPicPr>
        <p:blipFill>
          <a:blip r:embed="rId1"/>
          <a:stretch>
            <a:fillRect/>
          </a:stretch>
        </p:blipFill>
        <p:spPr>
          <a:xfrm>
            <a:off x="548640" y="1783080"/>
            <a:ext cx="5486400" cy="3429000"/>
          </a:xfrm>
          <a:prstGeom prst="rect">
            <a:avLst/>
          </a:prstGeom>
        </p:spPr>
      </p:pic>
      <p:sp>
        <p:nvSpPr>
          <p:cNvPr id="6" name="Shape 3"/>
          <p:cNvSpPr/>
          <p:nvPr/>
        </p:nvSpPr>
        <p:spPr>
          <a:xfrm>
            <a:off x="6345936" y="1728216"/>
            <a:ext cx="5596128" cy="3538728"/>
          </a:xfrm>
          <a:prstGeom prst="roundRect">
            <a:avLst>
              <a:gd name="adj" fmla="val 2067"/>
            </a:avLst>
          </a:prstGeom>
          <a:solidFill>
            <a:srgbClr val="1C2A35"/>
          </a:solidFill>
          <a:ln w="9525">
            <a:solidFill>
              <a:srgbClr val="2A3A46"/>
            </a:solidFill>
            <a:prstDash val="solid"/>
          </a:ln>
          <a:effectLst>
            <a:outerShdw sx="100000" sy="100000" kx="0" ky="0" algn="bl" rotWithShape="0" blurRad="177800" dist="50800" dir="5400000">
              <a:srgbClr val="000000">
                <a:alpha val="45000"/>
              </a:srgbClr>
            </a:outerShdw>
          </a:effectLst>
        </p:spPr>
      </p:sp>
      <p:pic>
        <p:nvPicPr>
          <p:cNvPr id="7" name="Image 1" descr="C:\Users\Gary\AppData\Local\Temp\claude\C--Users-Gary-Desktop-CF-proj\9eb8b016-f6a9-4b13-949a-4dbf52c2bac2\scratchpad\deck\img\files.png">    </p:cNvPr>
          <p:cNvPicPr>
            <a:picLocks noChangeAspect="1"/>
          </p:cNvPicPr>
          <p:nvPr/>
        </p:nvPicPr>
        <p:blipFill>
          <a:blip r:embed="rId2"/>
          <a:stretch>
            <a:fillRect/>
          </a:stretch>
        </p:blipFill>
        <p:spPr>
          <a:xfrm>
            <a:off x="6400800" y="1783080"/>
            <a:ext cx="5486400" cy="3429000"/>
          </a:xfrm>
          <a:prstGeom prst="rect">
            <a:avLst/>
          </a:prstGeom>
        </p:spPr>
      </p:pic>
      <p:sp>
        <p:nvSpPr>
          <p:cNvPr id="8" name="Text 4"/>
          <p:cNvSpPr txBox="1"/>
          <p:nvPr/>
        </p:nvSpPr>
        <p:spPr>
          <a:xfrm>
            <a:off x="548640" y="5394960"/>
            <a:ext cx="5486400" cy="320040"/>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Correlations: each link lists its reasons and the exact record IDs</a:t>
            </a:r>
            <a:endParaRPr lang="en-US" sz="1300" dirty="0"/>
          </a:p>
        </p:txBody>
      </p:sp>
      <p:sp>
        <p:nvSpPr>
          <p:cNvPr id="9" name="Text 5"/>
          <p:cNvSpPr txBox="1"/>
          <p:nvPr/>
        </p:nvSpPr>
        <p:spPr>
          <a:xfrm>
            <a:off x="6400800" y="5394960"/>
            <a:ext cx="5486400" cy="320040"/>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Sensitive files: the same file on the computer and on the USB drive</a:t>
            </a:r>
            <a:endParaRPr lang="en-US" sz="1300" dirty="0"/>
          </a:p>
        </p:txBody>
      </p:sp>
      <p:sp>
        <p:nvSpPr>
          <p:cNvPr id="10" name="Text 6"/>
          <p:cNvSpPr txBox="1"/>
          <p:nvPr/>
        </p:nvSpPr>
        <p:spPr>
          <a:xfrm>
            <a:off x="548640" y="5852160"/>
            <a:ext cx="11094415" cy="320040"/>
          </a:xfrm>
          <a:prstGeom prst="rect">
            <a:avLst/>
          </a:prstGeom>
          <a:noFill/>
          <a:ln/>
        </p:spPr>
        <p:txBody>
          <a:bodyPr wrap="square" lIns="0" tIns="0" rIns="0" bIns="0" rtlCol="0" anchor="t"/>
          <a:lstStyle/>
          <a:p>
            <a:pPr indent="0" marL="0">
              <a:buNone/>
            </a:pPr>
            <a:r>
              <a:rPr lang="en-US" sz="1200" i="1" dirty="0">
                <a:solidFill>
                  <a:srgbClr val="6B7D89"/>
                </a:solidFill>
                <a:latin typeface="Calibri" pitchFamily="34" charset="0"/>
                <a:ea typeface="Calibri" pitchFamily="34" charset="-122"/>
                <a:cs typeface="Calibri" pitchFamily="34" charset="-120"/>
              </a:rPr>
              <a:t>11 pages: overview, artifacts, devices, files, timeline, correlations, hypotheses, A/B comparison, custody, reports, method</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spc="300" kern="0" dirty="0">
                <a:solidFill>
                  <a:srgbClr val="5CC0DD"/>
                </a:solidFill>
                <a:latin typeface="Consolas" pitchFamily="34" charset="0"/>
                <a:ea typeface="Consolas" pitchFamily="34" charset="-122"/>
                <a:cs typeface="Consolas" pitchFamily="34" charset="-120"/>
              </a:rPr>
              <a:t>13 · HONEST LIMITS</a:t>
            </a:r>
            <a:endParaRPr lang="en-US" sz="1100" dirty="0"/>
          </a:p>
        </p:txBody>
      </p:sp>
      <p:sp>
        <p:nvSpPr>
          <p:cNvPr id="3" name="Text 1"/>
          <p:cNvSpPr/>
          <p:nvPr>
            <p:ph idx="101" type="title" hasCustomPrompt="1"/>
          </p:nvPr>
        </p:nvSpPr>
        <p:spPr>
          <a:xfrm>
            <a:off x="548640" y="749808"/>
            <a:ext cx="11094415" cy="777240"/>
          </a:xfrm>
          <a:prstGeom prst="rect">
            <a:avLst/>
          </a:prstGeom>
          <a:noFill/>
          <a:ln/>
        </p:spPr>
        <p:txBody>
          <a:bodyPr wrap="square" lIns="0" tIns="0" rIns="0" bIns="0" rtlCol="0" anchor="t"/>
          <a:lstStyle/>
          <a:p>
            <a:pPr algn="l" indent="0" marL="0">
              <a:buNone/>
            </a:pPr>
            <a:r>
              <a:rPr lang="en-US" sz="3000" b="1" dirty="0">
                <a:solidFill>
                  <a:srgbClr val="E3EBF0"/>
                </a:solidFill>
                <a:latin typeface="Cambria" pitchFamily="34" charset="0"/>
                <a:ea typeface="Cambria" pitchFamily="34" charset="-122"/>
                <a:cs typeface="Cambria" pitchFamily="34" charset="-120"/>
              </a:rPr>
              <a:t>What this project does not claim</a:t>
            </a:r>
            <a:endParaRPr lang="en-US" sz="3000" dirty="0"/>
          </a:p>
        </p:txBody>
      </p:sp>
      <p:sp>
        <p:nvSpPr>
          <p:cNvPr id="4" name="Shape 2"/>
          <p:cNvSpPr/>
          <p:nvPr/>
        </p:nvSpPr>
        <p:spPr>
          <a:xfrm>
            <a:off x="548640" y="1783080"/>
            <a:ext cx="5394960" cy="1188720"/>
          </a:xfrm>
          <a:prstGeom prst="roundRect">
            <a:avLst>
              <a:gd name="adj" fmla="val 6154"/>
            </a:avLst>
          </a:prstGeom>
          <a:solidFill>
            <a:srgbClr val="16212A"/>
          </a:solidFill>
          <a:ln w="9525">
            <a:solidFill>
              <a:srgbClr val="2A3A46"/>
            </a:solidFill>
            <a:prstDash val="solid"/>
          </a:ln>
        </p:spPr>
      </p:sp>
      <p:pic>
        <p:nvPicPr>
          <p:cNvPr id="5" name="Image 0" descr="preencoded.png">    </p:cNvPr>
          <p:cNvPicPr>
            <a:picLocks noChangeAspect="1"/>
          </p:cNvPicPr>
          <p:nvPr/>
        </p:nvPicPr>
        <p:blipFill>
          <a:blip r:embed="rId1"/>
          <a:stretch>
            <a:fillRect/>
          </a:stretch>
        </p:blipFill>
        <p:spPr>
          <a:xfrm>
            <a:off x="822960" y="2057400"/>
            <a:ext cx="329184" cy="329184"/>
          </a:xfrm>
          <a:prstGeom prst="rect">
            <a:avLst/>
          </a:prstGeom>
        </p:spPr>
      </p:pic>
      <p:sp>
        <p:nvSpPr>
          <p:cNvPr id="6" name="Text 3"/>
          <p:cNvSpPr txBox="1"/>
          <p:nvPr/>
        </p:nvSpPr>
        <p:spPr>
          <a:xfrm>
            <a:off x="1325880" y="1984248"/>
            <a:ext cx="4434840" cy="365760"/>
          </a:xfrm>
          <a:prstGeom prst="rect">
            <a:avLst/>
          </a:prstGeom>
          <a:noFill/>
          <a:ln/>
        </p:spPr>
        <p:txBody>
          <a:bodyPr wrap="square" lIns="0" tIns="0" rIns="0" bIns="0" rtlCol="0" anchor="t"/>
          <a:lstStyle/>
          <a:p>
            <a:pPr indent="0" marL="0">
              <a:buNone/>
            </a:pPr>
            <a:r>
              <a:rPr lang="en-US" sz="1600" b="1" dirty="0">
                <a:solidFill>
                  <a:srgbClr val="E3EBF0"/>
                </a:solidFill>
                <a:latin typeface="Calibri" pitchFamily="34" charset="0"/>
                <a:ea typeface="Calibri" pitchFamily="34" charset="-122"/>
                <a:cs typeface="Calibri" pitchFamily="34" charset="-120"/>
              </a:rPr>
              <a:t>It does not prove guilt or intent</a:t>
            </a:r>
            <a:endParaRPr lang="en-US" sz="1600" dirty="0"/>
          </a:p>
        </p:txBody>
      </p:sp>
      <p:sp>
        <p:nvSpPr>
          <p:cNvPr id="7" name="Text 4"/>
          <p:cNvSpPr txBox="1"/>
          <p:nvPr/>
        </p:nvSpPr>
        <p:spPr>
          <a:xfrm>
            <a:off x="1325880" y="2377440"/>
            <a:ext cx="4434840" cy="502920"/>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Evidence can support a transfer; motive is outside forensics.</a:t>
            </a:r>
            <a:endParaRPr lang="en-US" sz="1300" dirty="0"/>
          </a:p>
        </p:txBody>
      </p:sp>
      <p:sp>
        <p:nvSpPr>
          <p:cNvPr id="8" name="Shape 5"/>
          <p:cNvSpPr/>
          <p:nvPr/>
        </p:nvSpPr>
        <p:spPr>
          <a:xfrm>
            <a:off x="6190488" y="1783080"/>
            <a:ext cx="5394960" cy="1188720"/>
          </a:xfrm>
          <a:prstGeom prst="roundRect">
            <a:avLst>
              <a:gd name="adj" fmla="val 6154"/>
            </a:avLst>
          </a:prstGeom>
          <a:solidFill>
            <a:srgbClr val="16212A"/>
          </a:solidFill>
          <a:ln w="9525">
            <a:solidFill>
              <a:srgbClr val="2A3A46"/>
            </a:solidFill>
            <a:prstDash val="solid"/>
          </a:ln>
        </p:spPr>
      </p:sp>
      <p:pic>
        <p:nvPicPr>
          <p:cNvPr id="9" name="Image 1" descr="preencoded.png">    </p:cNvPr>
          <p:cNvPicPr>
            <a:picLocks noChangeAspect="1"/>
          </p:cNvPicPr>
          <p:nvPr/>
        </p:nvPicPr>
        <p:blipFill>
          <a:blip r:embed="rId2"/>
          <a:stretch>
            <a:fillRect/>
          </a:stretch>
        </p:blipFill>
        <p:spPr>
          <a:xfrm>
            <a:off x="6464808" y="2057400"/>
            <a:ext cx="329184" cy="329184"/>
          </a:xfrm>
          <a:prstGeom prst="rect">
            <a:avLst/>
          </a:prstGeom>
        </p:spPr>
      </p:pic>
      <p:sp>
        <p:nvSpPr>
          <p:cNvPr id="10" name="Text 6"/>
          <p:cNvSpPr txBox="1"/>
          <p:nvPr/>
        </p:nvSpPr>
        <p:spPr>
          <a:xfrm>
            <a:off x="6967728" y="1984248"/>
            <a:ext cx="4434840" cy="365760"/>
          </a:xfrm>
          <a:prstGeom prst="rect">
            <a:avLst/>
          </a:prstGeom>
          <a:noFill/>
          <a:ln/>
        </p:spPr>
        <p:txBody>
          <a:bodyPr wrap="square" lIns="0" tIns="0" rIns="0" bIns="0" rtlCol="0" anchor="t"/>
          <a:lstStyle/>
          <a:p>
            <a:pPr indent="0" marL="0">
              <a:buNone/>
            </a:pPr>
            <a:r>
              <a:rPr lang="en-US" sz="1600" b="1" dirty="0">
                <a:solidFill>
                  <a:srgbClr val="E3EBF0"/>
                </a:solidFill>
                <a:latin typeface="Calibri" pitchFamily="34" charset="0"/>
                <a:ea typeface="Calibri" pitchFamily="34" charset="-122"/>
                <a:cs typeface="Calibri" pitchFamily="34" charset="-120"/>
              </a:rPr>
              <a:t>Company data is fictional</a:t>
            </a:r>
            <a:endParaRPr lang="en-US" sz="1600" dirty="0"/>
          </a:p>
        </p:txBody>
      </p:sp>
      <p:sp>
        <p:nvSpPr>
          <p:cNvPr id="11" name="Text 7"/>
          <p:cNvSpPr txBox="1"/>
          <p:nvPr/>
        </p:nvSpPr>
        <p:spPr>
          <a:xfrm>
            <a:off x="6967728" y="2377440"/>
            <a:ext cx="4434840" cy="502920"/>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The Windows traces are real; the salary and customer files are made up.</a:t>
            </a:r>
            <a:endParaRPr lang="en-US" sz="1300" dirty="0"/>
          </a:p>
        </p:txBody>
      </p:sp>
      <p:sp>
        <p:nvSpPr>
          <p:cNvPr id="12" name="Shape 8"/>
          <p:cNvSpPr/>
          <p:nvPr/>
        </p:nvSpPr>
        <p:spPr>
          <a:xfrm>
            <a:off x="548640" y="3154680"/>
            <a:ext cx="5394960" cy="1188720"/>
          </a:xfrm>
          <a:prstGeom prst="roundRect">
            <a:avLst>
              <a:gd name="adj" fmla="val 6154"/>
            </a:avLst>
          </a:prstGeom>
          <a:solidFill>
            <a:srgbClr val="16212A"/>
          </a:solidFill>
          <a:ln w="9525">
            <a:solidFill>
              <a:srgbClr val="2A3A46"/>
            </a:solidFill>
            <a:prstDash val="solid"/>
          </a:ln>
        </p:spPr>
      </p:sp>
      <p:pic>
        <p:nvPicPr>
          <p:cNvPr id="13" name="Image 2" descr="preencoded.png">    </p:cNvPr>
          <p:cNvPicPr>
            <a:picLocks noChangeAspect="1"/>
          </p:cNvPicPr>
          <p:nvPr/>
        </p:nvPicPr>
        <p:blipFill>
          <a:blip r:embed="rId3"/>
          <a:stretch>
            <a:fillRect/>
          </a:stretch>
        </p:blipFill>
        <p:spPr>
          <a:xfrm>
            <a:off x="822960" y="3429000"/>
            <a:ext cx="329184" cy="329184"/>
          </a:xfrm>
          <a:prstGeom prst="rect">
            <a:avLst/>
          </a:prstGeom>
        </p:spPr>
      </p:pic>
      <p:sp>
        <p:nvSpPr>
          <p:cNvPr id="14" name="Text 9"/>
          <p:cNvSpPr txBox="1"/>
          <p:nvPr/>
        </p:nvSpPr>
        <p:spPr>
          <a:xfrm>
            <a:off x="1325880" y="3355848"/>
            <a:ext cx="4434840" cy="365760"/>
          </a:xfrm>
          <a:prstGeom prst="rect">
            <a:avLst/>
          </a:prstGeom>
          <a:noFill/>
          <a:ln/>
        </p:spPr>
        <p:txBody>
          <a:bodyPr wrap="square" lIns="0" tIns="0" rIns="0" bIns="0" rtlCol="0" anchor="t"/>
          <a:lstStyle/>
          <a:p>
            <a:pPr indent="0" marL="0">
              <a:buNone/>
            </a:pPr>
            <a:r>
              <a:rPr lang="en-US" sz="1600" b="1" dirty="0">
                <a:solidFill>
                  <a:srgbClr val="E3EBF0"/>
                </a:solidFill>
                <a:latin typeface="Calibri" pitchFamily="34" charset="0"/>
                <a:ea typeface="Calibri" pitchFamily="34" charset="-122"/>
                <a:cs typeface="Calibri" pitchFamily="34" charset="-120"/>
              </a:rPr>
              <a:t>Live collection touches the system</a:t>
            </a:r>
            <a:endParaRPr lang="en-US" sz="1600" dirty="0"/>
          </a:p>
        </p:txBody>
      </p:sp>
      <p:sp>
        <p:nvSpPr>
          <p:cNvPr id="15" name="Text 10"/>
          <p:cNvSpPr txBox="1"/>
          <p:nvPr/>
        </p:nvSpPr>
        <p:spPr>
          <a:xfrm>
            <a:off x="1325880" y="3749040"/>
            <a:ext cx="4434840" cy="502920"/>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Formal casework should image a powered-off disk and analyse a verified copy.</a:t>
            </a:r>
            <a:endParaRPr lang="en-US" sz="1300" dirty="0"/>
          </a:p>
        </p:txBody>
      </p:sp>
      <p:sp>
        <p:nvSpPr>
          <p:cNvPr id="16" name="Shape 11"/>
          <p:cNvSpPr/>
          <p:nvPr/>
        </p:nvSpPr>
        <p:spPr>
          <a:xfrm>
            <a:off x="6190488" y="3154680"/>
            <a:ext cx="5394960" cy="1188720"/>
          </a:xfrm>
          <a:prstGeom prst="roundRect">
            <a:avLst>
              <a:gd name="adj" fmla="val 6154"/>
            </a:avLst>
          </a:prstGeom>
          <a:solidFill>
            <a:srgbClr val="16212A"/>
          </a:solidFill>
          <a:ln w="9525">
            <a:solidFill>
              <a:srgbClr val="2A3A46"/>
            </a:solidFill>
            <a:prstDash val="solid"/>
          </a:ln>
        </p:spPr>
      </p:sp>
      <p:pic>
        <p:nvPicPr>
          <p:cNvPr id="17" name="Image 3" descr="preencoded.png">    </p:cNvPr>
          <p:cNvPicPr>
            <a:picLocks noChangeAspect="1"/>
          </p:cNvPicPr>
          <p:nvPr/>
        </p:nvPicPr>
        <p:blipFill>
          <a:blip r:embed="rId4"/>
          <a:stretch>
            <a:fillRect/>
          </a:stretch>
        </p:blipFill>
        <p:spPr>
          <a:xfrm>
            <a:off x="6464808" y="3429000"/>
            <a:ext cx="329184" cy="329184"/>
          </a:xfrm>
          <a:prstGeom prst="rect">
            <a:avLst/>
          </a:prstGeom>
        </p:spPr>
      </p:pic>
      <p:sp>
        <p:nvSpPr>
          <p:cNvPr id="18" name="Text 12"/>
          <p:cNvSpPr txBox="1"/>
          <p:nvPr/>
        </p:nvSpPr>
        <p:spPr>
          <a:xfrm>
            <a:off x="6967728" y="3355848"/>
            <a:ext cx="4434840" cy="365760"/>
          </a:xfrm>
          <a:prstGeom prst="rect">
            <a:avLst/>
          </a:prstGeom>
          <a:noFill/>
          <a:ln/>
        </p:spPr>
        <p:txBody>
          <a:bodyPr wrap="square" lIns="0" tIns="0" rIns="0" bIns="0" rtlCol="0" anchor="t"/>
          <a:lstStyle/>
          <a:p>
            <a:pPr indent="0" marL="0">
              <a:buNone/>
            </a:pPr>
            <a:r>
              <a:rPr lang="en-US" sz="1600" b="1" dirty="0">
                <a:solidFill>
                  <a:srgbClr val="E3EBF0"/>
                </a:solidFill>
                <a:latin typeface="Calibri" pitchFamily="34" charset="0"/>
                <a:ea typeface="Calibri" pitchFamily="34" charset="-122"/>
                <a:cs typeface="Calibri" pitchFamily="34" charset="-120"/>
              </a:rPr>
              <a:t>One laptop, one Windows version</a:t>
            </a:r>
            <a:endParaRPr lang="en-US" sz="1600" dirty="0"/>
          </a:p>
        </p:txBody>
      </p:sp>
      <p:sp>
        <p:nvSpPr>
          <p:cNvPr id="19" name="Text 13"/>
          <p:cNvSpPr txBox="1"/>
          <p:nvPr/>
        </p:nvSpPr>
        <p:spPr>
          <a:xfrm>
            <a:off x="6967728" y="3749040"/>
            <a:ext cx="4434840" cy="502920"/>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A larger study would repeat the run on more PCs and USB devices.</a:t>
            </a:r>
            <a:endParaRPr lang="en-US" sz="1300" dirty="0"/>
          </a:p>
        </p:txBody>
      </p:sp>
      <p:sp>
        <p:nvSpPr>
          <p:cNvPr id="20" name="Shape 14"/>
          <p:cNvSpPr/>
          <p:nvPr/>
        </p:nvSpPr>
        <p:spPr>
          <a:xfrm>
            <a:off x="548640" y="4526280"/>
            <a:ext cx="5394960" cy="1188720"/>
          </a:xfrm>
          <a:prstGeom prst="roundRect">
            <a:avLst>
              <a:gd name="adj" fmla="val 6154"/>
            </a:avLst>
          </a:prstGeom>
          <a:solidFill>
            <a:srgbClr val="16212A"/>
          </a:solidFill>
          <a:ln w="9525">
            <a:solidFill>
              <a:srgbClr val="2A3A46"/>
            </a:solidFill>
            <a:prstDash val="solid"/>
          </a:ln>
        </p:spPr>
      </p:sp>
      <p:pic>
        <p:nvPicPr>
          <p:cNvPr id="21" name="Image 4" descr="preencoded.png">    </p:cNvPr>
          <p:cNvPicPr>
            <a:picLocks noChangeAspect="1"/>
          </p:cNvPicPr>
          <p:nvPr/>
        </p:nvPicPr>
        <p:blipFill>
          <a:blip r:embed="rId5"/>
          <a:stretch>
            <a:fillRect/>
          </a:stretch>
        </p:blipFill>
        <p:spPr>
          <a:xfrm>
            <a:off x="822960" y="4800600"/>
            <a:ext cx="329184" cy="329184"/>
          </a:xfrm>
          <a:prstGeom prst="rect">
            <a:avLst/>
          </a:prstGeom>
        </p:spPr>
      </p:pic>
      <p:sp>
        <p:nvSpPr>
          <p:cNvPr id="22" name="Text 15"/>
          <p:cNvSpPr txBox="1"/>
          <p:nvPr/>
        </p:nvSpPr>
        <p:spPr>
          <a:xfrm>
            <a:off x="1325880" y="4727448"/>
            <a:ext cx="4434840" cy="365760"/>
          </a:xfrm>
          <a:prstGeom prst="rect">
            <a:avLst/>
          </a:prstGeom>
          <a:noFill/>
          <a:ln/>
        </p:spPr>
        <p:txBody>
          <a:bodyPr wrap="square" lIns="0" tIns="0" rIns="0" bIns="0" rtlCol="0" anchor="t"/>
          <a:lstStyle/>
          <a:p>
            <a:pPr indent="0" marL="0">
              <a:buNone/>
            </a:pPr>
            <a:r>
              <a:rPr lang="en-US" sz="1600" b="1" dirty="0">
                <a:solidFill>
                  <a:srgbClr val="E3EBF0"/>
                </a:solidFill>
                <a:latin typeface="Calibri" pitchFamily="34" charset="0"/>
                <a:ea typeface="Calibri" pitchFamily="34" charset="-122"/>
                <a:cs typeface="Calibri" pitchFamily="34" charset="-120"/>
              </a:rPr>
              <a:t>The score is not a standard</a:t>
            </a:r>
            <a:endParaRPr lang="en-US" sz="1600" dirty="0"/>
          </a:p>
        </p:txBody>
      </p:sp>
      <p:sp>
        <p:nvSpPr>
          <p:cNvPr id="23" name="Text 16"/>
          <p:cNvSpPr txBox="1"/>
          <p:nvPr/>
        </p:nvSpPr>
        <p:spPr>
          <a:xfrm>
            <a:off x="1325880" y="5120640"/>
            <a:ext cx="4434840" cy="502920"/>
          </a:xfrm>
          <a:prstGeom prst="rect">
            <a:avLst/>
          </a:prstGeom>
          <a:noFill/>
          <a:ln/>
        </p:spPr>
        <p:txBody>
          <a:bodyPr wrap="square" lIns="0" tIns="0" rIns="0" bIns="0" rtlCol="0" anchor="t"/>
          <a:lstStyle/>
          <a:p>
            <a:pPr indent="0" marL="0">
              <a:buNone/>
            </a:pPr>
            <a:r>
              <a:rPr lang="en-US" sz="1300" dirty="0">
                <a:solidFill>
                  <a:srgbClr val="94A6B3"/>
                </a:solidFill>
                <a:latin typeface="Calibri" pitchFamily="34" charset="0"/>
                <a:ea typeface="Calibri" pitchFamily="34" charset="-122"/>
                <a:cs typeface="Calibri" pitchFamily="34" charset="-120"/>
              </a:rPr>
              <a:t>It ranks findings; it is not a probability.</a:t>
            </a:r>
            <a:endParaRPr lang="en-US" sz="1300" dirty="0"/>
          </a:p>
        </p:txBody>
      </p:sp>
      <p:sp>
        <p:nvSpPr>
          <p:cNvPr id="24" name="Shape 17"/>
          <p:cNvSpPr/>
          <p:nvPr/>
        </p:nvSpPr>
        <p:spPr>
          <a:xfrm>
            <a:off x="6190488" y="4526280"/>
            <a:ext cx="5394960" cy="1188720"/>
          </a:xfrm>
          <a:prstGeom prst="roundRect">
            <a:avLst>
              <a:gd name="adj" fmla="val 6154"/>
            </a:avLst>
          </a:prstGeom>
          <a:solidFill>
            <a:srgbClr val="1C2A35"/>
          </a:solidFill>
          <a:ln w="9525">
            <a:solidFill>
              <a:srgbClr val="2A3A46"/>
            </a:solidFill>
            <a:prstDash val="solid"/>
          </a:ln>
        </p:spPr>
      </p:sp>
      <p:sp>
        <p:nvSpPr>
          <p:cNvPr id="25" name="Text 18"/>
          <p:cNvSpPr txBox="1"/>
          <p:nvPr/>
        </p:nvSpPr>
        <p:spPr>
          <a:xfrm>
            <a:off x="6464808" y="4681728"/>
            <a:ext cx="4572000" cy="274320"/>
          </a:xfrm>
          <a:prstGeom prst="rect">
            <a:avLst/>
          </a:prstGeom>
          <a:noFill/>
          <a:ln/>
        </p:spPr>
        <p:txBody>
          <a:bodyPr wrap="square" lIns="0" tIns="0" rIns="0" bIns="0" rtlCol="0" anchor="t"/>
          <a:lstStyle/>
          <a:p>
            <a:pPr indent="0" marL="0">
              <a:buNone/>
            </a:pPr>
            <a:r>
              <a:rPr lang="en-US" sz="1100" spc="300" kern="0" dirty="0">
                <a:solidFill>
                  <a:srgbClr val="5CC0DD"/>
                </a:solidFill>
                <a:latin typeface="Consolas" pitchFamily="34" charset="0"/>
                <a:ea typeface="Consolas" pitchFamily="34" charset="-122"/>
                <a:cs typeface="Consolas" pitchFamily="34" charset="-120"/>
              </a:rPr>
              <a:t>FUTURE WORK</a:t>
            </a:r>
            <a:endParaRPr lang="en-US" sz="1100" dirty="0"/>
          </a:p>
        </p:txBody>
      </p:sp>
      <p:sp>
        <p:nvSpPr>
          <p:cNvPr id="26" name="Text 19"/>
          <p:cNvSpPr txBox="1"/>
          <p:nvPr/>
        </p:nvSpPr>
        <p:spPr>
          <a:xfrm>
            <a:off x="6464808" y="5010912"/>
            <a:ext cx="4846320" cy="594360"/>
          </a:xfrm>
          <a:prstGeom prst="rect">
            <a:avLst/>
          </a:prstGeom>
          <a:noFill/>
          <a:ln/>
        </p:spPr>
        <p:txBody>
          <a:bodyPr wrap="square" lIns="0" tIns="0" rIns="0" bIns="0" rtlCol="0" anchor="t"/>
          <a:lstStyle/>
          <a:p>
            <a:pPr indent="0" marL="0">
              <a:buNone/>
            </a:pPr>
            <a:r>
              <a:rPr lang="en-US" sz="1300" dirty="0">
                <a:solidFill>
                  <a:srgbClr val="E3EBF0"/>
                </a:solidFill>
                <a:latin typeface="Calibri" pitchFamily="34" charset="0"/>
                <a:ea typeface="Calibri" pitchFamily="34" charset="-122"/>
                <a:cs typeface="Calibri" pitchFamily="34" charset="-120"/>
              </a:rPr>
              <a:t>Disk-image analysis, more devices and Windows versions, and capturing USB removal events.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D8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097280"/>
            <a:ext cx="5486400" cy="274320"/>
          </a:xfrm>
          <a:prstGeom prst="rect">
            <a:avLst/>
          </a:prstGeom>
          <a:noFill/>
          <a:ln/>
        </p:spPr>
        <p:txBody>
          <a:bodyPr wrap="square" lIns="0" tIns="0" rIns="0" bIns="0" rtlCol="0" anchor="t"/>
          <a:lstStyle/>
          <a:p>
            <a:pPr indent="0" marL="0">
              <a:buNone/>
            </a:pPr>
            <a:r>
              <a:rPr lang="en-US" sz="1200" spc="300" kern="0" dirty="0">
                <a:solidFill>
                  <a:srgbClr val="5CC0DD"/>
                </a:solidFill>
                <a:latin typeface="Consolas" pitchFamily="34" charset="0"/>
                <a:ea typeface="Consolas" pitchFamily="34" charset="-122"/>
                <a:cs typeface="Consolas" pitchFamily="34" charset="-120"/>
              </a:rPr>
              <a:t>CONCLUSION</a:t>
            </a:r>
            <a:endParaRPr lang="en-US" sz="1200" dirty="0"/>
          </a:p>
        </p:txBody>
      </p:sp>
      <p:sp>
        <p:nvSpPr>
          <p:cNvPr id="3" name="Text 1"/>
          <p:cNvSpPr txBox="1"/>
          <p:nvPr/>
        </p:nvSpPr>
        <p:spPr>
          <a:xfrm>
            <a:off x="548640" y="1554480"/>
            <a:ext cx="6949440" cy="2377440"/>
          </a:xfrm>
          <a:prstGeom prst="rect">
            <a:avLst/>
          </a:prstGeom>
          <a:noFill/>
          <a:ln/>
        </p:spPr>
        <p:txBody>
          <a:bodyPr wrap="square" lIns="0" tIns="0" rIns="0" bIns="0" rtlCol="0" anchor="t"/>
          <a:lstStyle/>
          <a:p>
            <a:pPr indent="0" marL="0">
              <a:buNone/>
            </a:pPr>
            <a:r>
              <a:rPr lang="en-US" sz="3000" b="1" dirty="0">
                <a:solidFill>
                  <a:srgbClr val="E3EBF0"/>
                </a:solidFill>
                <a:latin typeface="Cambria" pitchFamily="34" charset="0"/>
                <a:ea typeface="Cambria" pitchFamily="34" charset="-122"/>
                <a:cs typeface="Cambria" pitchFamily="34" charset="-120"/>
              </a:rPr>
              <a:t>Several independent clues, agreeing in the same USB window, separate an insider from normal use far better than any single clue</a:t>
            </a:r>
            <a:endParaRPr lang="en-US" sz="3000" dirty="0"/>
          </a:p>
        </p:txBody>
      </p:sp>
      <p:sp>
        <p:nvSpPr>
          <p:cNvPr id="4" name="Text 2"/>
          <p:cNvSpPr txBox="1"/>
          <p:nvPr/>
        </p:nvSpPr>
        <p:spPr>
          <a:xfrm>
            <a:off x="548640" y="3977640"/>
            <a:ext cx="6949440" cy="548640"/>
          </a:xfrm>
          <a:prstGeom prst="rect">
            <a:avLst/>
          </a:prstGeom>
          <a:noFill/>
          <a:ln/>
        </p:spPr>
        <p:txBody>
          <a:bodyPr wrap="square" lIns="0" tIns="0" rIns="0" bIns="0" rtlCol="0" anchor="t"/>
          <a:lstStyle/>
          <a:p>
            <a:pPr indent="0" marL="0">
              <a:buNone/>
            </a:pPr>
            <a:r>
              <a:rPr lang="en-US" sz="2200" i="1" dirty="0">
                <a:solidFill>
                  <a:srgbClr val="F0C04A"/>
                </a:solidFill>
                <a:latin typeface="Cambria" pitchFamily="34" charset="0"/>
                <a:ea typeface="Cambria" pitchFamily="34" charset="-122"/>
                <a:cs typeface="Cambria" pitchFamily="34" charset="-120"/>
              </a:rPr>
              <a:t>and that held on real Windows evidence.</a:t>
            </a:r>
            <a:endParaRPr lang="en-US" sz="2200" dirty="0"/>
          </a:p>
        </p:txBody>
      </p:sp>
      <p:sp>
        <p:nvSpPr>
          <p:cNvPr id="5" name="Text 3"/>
          <p:cNvSpPr txBox="1"/>
          <p:nvPr/>
        </p:nvSpPr>
        <p:spPr>
          <a:xfrm>
            <a:off x="8183880" y="1143000"/>
            <a:ext cx="1188720" cy="822960"/>
          </a:xfrm>
          <a:prstGeom prst="rect">
            <a:avLst/>
          </a:prstGeom>
          <a:noFill/>
          <a:ln/>
        </p:spPr>
        <p:txBody>
          <a:bodyPr wrap="square" lIns="0" tIns="0" rIns="0" bIns="0" rtlCol="0" anchor="ctr"/>
          <a:lstStyle/>
          <a:p>
            <a:pPr indent="0" marL="0">
              <a:buNone/>
            </a:pPr>
            <a:r>
              <a:rPr lang="en-US" sz="4400" b="1" dirty="0">
                <a:solidFill>
                  <a:srgbClr val="5CC0DD"/>
                </a:solidFill>
                <a:latin typeface="Cambria" pitchFamily="34" charset="0"/>
                <a:ea typeface="Cambria" pitchFamily="34" charset="-122"/>
                <a:cs typeface="Cambria" pitchFamily="34" charset="-120"/>
              </a:rPr>
              <a:t>5</a:t>
            </a:r>
            <a:endParaRPr lang="en-US" sz="4400" dirty="0"/>
          </a:p>
        </p:txBody>
      </p:sp>
      <p:sp>
        <p:nvSpPr>
          <p:cNvPr id="6" name="Text 4"/>
          <p:cNvSpPr txBox="1"/>
          <p:nvPr/>
        </p:nvSpPr>
        <p:spPr>
          <a:xfrm>
            <a:off x="9418320" y="1143000"/>
            <a:ext cx="2194560" cy="822960"/>
          </a:xfrm>
          <a:prstGeom prst="rect">
            <a:avLst/>
          </a:prstGeom>
          <a:noFill/>
          <a:ln/>
        </p:spPr>
        <p:txBody>
          <a:bodyPr wrap="square" lIns="0" tIns="0" rIns="0" bIns="0" rtlCol="0" anchor="ctr"/>
          <a:lstStyle/>
          <a:p>
            <a:pPr indent="0" marL="0">
              <a:buNone/>
            </a:pPr>
            <a:r>
              <a:rPr lang="en-US" sz="1600" dirty="0">
                <a:solidFill>
                  <a:srgbClr val="94A6B3"/>
                </a:solidFill>
                <a:latin typeface="Calibri" pitchFamily="34" charset="0"/>
                <a:ea typeface="Calibri" pitchFamily="34" charset="-122"/>
                <a:cs typeface="Calibri" pitchFamily="34" charset="-120"/>
              </a:rPr>
              <a:t>evidence sources</a:t>
            </a:r>
            <a:endParaRPr lang="en-US" sz="1600" dirty="0"/>
          </a:p>
        </p:txBody>
      </p:sp>
      <p:sp>
        <p:nvSpPr>
          <p:cNvPr id="7" name="Text 5"/>
          <p:cNvSpPr txBox="1"/>
          <p:nvPr/>
        </p:nvSpPr>
        <p:spPr>
          <a:xfrm>
            <a:off x="8183880" y="2286000"/>
            <a:ext cx="1188720" cy="822960"/>
          </a:xfrm>
          <a:prstGeom prst="rect">
            <a:avLst/>
          </a:prstGeom>
          <a:noFill/>
          <a:ln/>
        </p:spPr>
        <p:txBody>
          <a:bodyPr wrap="square" lIns="0" tIns="0" rIns="0" bIns="0" rtlCol="0" anchor="ctr"/>
          <a:lstStyle/>
          <a:p>
            <a:pPr indent="0" marL="0">
              <a:buNone/>
            </a:pPr>
            <a:r>
              <a:rPr lang="en-US" sz="4400" b="1" dirty="0">
                <a:solidFill>
                  <a:srgbClr val="5CC0DD"/>
                </a:solidFill>
                <a:latin typeface="Cambria" pitchFamily="34" charset="0"/>
                <a:ea typeface="Cambria" pitchFamily="34" charset="-122"/>
                <a:cs typeface="Cambria" pitchFamily="34" charset="-120"/>
              </a:rPr>
              <a:t>8</a:t>
            </a:r>
            <a:endParaRPr lang="en-US" sz="4400" dirty="0"/>
          </a:p>
        </p:txBody>
      </p:sp>
      <p:sp>
        <p:nvSpPr>
          <p:cNvPr id="8" name="Text 6"/>
          <p:cNvSpPr txBox="1"/>
          <p:nvPr/>
        </p:nvSpPr>
        <p:spPr>
          <a:xfrm>
            <a:off x="9418320" y="2286000"/>
            <a:ext cx="2194560" cy="822960"/>
          </a:xfrm>
          <a:prstGeom prst="rect">
            <a:avLst/>
          </a:prstGeom>
          <a:noFill/>
          <a:ln/>
        </p:spPr>
        <p:txBody>
          <a:bodyPr wrap="square" lIns="0" tIns="0" rIns="0" bIns="0" rtlCol="0" anchor="ctr"/>
          <a:lstStyle/>
          <a:p>
            <a:pPr indent="0" marL="0">
              <a:buNone/>
            </a:pPr>
            <a:r>
              <a:rPr lang="en-US" sz="1600" dirty="0">
                <a:solidFill>
                  <a:srgbClr val="94A6B3"/>
                </a:solidFill>
                <a:latin typeface="Calibri" pitchFamily="34" charset="0"/>
                <a:ea typeface="Calibri" pitchFamily="34" charset="-122"/>
                <a:cs typeface="Calibri" pitchFamily="34" charset="-120"/>
              </a:rPr>
              <a:t>correlations</a:t>
            </a:r>
            <a:endParaRPr lang="en-US" sz="1600" dirty="0"/>
          </a:p>
        </p:txBody>
      </p:sp>
      <p:sp>
        <p:nvSpPr>
          <p:cNvPr id="9" name="Text 7"/>
          <p:cNvSpPr txBox="1"/>
          <p:nvPr/>
        </p:nvSpPr>
        <p:spPr>
          <a:xfrm>
            <a:off x="8183880" y="3429000"/>
            <a:ext cx="1188720" cy="822960"/>
          </a:xfrm>
          <a:prstGeom prst="rect">
            <a:avLst/>
          </a:prstGeom>
          <a:noFill/>
          <a:ln/>
        </p:spPr>
        <p:txBody>
          <a:bodyPr wrap="square" lIns="0" tIns="0" rIns="0" bIns="0" rtlCol="0" anchor="ctr"/>
          <a:lstStyle/>
          <a:p>
            <a:pPr indent="0" marL="0">
              <a:buNone/>
            </a:pPr>
            <a:r>
              <a:rPr lang="en-US" sz="4400" b="1" dirty="0">
                <a:solidFill>
                  <a:srgbClr val="5CC0DD"/>
                </a:solidFill>
                <a:latin typeface="Cambria" pitchFamily="34" charset="0"/>
                <a:ea typeface="Cambria" pitchFamily="34" charset="-122"/>
                <a:cs typeface="Cambria" pitchFamily="34" charset="-120"/>
              </a:rPr>
              <a:t>4</a:t>
            </a:r>
            <a:endParaRPr lang="en-US" sz="4400" dirty="0"/>
          </a:p>
        </p:txBody>
      </p:sp>
      <p:sp>
        <p:nvSpPr>
          <p:cNvPr id="10" name="Text 8"/>
          <p:cNvSpPr txBox="1"/>
          <p:nvPr/>
        </p:nvSpPr>
        <p:spPr>
          <a:xfrm>
            <a:off x="9418320" y="3429000"/>
            <a:ext cx="2194560" cy="822960"/>
          </a:xfrm>
          <a:prstGeom prst="rect">
            <a:avLst/>
          </a:prstGeom>
          <a:noFill/>
          <a:ln/>
        </p:spPr>
        <p:txBody>
          <a:bodyPr wrap="square" lIns="0" tIns="0" rIns="0" bIns="0" rtlCol="0" anchor="ctr"/>
          <a:lstStyle/>
          <a:p>
            <a:pPr indent="0" marL="0">
              <a:buNone/>
            </a:pPr>
            <a:r>
              <a:rPr lang="en-US" sz="1600" dirty="0">
                <a:solidFill>
                  <a:srgbClr val="94A6B3"/>
                </a:solidFill>
                <a:latin typeface="Calibri" pitchFamily="34" charset="0"/>
                <a:ea typeface="Calibri" pitchFamily="34" charset="-122"/>
                <a:cs typeface="Calibri" pitchFamily="34" charset="-120"/>
              </a:rPr>
              <a:t>hypotheses</a:t>
            </a:r>
            <a:endParaRPr lang="en-US" sz="1600" dirty="0"/>
          </a:p>
        </p:txBody>
      </p:sp>
      <p:sp>
        <p:nvSpPr>
          <p:cNvPr id="11" name="Text 9"/>
          <p:cNvSpPr txBox="1"/>
          <p:nvPr/>
        </p:nvSpPr>
        <p:spPr>
          <a:xfrm>
            <a:off x="8183880" y="4572000"/>
            <a:ext cx="1188720" cy="822960"/>
          </a:xfrm>
          <a:prstGeom prst="rect">
            <a:avLst/>
          </a:prstGeom>
          <a:noFill/>
          <a:ln/>
        </p:spPr>
        <p:txBody>
          <a:bodyPr wrap="square" lIns="0" tIns="0" rIns="0" bIns="0" rtlCol="0" anchor="ctr"/>
          <a:lstStyle/>
          <a:p>
            <a:pPr indent="0" marL="0">
              <a:buNone/>
            </a:pPr>
            <a:r>
              <a:rPr lang="en-US" sz="4400" b="1" dirty="0">
                <a:solidFill>
                  <a:srgbClr val="5CC0DD"/>
                </a:solidFill>
                <a:latin typeface="Cambria" pitchFamily="34" charset="0"/>
                <a:ea typeface="Cambria" pitchFamily="34" charset="-122"/>
                <a:cs typeface="Cambria" pitchFamily="34" charset="-120"/>
              </a:rPr>
              <a:t>14</a:t>
            </a:r>
            <a:endParaRPr lang="en-US" sz="4400" dirty="0"/>
          </a:p>
        </p:txBody>
      </p:sp>
      <p:sp>
        <p:nvSpPr>
          <p:cNvPr id="12" name="Text 10"/>
          <p:cNvSpPr txBox="1"/>
          <p:nvPr/>
        </p:nvSpPr>
        <p:spPr>
          <a:xfrm>
            <a:off x="9418320" y="4572000"/>
            <a:ext cx="2194560" cy="822960"/>
          </a:xfrm>
          <a:prstGeom prst="rect">
            <a:avLst/>
          </a:prstGeom>
          <a:noFill/>
          <a:ln/>
        </p:spPr>
        <p:txBody>
          <a:bodyPr wrap="square" lIns="0" tIns="0" rIns="0" bIns="0" rtlCol="0" anchor="ctr"/>
          <a:lstStyle/>
          <a:p>
            <a:pPr indent="0" marL="0">
              <a:buNone/>
            </a:pPr>
            <a:r>
              <a:rPr lang="en-US" sz="1600" dirty="0">
                <a:solidFill>
                  <a:srgbClr val="94A6B3"/>
                </a:solidFill>
                <a:latin typeface="Calibri" pitchFamily="34" charset="0"/>
                <a:ea typeface="Calibri" pitchFamily="34" charset="-122"/>
                <a:cs typeface="Calibri" pitchFamily="34" charset="-120"/>
              </a:rPr>
              <a:t>automated tests</a:t>
            </a:r>
            <a:endParaRPr lang="en-US" sz="1600" dirty="0"/>
          </a:p>
        </p:txBody>
      </p:sp>
      <p:sp>
        <p:nvSpPr>
          <p:cNvPr id="13" name="Text 11"/>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2000" dirty="0">
                <a:solidFill>
                  <a:srgbClr val="E3EBF0"/>
                </a:solidFill>
                <a:latin typeface="Calibri" pitchFamily="34" charset="0"/>
                <a:ea typeface="Calibri" pitchFamily="34" charset="-122"/>
                <a:cs typeface="Calibri"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USB Insider Forensics">
  <a:themeElements>
    <a:clrScheme name="USB Insider Forensics">
      <a:dk1>
        <a:srgbClr val="0E161D"/>
      </a:dk1>
      <a:lt1>
        <a:srgbClr val="FFFFFF"/>
      </a:lt1>
      <a:dk2>
        <a:srgbClr val="16212A"/>
      </a:dk2>
      <a:lt2>
        <a:srgbClr val="E3EBF0"/>
      </a:lt2>
      <a:accent1>
        <a:srgbClr val="5CC0DD"/>
      </a:accent1>
      <a:accent2>
        <a:srgbClr val="F0C04A"/>
      </a:accent2>
      <a:accent3>
        <a:srgbClr val="F08B78"/>
      </a:accent3>
      <a:accent4>
        <a:srgbClr val="6FCF97"/>
      </a:accent4>
      <a:accent5>
        <a:srgbClr val="94A6B3"/>
      </a:accent5>
      <a:accent6>
        <a:srgbClr val="2A3A46"/>
      </a:accent6>
      <a:hlink>
        <a:srgbClr val="5CC0DD"/>
      </a:hlink>
      <a:folHlink>
        <a:srgbClr val="94A6B3"/>
      </a:folHlink>
    </a:clrScheme>
    <a:fontScheme name="USB Insider Forensic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USB Insider Forensics</dc:title>
  <dc:subject>Detecting data exfiltration via removable media on Windows</dc:subject>
  <dc:creator>PptxGenJS</dc:creator>
  <cp:lastModifiedBy>PptxGenJS</cp:lastModifiedBy>
  <cp:revision>1</cp:revision>
  <dcterms:created xsi:type="dcterms:W3CDTF">2026-10-21T17:46:00Z</dcterms:created>
  <dcterms:modified xsi:type="dcterms:W3CDTF">2026-10-21T17:46:00Z</dcterms:modified>
</cp:coreProperties>
</file>