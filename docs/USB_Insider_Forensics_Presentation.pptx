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045759c-a9d7-bf99-052e-757b7972d02d}">
          <p14:sldIdLst>
            <p14:sldId id="256"/>
            <p14:sldId id="257"/>
          </p14:sldIdLst>
        </p14:section>
        <p14:section name="Approach" id="{805d14a1-3931-66a8-b948-01cb727a2df8}">
          <p14:sldIdLst>
            <p14:sldId id="258"/>
            <p14:sldId id="259"/>
          </p14:sldIdLst>
        </p14:section>
        <p14:section name="System" id="{8267887e-f388-13ee-3cc8-09741b43cefa}">
          <p14:sldIdLst>
            <p14:sldId id="260"/>
            <p14:sldId id="261"/>
            <p14:sldId id="262"/>
            <p14:sldId id="263"/>
          </p14:sldIdLst>
        </p14:section>
        <p14:section name="Demonstration" id="{e1909f7f-60e0-c6a5-bdf4-4d7e28254be6}">
          <p14:sldIdLst>
            <p14:sldId id="264"/>
            <p14:sldId id="265"/>
          </p14:sldIdLst>
        </p14:section>
        <p14:section name="Results" id="{e3d25933-9148-d9c7-659c-06da0032a6b7}">
          <p14:sldIdLst>
            <p14:sldId id="266"/>
            <p14:sldId id="267"/>
            <p14:sldId id="268"/>
          </p14:sldIdLst>
        </p14:section>
        <p14:section name="Conclusion" id="{b5c66568-d957-1f82-96b6-c3c109265e32}">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3EBF0"/>
                </a:solidFill>
                <a:latin typeface="+mn-lt"/>
              </a:defRPr>
            </a:pPr>
            <a:r>
              <a:rPr sz="1400" b="0" i="0" u="none" strike="noStrike">
                <a:solidFill>
                  <a:srgbClr val="E3EBF0"/>
                </a:solidFill>
                <a:latin typeface="+mn-lt"/>
              </a:rPr>
              <a:t>Real Windows records collected, by type</a:t>
            </a:r>
          </a:p>
        </c:rich>
      </c:tx>
      <c:layout/>
      <c:overlay val="0"/>
    </c:title>
    <c:autoTitleDeleted val="0"/>
    <c:plotArea>
      <c:layout/>
      <c:barChart>
        <c:barDir val="col"/>
        <c:grouping val="clustered"/>
        <c:varyColors val="0"/>
        <c:ser>
          <c:idx val="0"/>
          <c:order val="0"/>
          <c:tx>
            <c:strRef>
              <c:f>Sheet1!$B$1</c:f>
              <c:strCache>
                <c:ptCount val="1"/>
                <c:pt idx="0">
                  <c:v>Experiment A</c:v>
                </c:pt>
              </c:strCache>
            </c:strRef>
          </c:tx>
          <c:spPr>
            <a:solidFill>
              <a:srgbClr val="5CC0DD"/>
            </a:solidFill>
            <a:effectLst/>
          </c:spPr>
          <c:invertIfNegative val="0"/>
          <c:dLbls>
            <c:numFmt formatCode="#,##0" sourceLinked="0"/>
            <c:txPr>
              <a:bodyPr/>
              <a:lstStyle/>
              <a:p>
                <a:pPr>
                  <a:defRPr b="0" i="0" strike="noStrike" sz="1100" u="none">
                    <a:solidFill>
                      <a:srgbClr val="E3EBF0"/>
                    </a:solidFill>
                    <a:latin typeface="+mn-lt"/>
                  </a:defRPr>
                </a:pPr>
              </a:p>
            </c:txPr>
            <c:showLegendKey val="0"/>
            <c:showVal val="1"/>
            <c:showCatName val="0"/>
            <c:showSerName val="0"/>
            <c:showPercent val="0"/>
            <c:showBubbleSize val="0"/>
            <c:showLeaderLines val="0"/>
          </c:dLbls>
          <c:cat>
            <c:multiLvlStrRef>
              <c:f>Sheet1!$A$2:$A$7</c:f>
              <c:multiLvlStrCache>
                <c:ptCount val="6"/>
                <c:lvl>
                  <c:pt idx="0">
                    <c:v>Logon</c:v>
                  </c:pt>
                  <c:pt idx="1">
                    <c:v>USB device</c:v>
                  </c:pt>
                  <c:pt idx="2">
                    <c:v>Files on USB</c:v>
                  </c:pt>
                  <c:pt idx="3">
                    <c:v>Shortcuts</c:v>
                  </c:pt>
                  <c:pt idx="4">
                    <c:v>Archive</c:v>
                  </c:pt>
                  <c:pt idx="5">
                    <c:v>Recycle Bin</c:v>
                  </c:pt>
                </c:lvl>
              </c:multiLvlStrCache>
            </c:multiLvlStrRef>
          </c:cat>
          <c:val>
            <c:numRef>
              <c:f>Sheet1!$B$2:$B$7</c:f>
              <c:numCache>
                <c:formatCode>General</c:formatCode>
                <c:ptCount val="6"/>
                <c:pt idx="0">
                  <c:v>1</c:v>
                </c:pt>
                <c:pt idx="1">
                  <c:v>1</c:v>
                </c:pt>
                <c:pt idx="2">
                  <c:v>1</c:v>
                </c:pt>
                <c:pt idx="3">
                  <c:v>1</c:v>
                </c:pt>
                <c:pt idx="4">
                  <c:v>0</c:v>
                </c:pt>
                <c:pt idx="5">
                  <c:v>0</c:v>
                </c:pt>
              </c:numCache>
            </c:numRef>
          </c:val>
        </c:ser>
        <c:ser>
          <c:idx val="1"/>
          <c:order val="1"/>
          <c:tx>
            <c:strRef>
              <c:f>Sheet1!$C$1</c:f>
              <c:strCache>
                <c:ptCount val="1"/>
                <c:pt idx="0">
                  <c:v>Experiment B</c:v>
                </c:pt>
              </c:strCache>
            </c:strRef>
          </c:tx>
          <c:spPr>
            <a:solidFill>
              <a:srgbClr val="F08B78"/>
            </a:solidFill>
            <a:effectLst/>
          </c:spPr>
          <c:invertIfNegative val="0"/>
          <c:dLbls>
            <c:numFmt formatCode="#,##0" sourceLinked="0"/>
            <c:txPr>
              <a:bodyPr/>
              <a:lstStyle/>
              <a:p>
                <a:pPr>
                  <a:defRPr b="0" i="0" strike="noStrike" sz="1100" u="none">
                    <a:solidFill>
                      <a:srgbClr val="E3EBF0"/>
                    </a:solidFill>
                    <a:latin typeface="+mn-lt"/>
                  </a:defRPr>
                </a:pPr>
              </a:p>
            </c:txPr>
            <c:showLegendKey val="0"/>
            <c:showVal val="1"/>
            <c:showCatName val="0"/>
            <c:showSerName val="0"/>
            <c:showPercent val="0"/>
            <c:showBubbleSize val="0"/>
            <c:showLeaderLines val="0"/>
          </c:dLbls>
          <c:cat>
            <c:multiLvlStrRef>
              <c:f>Sheet1!$A$2:$A$7</c:f>
              <c:multiLvlStrCache>
                <c:ptCount val="6"/>
                <c:lvl>
                  <c:pt idx="0">
                    <c:v>Logon</c:v>
                  </c:pt>
                  <c:pt idx="1">
                    <c:v>USB device</c:v>
                  </c:pt>
                  <c:pt idx="2">
                    <c:v>Files on USB</c:v>
                  </c:pt>
                  <c:pt idx="3">
                    <c:v>Shortcuts</c:v>
                  </c:pt>
                  <c:pt idx="4">
                    <c:v>Archive</c:v>
                  </c:pt>
                  <c:pt idx="5">
                    <c:v>Recycle Bin</c:v>
                  </c:pt>
                </c:lvl>
              </c:multiLvlStrCache>
            </c:multiLvlStrRef>
          </c:cat>
          <c:val>
            <c:numRef>
              <c:f>Sheet1!$C$2:$C$7</c:f>
              <c:numCache>
                <c:formatCode>General</c:formatCode>
                <c:ptCount val="6"/>
                <c:pt idx="0">
                  <c:v>1</c:v>
                </c:pt>
                <c:pt idx="1">
                  <c:v>1</c:v>
                </c:pt>
                <c:pt idx="2">
                  <c:v>2</c:v>
                </c:pt>
                <c:pt idx="3">
                  <c:v>3</c:v>
                </c:pt>
                <c:pt idx="4">
                  <c:v>1</c:v>
                </c:pt>
                <c:pt idx="5">
                  <c:v>1</c:v>
                </c:pt>
              </c:numCache>
            </c:numRef>
          </c:val>
        </c:ser>
        <c:dLbls>
          <c:numFmt formatCode="#,##0" sourceLinked="0"/>
          <c:txPr>
            <a:bodyPr/>
            <a:lstStyle/>
            <a:p>
              <a:pPr>
                <a:defRPr b="0" i="0" strike="noStrike" sz="1100" u="none">
                  <a:solidFill>
                    <a:srgbClr val="E3EBF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4A6B3"/>
                </a:solidFill>
                <a:latin typeface="+mn-lt"/>
              </a:defRPr>
            </a:pPr>
            <a:endParaRPr lang="en-US"/>
          </a:p>
        </c:txPr>
        <c:crossAx val="2094734552"/>
        <c:crosses val="autoZero"/>
        <c:auto val="1"/>
        <c:lblAlgn val="ctr"/>
        <c:noMultiLvlLbl val="1"/>
      </c:catAx>
      <c:valAx>
        <c:axId val="2094734552"/>
        <c:scaling>
          <c:orientation val="minMax"/>
          <c:max val="4"/>
        </c:scaling>
        <c:delete val="0"/>
        <c:axPos val="l"/>
        <c:majorGridlines>
          <c:spPr>
            <a:ln w="6350" cap="flat">
              <a:solidFill>
                <a:srgbClr val="2A3A4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6B3"/>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E3EBF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sir. Our project is called USB Insider Forensics: detecting data exfiltration via removable media on Windows.
In simple words, the question is this: if an employee copies company files to a USB drive, can we prove it using only the traces Windows leaves behind on the computer?
We built the complete system ourselves: a tool that collects the evidence from Windows, an analysis engine that links the evidence together and reaches a conclusion, a dashboard to see the results, and reports. And we did not stop at made-up data: we tested it on real Windows evidence from our own laptop with a real USB disk.
What you see on the right is our dashboard. I will show it working live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why this problem matters.
Most people imagine data theft as a hacker breaking in from outside. But a lot of data loss comes from insiders: employees who already have permission to open the files. They don't need to hack anything.
The easiest way for an insider to take data out is a USB drive. And here is the real difficulty for an investigator: people also use USB drives for completely normal reasons, like backups. So if we only see that a USB was plugged in, that proves nothing. A normal backup and a theft can look exactly the same from a single trace.
So our research question is the one on the right: can the traces Windows leaves behind tell an ordinary USB backup apart from an insider copying sensitive company files? We answered it with a controlled experiment and real Windows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of the whole project.
Windows quietly records many small clues. On the left: a USB drive was connected; a sensitive file was opened; the same file appeared on the USB; which user was logged in; and whether a ZIP was made or a file was deleted.
Each clue on its own is weak. A USB connection happens every day. Opening a file is normal. Even deleting a file can be innocent.
But think of a detective. One footprint means nothing. A footprint, fingerprints and a CCTV recording all pointing to the same person at the same time make a strong case.
That is exactly what our system does. It takes these clues and checks whether they happened inside the same USB time window, which is 20 minutes by default and configurable. When several independent clues agree in that window, we have strong evidence.
And the conclusion is always explainable: it shows a confidence level, the exact records it used, and the limit of what it can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this fairly, we needed a control: a normal case to compare against.
So we ran two experiments, and the top bar is important: same laptop, same Windows user, same USB drive, same fictional company files. Only the behaviour changes.
Experiment A is the normal backup, our control. The user plugs in the USB, opens an ordinary Readme file and copies it to the USB. Our system must not call this a leak.
Experiment B is the simulated insider. The user opens the salary, customer and project files, copies the sensitive ones to the USB, makes a ZIP archive, and deletes a temporary copy into the Recycle Bin. Our system should flag this.
All the company files are fictional. We created them ourselves; no real data was used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evidence come from? Windows saves these clues in five places, and our collector reads all five.
One, USB device history, stored in the Windows Registry under the device's entry. Windows keeps the first-install time, the last connection and the last removal. This shows the device was present, but not what was copied.
Two, the files on the USB itself. The USB's file system records when each file was created. This is the strongest clue, because it shows the file actually reached the drive.
Three, Recent Items shortcuts. When you open a document, Windows automatically creates a small shortcut file in the user's Recent folder. That shows the file was opened, but not copied.
Four, Recycle Bin records. Every deleted file leaves a small record with its original path and the exact deletion time. Deletion can be innocent, so it doesn't prove intent.
Five, logon events in the Windows event log, which tie the activity to a user session.
Each yellow line is the limit of that clue. Our collector is a PowerShell script that reads all of these as a normal user, read-only, so it never changes the computer, and it seals its output with a SHA-256 fingerprint."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pipeline, from raw Windows traces to a verdict, in seven stages.
Collect: the read-only PowerShell collector gathers the evidence.
Seal: the export gets a SHA-256 fingerprint and a custody record, so any later change would be detected.
Ingest: every record is loaded, and the original raw version is kept untouched.
Normalize: different kinds of records are converted into one common format. If a value is missing, it stays missing. Nothing is guessed.
Correlate: records are linked when they share the same user, device, file and time window.
Assess: the system answers four questions, each with a confidence and a stated limit.
Present: the results go to the dashboard and to PDF, HTML and CSV reports.
We built it with PowerShell for collection, Python for the analysis, SQLite as the database, a Flask API, and a React dashboard. There are 14 automated tests that check all of this works.
The most important design point is at the bottom: every stage keeps the IDs of the records it used, so any result can be traced back to the original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giving a single 'guilty' or 'not guilty', the system answers four separate questions.
H1: was a USB drive used? This needs a USB connection record. The limit: normal users plug in USB drives too.
H2: were the sensitive files opened? This needs shortcut or recent-document records for the listed files. The limit: opening is not copying.
H3: were they copied to the USB? This is the strongest one. It needs a sensitive file on the USB inside the connection window, plus a user session. Even then, it shows timing and links, not intent.
H4: was anything hidden? This needs archive or deletion records. The limit: zipping and deleting files can be completely innocent.
The confidence levels, Low, Medium and High, are our own defined labels, not probabilities. And the score is only a ranking aid, not a forensic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forensics, how you handle evidence matters as much as the result. Four things make our process sound.
First, read-only collection: the collector never edits the system it examines.
Second, a SHA-256 fingerprint. A hash is a digital fingerprint of the file; change even one character and the fingerprint changes completely. This hash, starting CA60D5A4, sealed our real Experiment B evidence.
Third, the raw record is preserved next to the cleaned version, so nothing is lost or invented.
Fourth, a custody and audit log: who handled the evidence, when, and every time the analysis ran.
On the right you can see the dashboard's evidence panel: the normalized fields at the top and the original raw data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show it working live. One command runs the whole investigation in eight steps. At every step it prints the exact command and the actual code it's running, so nothing is hidden. Before each experiment I'll unplug and replug the USB drive, so Windows records a genuine new connection."
[Switch to PowerShell. Type .\live_demo.ps1 and press Enter.]
Start screen: "This is the question we're answering. I'll press Enter to start." [Enter]
Step 1, find the USB drive: "First it asks Windows which drives are USB storage. Here is the command it runs. It found our Seagate external USB disk, which plays the role of the device an employee uses to take data out." [Enter]
Step 2, fictional company files: "Now it creates a fake company folder. These are the actual lines of code that create each file: a salary spreadsheet, a customer database, a project PDF, a strategy document and an ordinary readme. The salary and customer files are classified as highly sensitive in our configuration." [Enter]
Step 3, Experiment A: "This is the control, a normal backup. I'm going to unplug the USB drive and plug it back in, so Windows records a fresh connection." [Eject D: from the taskbar, unplug, wait 5 seconds, plug back in, wait for D: to appear, press Enter.] "You can see Windows recorded the connection at this exact time. Here is every line of the experiment script: it opens the readme and copies it to the USB. And here it is on the USB now." [Enter]
Step 4, collect evidence for A: "Now the collector reads the traces Windows left, limited to just this experiment's minutes. These five lines are the five evidence sources it reads. And here are the real records it found: the logon, the USB connection, the readme on the USB, and the shortcut showing it was opened." [Enter]
Step 5, Experiment B: "Now the insider. Same laptop, same user, same USB. I'll replug the drive again." [Eject, unplug, wait, plug back in, press Enter.] "Here is every line of this script. It opens the three sensitive files, copies two of them to the USB, creates a ZIP archive, and deletes a temporary copy into the Recycle Bin. And here are the files now on the USB." [Enter]
Step 6, collect evidence for B: "The same read-only collector for Experiment B. Look at this: files opened, the same files on the USB, a ZIP, and a deletion, all within seconds. And here is the SHA-256 fingerprint that seals this evidence." [Enter]
Step 7, analysis: "Now the analysis. These are the stages the engine runs, in order. And here are the results: H1, a USB was used, supported. H2, sensitive files were opened, supported. H3, copied to the USB, supported. H4 is only partially supported, because zipping and deleting can be innocent. Most importantly: a possible transfer is flagged only in Experiment B, not in Experiment A. That is exactly the correct answer." [Enter]
Step 8, clean up and dashboard: "The fake files go to the Recycle Bin, but the evidence was preserved and fingerprinted before cleanup, which is how forensic work should be done. And now the dashboard opens on the evidence we just created."
[In the browser.]
Overview: "This is the overview, with the finding and the key numbers. This stepper shows every stage the evidence went through." [Click two or three stages.]
[Click Timeline.] "This is the timeline. On the left, Experiment A: one ordinary file. On the right, Experiment B: everything happens within seconds, all inside the USB window."
[Click Sensitive files.] "Here is the strongest clue. The salary file on the computer, and the same file on the USB drive."
[Click Correlations.] "These are the links the engine made. This one is the key link, the possible transfer session. It lists its reasons in plain English and the exact record IDs it used. So it is not a black box: every conclusion can be checked by hand."
[Click Artifacts, then click any row.] "And for any record, you can see the cleaned version at the top and the original raw evidence underneath. Nothing is lost, and nothing is invented."
[Press Ctrl+C in PowerShell. Return to PowerPoint,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today, we also ran both experiments for real on the 21st of October, on this laptop with our Seagate external USB disk. These are the actual timestamps Windows recorded.
In Experiment A, the disk connected at 21:02:07, and a minute later the readme was opened and written to the USB.
In Experiment B, the disk connected at 21:32:36. Then at 21:32:57 the sensitive files were opened and copied to the USB, at 21:32:58 the ZIP was created, and at 21:32:59 the copy was deleted to the Recycle Bin.
So: open, copy, zip and delete, all within three seconds, all inside the USB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result on that real evidence.
The chart shows the real Windows records collected for each experiment. Both have a logon and a USB connection; that's normal. But Experiment B has more files on the USB, more shortcuts, an archive and a deletion.
And the verdict: for Experiment A, no transfer was flagged, even though the USB was used. For Experiment B, a possible transfer with HIGH confidence, correlation CORR-005, built from nine real records inside the USB window.
That is exactly the behaviour we designed for: it catches the insider, and it does not accuse the normal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the method three ways, with the same rules each time.
First, on our designed dataset, where we knew the right answer in advance: correct.
Second, on the real run on the laptop: the same verdict, with the transfer only in Experiment B.
Third, on 30 days of normal use of the same laptop, without any experiment: it found real USB use, but correctly said no sensitive files were opened or copied. So there is no false alarm.
Real evidence reproduced the designed result, and normal USB use was not called a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two pages of the dashboard you saw. On the left, the correlations page: each link with its reasons and the exact record IDs. On the right, the sensitive files page: the same file on the computer and on the USB drive.
There are eleven pages in total, plus PDF, HTML, JSON and CSV reports, so the dashboard is not the only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what this project does not claim.
It does not prove guilt or intent. It can support that a transfer happened, but why someone did it is outside forensics.
The company data is fictional. The Windows traces are completely real, but the salary and customer files are made up.
Live collection touches the running system slightly. For formal casework, investigators should first make a copy of the powered-off disk and analyse the copy.
It was tested on one laptop and one Windows version. A larger study would repeat it on more PCs and USB devices.
And the score is not a standard. It only ranks findings; it is not a probability.
For future work: analysing full disk images, testing more devices and Windows versions, and capturing USB removal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Several independent clues, agreeing in the same USB window, separate an insider from normal use far better than any single clue, and that held on real Windows evidence.
The project reads five evidence sources, produces explainable correlations, answers four hypotheses, and is checked by fourteen automated tests.
Thank you, sir.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E161D"/>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6B7D89"/>
                </a:solidFill>
                <a:latin typeface="Calibri" pitchFamily="34" charset="0"/>
                <a:ea typeface="Calibri" pitchFamily="34" charset="-122"/>
                <a:cs typeface="Calibri" pitchFamily="34" charset="-120"/>
              </a:rPr>
              <a:t>USB Insider Forensics  ·  INSIDER-USB-001</a:t>
            </a:r>
            <a:endParaRPr lang="en-US" sz="1000" dirty="0"/>
          </a:p>
        </p:txBody>
      </p:sp>
      <p:sp>
        <p:nvSpPr>
          <p:cNvPr id="3" name="Text 1"/>
          <p:cNvSpPr/>
          <p:nvPr>
            <p:ph idx="101" type="title" hasCustomPrompt="1"/>
          </p:nvPr>
        </p:nvSpPr>
        <p:spPr>
          <a:xfrm>
            <a:off x="548640" y="749808"/>
            <a:ext cx="11094415" cy="777240"/>
          </a:xfrm>
          <a:prstGeom prst="rect">
            <a:avLst/>
          </a:prstGeom>
          <a:noFill/>
          <a:ln/>
        </p:spPr>
        <p:txBody>
          <a:bodyPr wrap="square" rtlCol="0"/>
          <a:lstStyle>
            <a:lvl1pPr algn="l" indent="0" marL="0">
              <a:buNone/>
              <a:defRPr lang="en-US" sz="3000" b="1" dirty="0">
                <a:solidFill>
                  <a:srgbClr val="E3EBF0"/>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PLAIN">
    <p:bg>
      <p:bgPr>
        <a:solidFill>
          <a:srgbClr val="0E161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6400800" cy="274320"/>
          </a:xfrm>
          <a:prstGeom prst="rect">
            <a:avLst/>
          </a:prstGeom>
          <a:noFill/>
          <a:ln/>
        </p:spPr>
        <p:txBody>
          <a:bodyPr wrap="square" lIns="0" tIns="0" rIns="0" bIns="0" rtlCol="0" anchor="t"/>
          <a:lstStyle/>
          <a:p>
            <a:pPr indent="0" marL="0">
              <a:buNone/>
            </a:pPr>
            <a:r>
              <a:rPr lang="en-US" sz="1200" spc="300" kern="0" dirty="0">
                <a:solidFill>
                  <a:srgbClr val="5CC0DD"/>
                </a:solidFill>
                <a:latin typeface="Consolas" pitchFamily="34" charset="0"/>
                <a:ea typeface="Consolas" pitchFamily="34" charset="-122"/>
                <a:cs typeface="Consolas" pitchFamily="34" charset="-120"/>
              </a:rPr>
              <a:t>CYBER FORENSICS PROJECT  ·  CASE INSIDER-USB-001</a:t>
            </a:r>
            <a:endParaRPr lang="en-US" sz="1200" dirty="0"/>
          </a:p>
        </p:txBody>
      </p:sp>
      <p:sp>
        <p:nvSpPr>
          <p:cNvPr id="3" name="Text 1"/>
          <p:cNvSpPr txBox="1"/>
          <p:nvPr/>
        </p:nvSpPr>
        <p:spPr>
          <a:xfrm>
            <a:off x="548640" y="1280160"/>
            <a:ext cx="5760720" cy="1645920"/>
          </a:xfrm>
          <a:prstGeom prst="rect">
            <a:avLst/>
          </a:prstGeom>
          <a:noFill/>
          <a:ln/>
        </p:spPr>
        <p:txBody>
          <a:bodyPr wrap="square" lIns="0" tIns="0" rIns="0" bIns="0" rtlCol="0" anchor="t"/>
          <a:lstStyle/>
          <a:p>
            <a:pPr indent="0" marL="0">
              <a:buNone/>
            </a:pPr>
            <a:r>
              <a:rPr lang="en-US" sz="4800" b="1" dirty="0">
                <a:solidFill>
                  <a:srgbClr val="E3EBF0"/>
                </a:solidFill>
                <a:latin typeface="Cambria" pitchFamily="34" charset="0"/>
                <a:ea typeface="Cambria" pitchFamily="34" charset="-122"/>
                <a:cs typeface="Cambria" pitchFamily="34" charset="-120"/>
              </a:rPr>
              <a:t>USB Insider Forensics</a:t>
            </a:r>
            <a:endParaRPr lang="en-US" sz="4800" dirty="0"/>
          </a:p>
        </p:txBody>
      </p:sp>
      <p:sp>
        <p:nvSpPr>
          <p:cNvPr id="4" name="Text 2"/>
          <p:cNvSpPr txBox="1"/>
          <p:nvPr/>
        </p:nvSpPr>
        <p:spPr>
          <a:xfrm>
            <a:off x="548640" y="3017520"/>
            <a:ext cx="5486400" cy="731520"/>
          </a:xfrm>
          <a:prstGeom prst="rect">
            <a:avLst/>
          </a:prstGeom>
          <a:noFill/>
          <a:ln/>
        </p:spPr>
        <p:txBody>
          <a:bodyPr wrap="square" lIns="0" tIns="0" rIns="0" bIns="0" rtlCol="0" anchor="t"/>
          <a:lstStyle/>
          <a:p>
            <a:pPr indent="0" marL="0">
              <a:buNone/>
            </a:pPr>
            <a:r>
              <a:rPr lang="en-US" sz="2000" dirty="0">
                <a:solidFill>
                  <a:srgbClr val="94A6B3"/>
                </a:solidFill>
                <a:latin typeface="Calibri" pitchFamily="34" charset="0"/>
                <a:ea typeface="Calibri" pitchFamily="34" charset="-122"/>
                <a:cs typeface="Calibri" pitchFamily="34" charset="-120"/>
              </a:rPr>
              <a:t>Detecting data exfiltration via removable media on Windows</a:t>
            </a:r>
            <a:endParaRPr lang="en-US" sz="2000" dirty="0"/>
          </a:p>
        </p:txBody>
      </p:sp>
      <p:sp>
        <p:nvSpPr>
          <p:cNvPr id="5" name="Shape 3"/>
          <p:cNvSpPr/>
          <p:nvPr/>
        </p:nvSpPr>
        <p:spPr>
          <a:xfrm>
            <a:off x="548640" y="4114800"/>
            <a:ext cx="146304" cy="146304"/>
          </a:xfrm>
          <a:prstGeom prst="ellipse">
            <a:avLst/>
          </a:prstGeom>
          <a:solidFill>
            <a:srgbClr val="94A6B3"/>
          </a:solidFill>
          <a:ln w="12700">
            <a:solidFill>
              <a:srgbClr val="94A6B3"/>
            </a:solidFill>
            <a:prstDash val="solid"/>
          </a:ln>
        </p:spPr>
      </p:sp>
      <p:sp>
        <p:nvSpPr>
          <p:cNvPr id="6" name="Text 4"/>
          <p:cNvSpPr txBox="1"/>
          <p:nvPr/>
        </p:nvSpPr>
        <p:spPr>
          <a:xfrm>
            <a:off x="822960" y="4050792"/>
            <a:ext cx="2743200" cy="2743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User session</a:t>
            </a:r>
            <a:endParaRPr lang="en-US" sz="1400" dirty="0"/>
          </a:p>
        </p:txBody>
      </p:sp>
      <p:sp>
        <p:nvSpPr>
          <p:cNvPr id="7" name="Shape 5"/>
          <p:cNvSpPr/>
          <p:nvPr/>
        </p:nvSpPr>
        <p:spPr>
          <a:xfrm>
            <a:off x="548640" y="4480560"/>
            <a:ext cx="146304" cy="146304"/>
          </a:xfrm>
          <a:prstGeom prst="ellipse">
            <a:avLst/>
          </a:prstGeom>
          <a:solidFill>
            <a:srgbClr val="5CC0DD"/>
          </a:solidFill>
          <a:ln w="12700">
            <a:solidFill>
              <a:srgbClr val="5CC0DD"/>
            </a:solidFill>
            <a:prstDash val="solid"/>
          </a:ln>
        </p:spPr>
      </p:sp>
      <p:sp>
        <p:nvSpPr>
          <p:cNvPr id="8" name="Text 6"/>
          <p:cNvSpPr txBox="1"/>
          <p:nvPr/>
        </p:nvSpPr>
        <p:spPr>
          <a:xfrm>
            <a:off x="822960" y="4416552"/>
            <a:ext cx="2743200" cy="2743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USB device</a:t>
            </a:r>
            <a:endParaRPr lang="en-US" sz="1400" dirty="0"/>
          </a:p>
        </p:txBody>
      </p:sp>
      <p:sp>
        <p:nvSpPr>
          <p:cNvPr id="9" name="Shape 7"/>
          <p:cNvSpPr/>
          <p:nvPr/>
        </p:nvSpPr>
        <p:spPr>
          <a:xfrm>
            <a:off x="548640" y="4846320"/>
            <a:ext cx="146304" cy="146304"/>
          </a:xfrm>
          <a:prstGeom prst="ellipse">
            <a:avLst/>
          </a:prstGeom>
          <a:solidFill>
            <a:srgbClr val="F0C04A"/>
          </a:solidFill>
          <a:ln w="12700">
            <a:solidFill>
              <a:srgbClr val="F0C04A"/>
            </a:solidFill>
            <a:prstDash val="solid"/>
          </a:ln>
        </p:spPr>
      </p:sp>
      <p:sp>
        <p:nvSpPr>
          <p:cNvPr id="10" name="Text 8"/>
          <p:cNvSpPr txBox="1"/>
          <p:nvPr/>
        </p:nvSpPr>
        <p:spPr>
          <a:xfrm>
            <a:off x="822960" y="4782312"/>
            <a:ext cx="2743200" cy="2743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File activity</a:t>
            </a:r>
            <a:endParaRPr lang="en-US" sz="1400" dirty="0"/>
          </a:p>
        </p:txBody>
      </p:sp>
      <p:sp>
        <p:nvSpPr>
          <p:cNvPr id="11" name="Shape 9"/>
          <p:cNvSpPr/>
          <p:nvPr/>
        </p:nvSpPr>
        <p:spPr>
          <a:xfrm>
            <a:off x="548640" y="5212080"/>
            <a:ext cx="146304" cy="146304"/>
          </a:xfrm>
          <a:prstGeom prst="ellipse">
            <a:avLst/>
          </a:prstGeom>
          <a:solidFill>
            <a:srgbClr val="F08B78"/>
          </a:solidFill>
          <a:ln w="12700">
            <a:solidFill>
              <a:srgbClr val="F08B78"/>
            </a:solidFill>
            <a:prstDash val="solid"/>
          </a:ln>
        </p:spPr>
      </p:sp>
      <p:sp>
        <p:nvSpPr>
          <p:cNvPr id="12" name="Text 10"/>
          <p:cNvSpPr txBox="1"/>
          <p:nvPr/>
        </p:nvSpPr>
        <p:spPr>
          <a:xfrm>
            <a:off x="822960" y="5148072"/>
            <a:ext cx="2743200" cy="2743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Archive or deletion</a:t>
            </a:r>
            <a:endParaRPr lang="en-US" sz="1400" dirty="0"/>
          </a:p>
        </p:txBody>
      </p:sp>
      <p:sp>
        <p:nvSpPr>
          <p:cNvPr id="13" name="Text 11"/>
          <p:cNvSpPr txBox="1"/>
          <p:nvPr/>
        </p:nvSpPr>
        <p:spPr>
          <a:xfrm>
            <a:off x="548640" y="5806440"/>
            <a:ext cx="5852160" cy="274320"/>
          </a:xfrm>
          <a:prstGeom prst="rect">
            <a:avLst/>
          </a:prstGeom>
          <a:noFill/>
          <a:ln/>
        </p:spPr>
        <p:txBody>
          <a:bodyPr wrap="square" lIns="0" tIns="0" rIns="0" bIns="0" rtlCol="0" anchor="t"/>
          <a:lstStyle/>
          <a:p>
            <a:pPr indent="0" marL="0">
              <a:buNone/>
            </a:pPr>
            <a:r>
              <a:rPr lang="en-US" sz="1200" dirty="0">
                <a:solidFill>
                  <a:srgbClr val="6B7D89"/>
                </a:solidFill>
                <a:latin typeface="Calibri" pitchFamily="34" charset="0"/>
                <a:ea typeface="Calibri" pitchFamily="34" charset="-122"/>
                <a:cs typeface="Calibri" pitchFamily="34" charset="-120"/>
              </a:rPr>
              <a:t>Real Windows evidence  ·  Python analysis engine  ·  React dashboard</a:t>
            </a:r>
            <a:endParaRPr lang="en-US" sz="1200" dirty="0"/>
          </a:p>
        </p:txBody>
      </p:sp>
      <p:sp>
        <p:nvSpPr>
          <p:cNvPr id="14" name="Shape 12"/>
          <p:cNvSpPr/>
          <p:nvPr/>
        </p:nvSpPr>
        <p:spPr>
          <a:xfrm>
            <a:off x="6574536" y="1042416"/>
            <a:ext cx="5093208" cy="3227832"/>
          </a:xfrm>
          <a:prstGeom prst="roundRect">
            <a:avLst>
              <a:gd name="adj" fmla="val 2266"/>
            </a:avLst>
          </a:prstGeom>
          <a:solidFill>
            <a:srgbClr val="1C2A35"/>
          </a:solidFill>
          <a:ln w="9525">
            <a:solidFill>
              <a:srgbClr val="2A3A46"/>
            </a:solidFill>
            <a:prstDash val="solid"/>
          </a:ln>
          <a:effectLst>
            <a:outerShdw sx="100000" sy="100000" kx="0" ky="0" algn="bl" rotWithShape="0" blurRad="177800" dist="50800" dir="5400000">
              <a:srgbClr val="000000">
                <a:alpha val="45000"/>
              </a:srgbClr>
            </a:outerShdw>
          </a:effectLst>
        </p:spPr>
      </p:sp>
      <p:pic>
        <p:nvPicPr>
          <p:cNvPr id="15" name="Image 0" descr="C:\Users\Gary\AppData\Local\Temp\claude\C--Users-Gary-Desktop-CF-proj\9eb8b016-f6a9-4b13-949a-4dbf52c2bac2\scratchpad\deck\img\overview.png">    </p:cNvPr>
          <p:cNvPicPr>
            <a:picLocks noChangeAspect="1"/>
          </p:cNvPicPr>
          <p:nvPr/>
        </p:nvPicPr>
        <p:blipFill>
          <a:blip r:embed="rId1"/>
          <a:stretch>
            <a:fillRect/>
          </a:stretch>
        </p:blipFill>
        <p:spPr>
          <a:xfrm>
            <a:off x="6629400" y="1097280"/>
            <a:ext cx="4983480" cy="3118104"/>
          </a:xfrm>
          <a:prstGeom prst="rect">
            <a:avLst/>
          </a:prstGeom>
        </p:spPr>
      </p:pic>
      <p:sp>
        <p:nvSpPr>
          <p:cNvPr id="16" name="Shape 13"/>
          <p:cNvSpPr/>
          <p:nvPr/>
        </p:nvSpPr>
        <p:spPr>
          <a:xfrm>
            <a:off x="7397496" y="3191256"/>
            <a:ext cx="4270248" cy="2706624"/>
          </a:xfrm>
          <a:prstGeom prst="roundRect">
            <a:avLst>
              <a:gd name="adj" fmla="val 2703"/>
            </a:avLst>
          </a:prstGeom>
          <a:solidFill>
            <a:srgbClr val="1C2A35"/>
          </a:solidFill>
          <a:ln w="9525">
            <a:solidFill>
              <a:srgbClr val="2A3A46"/>
            </a:solidFill>
            <a:prstDash val="solid"/>
          </a:ln>
          <a:effectLst>
            <a:outerShdw sx="100000" sy="100000" kx="0" ky="0" algn="bl" rotWithShape="0" blurRad="177800" dist="50800" dir="5400000">
              <a:srgbClr val="000000">
                <a:alpha val="45000"/>
              </a:srgbClr>
            </a:outerShdw>
          </a:effectLst>
        </p:spPr>
      </p:sp>
      <p:pic>
        <p:nvPicPr>
          <p:cNvPr id="17" name="Image 1" descr="C:\Users\Gary\AppData\Local\Temp\claude\C--Users-Gary-Desktop-CF-proj\9eb8b016-f6a9-4b13-949a-4dbf52c2bac2\scratchpad\deck\img\timeline.png">    </p:cNvPr>
          <p:cNvPicPr>
            <a:picLocks noChangeAspect="1"/>
          </p:cNvPicPr>
          <p:nvPr/>
        </p:nvPicPr>
        <p:blipFill>
          <a:blip r:embed="rId2"/>
          <a:stretch>
            <a:fillRect/>
          </a:stretch>
        </p:blipFill>
        <p:spPr>
          <a:xfrm>
            <a:off x="7452360" y="3246120"/>
            <a:ext cx="4160520" cy="2596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01 · WHY THIS PROJECT</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The insider already has access. The USB drive is the door</a:t>
            </a:r>
            <a:endParaRPr lang="en-US" sz="3000" dirty="0"/>
          </a:p>
        </p:txBody>
      </p:sp>
      <p:sp>
        <p:nvSpPr>
          <p:cNvPr id="4" name="Shape 2"/>
          <p:cNvSpPr/>
          <p:nvPr/>
        </p:nvSpPr>
        <p:spPr>
          <a:xfrm>
            <a:off x="548640" y="1828800"/>
            <a:ext cx="566928" cy="566928"/>
          </a:xfrm>
          <a:prstGeom prst="ellipse">
            <a:avLst/>
          </a:prstGeom>
          <a:solidFill>
            <a:srgbClr val="1C2A35"/>
          </a:solidFill>
          <a:ln w="9525">
            <a:solidFill>
              <a:srgbClr val="2A3A46"/>
            </a:solidFill>
            <a:prstDash val="solid"/>
          </a:ln>
        </p:spPr>
      </p:sp>
      <p:pic>
        <p:nvPicPr>
          <p:cNvPr id="5" name="Image 0" descr="preencoded.png">    </p:cNvPr>
          <p:cNvPicPr>
            <a:picLocks noChangeAspect="1"/>
          </p:cNvPicPr>
          <p:nvPr/>
        </p:nvPicPr>
        <p:blipFill>
          <a:blip r:embed="rId1"/>
          <a:stretch>
            <a:fillRect/>
          </a:stretch>
        </p:blipFill>
        <p:spPr>
          <a:xfrm>
            <a:off x="673364" y="1953524"/>
            <a:ext cx="317480" cy="317480"/>
          </a:xfrm>
          <a:prstGeom prst="rect">
            <a:avLst/>
          </a:prstGeom>
        </p:spPr>
      </p:pic>
      <p:sp>
        <p:nvSpPr>
          <p:cNvPr id="6" name="Text 3"/>
          <p:cNvSpPr txBox="1"/>
          <p:nvPr/>
        </p:nvSpPr>
        <p:spPr>
          <a:xfrm>
            <a:off x="1325880" y="1810512"/>
            <a:ext cx="4846320" cy="365760"/>
          </a:xfrm>
          <a:prstGeom prst="rect">
            <a:avLst/>
          </a:prstGeom>
          <a:noFill/>
          <a:ln/>
        </p:spPr>
        <p:txBody>
          <a:bodyPr wrap="square" lIns="0" tIns="0" rIns="0" bIns="0" rtlCol="0" anchor="t"/>
          <a:lstStyle/>
          <a:p>
            <a:pPr indent="0" marL="0">
              <a:buNone/>
            </a:pPr>
            <a:r>
              <a:rPr lang="en-US" sz="1800" b="1" dirty="0">
                <a:solidFill>
                  <a:srgbClr val="E3EBF0"/>
                </a:solidFill>
                <a:latin typeface="Calibri" pitchFamily="34" charset="0"/>
                <a:ea typeface="Calibri" pitchFamily="34" charset="-122"/>
                <a:cs typeface="Calibri" pitchFamily="34" charset="-120"/>
              </a:rPr>
              <a:t>Trusted users</a:t>
            </a:r>
            <a:endParaRPr lang="en-US" sz="1800" dirty="0"/>
          </a:p>
        </p:txBody>
      </p:sp>
      <p:sp>
        <p:nvSpPr>
          <p:cNvPr id="7" name="Text 4"/>
          <p:cNvSpPr txBox="1"/>
          <p:nvPr/>
        </p:nvSpPr>
        <p:spPr>
          <a:xfrm>
            <a:off x="1325880" y="2194560"/>
            <a:ext cx="4846320" cy="731520"/>
          </a:xfrm>
          <a:prstGeom prst="rect">
            <a:avLst/>
          </a:prstGeom>
          <a:noFill/>
          <a:ln/>
        </p:spPr>
        <p:txBody>
          <a:bodyPr wrap="square" lIns="0" tIns="0" rIns="0" bIns="0" rtlCol="0" anchor="t"/>
          <a:lstStyle/>
          <a:p>
            <a:pPr indent="0" marL="0">
              <a:buNone/>
            </a:pPr>
            <a:r>
              <a:rPr lang="en-US" sz="1500" dirty="0">
                <a:solidFill>
                  <a:srgbClr val="94A6B3"/>
                </a:solidFill>
                <a:latin typeface="Calibri" pitchFamily="34" charset="0"/>
                <a:ea typeface="Calibri" pitchFamily="34" charset="-122"/>
                <a:cs typeface="Calibri" pitchFamily="34" charset="-120"/>
              </a:rPr>
              <a:t>An insider does not hack in. They already have permission to open the files.</a:t>
            </a:r>
            <a:endParaRPr lang="en-US" sz="1500" dirty="0"/>
          </a:p>
        </p:txBody>
      </p:sp>
      <p:sp>
        <p:nvSpPr>
          <p:cNvPr id="8" name="Shape 5"/>
          <p:cNvSpPr/>
          <p:nvPr/>
        </p:nvSpPr>
        <p:spPr>
          <a:xfrm>
            <a:off x="548640" y="3154680"/>
            <a:ext cx="566928" cy="566928"/>
          </a:xfrm>
          <a:prstGeom prst="ellipse">
            <a:avLst/>
          </a:prstGeom>
          <a:solidFill>
            <a:srgbClr val="1C2A35"/>
          </a:solidFill>
          <a:ln w="9525">
            <a:solidFill>
              <a:srgbClr val="2A3A46"/>
            </a:solidFill>
            <a:prstDash val="solid"/>
          </a:ln>
        </p:spPr>
      </p:sp>
      <p:pic>
        <p:nvPicPr>
          <p:cNvPr id="9" name="Image 1" descr="preencoded.png">    </p:cNvPr>
          <p:cNvPicPr>
            <a:picLocks noChangeAspect="1"/>
          </p:cNvPicPr>
          <p:nvPr/>
        </p:nvPicPr>
        <p:blipFill>
          <a:blip r:embed="rId2"/>
          <a:stretch>
            <a:fillRect/>
          </a:stretch>
        </p:blipFill>
        <p:spPr>
          <a:xfrm>
            <a:off x="673364" y="3279404"/>
            <a:ext cx="317480" cy="317480"/>
          </a:xfrm>
          <a:prstGeom prst="rect">
            <a:avLst/>
          </a:prstGeom>
        </p:spPr>
      </p:pic>
      <p:sp>
        <p:nvSpPr>
          <p:cNvPr id="10" name="Text 6"/>
          <p:cNvSpPr txBox="1"/>
          <p:nvPr/>
        </p:nvSpPr>
        <p:spPr>
          <a:xfrm>
            <a:off x="1325880" y="3136392"/>
            <a:ext cx="4846320" cy="365760"/>
          </a:xfrm>
          <a:prstGeom prst="rect">
            <a:avLst/>
          </a:prstGeom>
          <a:noFill/>
          <a:ln/>
        </p:spPr>
        <p:txBody>
          <a:bodyPr wrap="square" lIns="0" tIns="0" rIns="0" bIns="0" rtlCol="0" anchor="t"/>
          <a:lstStyle/>
          <a:p>
            <a:pPr indent="0" marL="0">
              <a:buNone/>
            </a:pPr>
            <a:r>
              <a:rPr lang="en-US" sz="1800" b="1" dirty="0">
                <a:solidFill>
                  <a:srgbClr val="E3EBF0"/>
                </a:solidFill>
                <a:latin typeface="Calibri" pitchFamily="34" charset="0"/>
                <a:ea typeface="Calibri" pitchFamily="34" charset="-122"/>
                <a:cs typeface="Calibri" pitchFamily="34" charset="-120"/>
              </a:rPr>
              <a:t>USB is everyday</a:t>
            </a:r>
            <a:endParaRPr lang="en-US" sz="1800" dirty="0"/>
          </a:p>
        </p:txBody>
      </p:sp>
      <p:sp>
        <p:nvSpPr>
          <p:cNvPr id="11" name="Text 7"/>
          <p:cNvSpPr txBox="1"/>
          <p:nvPr/>
        </p:nvSpPr>
        <p:spPr>
          <a:xfrm>
            <a:off x="1325880" y="3520440"/>
            <a:ext cx="4846320" cy="731520"/>
          </a:xfrm>
          <a:prstGeom prst="rect">
            <a:avLst/>
          </a:prstGeom>
          <a:noFill/>
          <a:ln/>
        </p:spPr>
        <p:txBody>
          <a:bodyPr wrap="square" lIns="0" tIns="0" rIns="0" bIns="0" rtlCol="0" anchor="t"/>
          <a:lstStyle/>
          <a:p>
            <a:pPr indent="0" marL="0">
              <a:buNone/>
            </a:pPr>
            <a:r>
              <a:rPr lang="en-US" sz="1500" dirty="0">
                <a:solidFill>
                  <a:srgbClr val="94A6B3"/>
                </a:solidFill>
                <a:latin typeface="Calibri" pitchFamily="34" charset="0"/>
                <a:ea typeface="Calibri" pitchFamily="34" charset="-122"/>
                <a:cs typeface="Calibri" pitchFamily="34" charset="-120"/>
              </a:rPr>
              <a:t>Backups to a USB drive are normal, so plugging one in proves nothing.</a:t>
            </a:r>
            <a:endParaRPr lang="en-US" sz="1500" dirty="0"/>
          </a:p>
        </p:txBody>
      </p:sp>
      <p:sp>
        <p:nvSpPr>
          <p:cNvPr id="12" name="Shape 8"/>
          <p:cNvSpPr/>
          <p:nvPr/>
        </p:nvSpPr>
        <p:spPr>
          <a:xfrm>
            <a:off x="548640" y="4480560"/>
            <a:ext cx="566928" cy="566928"/>
          </a:xfrm>
          <a:prstGeom prst="ellipse">
            <a:avLst/>
          </a:prstGeom>
          <a:solidFill>
            <a:srgbClr val="1C2A35"/>
          </a:solidFill>
          <a:ln w="9525">
            <a:solidFill>
              <a:srgbClr val="2A3A46"/>
            </a:solidFill>
            <a:prstDash val="solid"/>
          </a:ln>
        </p:spPr>
      </p:sp>
      <p:pic>
        <p:nvPicPr>
          <p:cNvPr id="13" name="Image 2" descr="preencoded.png">    </p:cNvPr>
          <p:cNvPicPr>
            <a:picLocks noChangeAspect="1"/>
          </p:cNvPicPr>
          <p:nvPr/>
        </p:nvPicPr>
        <p:blipFill>
          <a:blip r:embed="rId3"/>
          <a:stretch>
            <a:fillRect/>
          </a:stretch>
        </p:blipFill>
        <p:spPr>
          <a:xfrm>
            <a:off x="673364" y="4605284"/>
            <a:ext cx="317480" cy="317480"/>
          </a:xfrm>
          <a:prstGeom prst="rect">
            <a:avLst/>
          </a:prstGeom>
        </p:spPr>
      </p:pic>
      <p:sp>
        <p:nvSpPr>
          <p:cNvPr id="14" name="Text 9"/>
          <p:cNvSpPr txBox="1"/>
          <p:nvPr/>
        </p:nvSpPr>
        <p:spPr>
          <a:xfrm>
            <a:off x="1325880" y="4462272"/>
            <a:ext cx="4846320" cy="365760"/>
          </a:xfrm>
          <a:prstGeom prst="rect">
            <a:avLst/>
          </a:prstGeom>
          <a:noFill/>
          <a:ln/>
        </p:spPr>
        <p:txBody>
          <a:bodyPr wrap="square" lIns="0" tIns="0" rIns="0" bIns="0" rtlCol="0" anchor="t"/>
          <a:lstStyle/>
          <a:p>
            <a:pPr indent="0" marL="0">
              <a:buNone/>
            </a:pPr>
            <a:r>
              <a:rPr lang="en-US" sz="1800" b="1" dirty="0">
                <a:solidFill>
                  <a:srgbClr val="E3EBF0"/>
                </a:solidFill>
                <a:latin typeface="Calibri" pitchFamily="34" charset="0"/>
                <a:ea typeface="Calibri" pitchFamily="34" charset="-122"/>
                <a:cs typeface="Calibri" pitchFamily="34" charset="-120"/>
              </a:rPr>
              <a:t>The investigator's problem</a:t>
            </a:r>
            <a:endParaRPr lang="en-US" sz="1800" dirty="0"/>
          </a:p>
        </p:txBody>
      </p:sp>
      <p:sp>
        <p:nvSpPr>
          <p:cNvPr id="15" name="Text 10"/>
          <p:cNvSpPr txBox="1"/>
          <p:nvPr/>
        </p:nvSpPr>
        <p:spPr>
          <a:xfrm>
            <a:off x="1325880" y="4846320"/>
            <a:ext cx="4846320" cy="731520"/>
          </a:xfrm>
          <a:prstGeom prst="rect">
            <a:avLst/>
          </a:prstGeom>
          <a:noFill/>
          <a:ln/>
        </p:spPr>
        <p:txBody>
          <a:bodyPr wrap="square" lIns="0" tIns="0" rIns="0" bIns="0" rtlCol="0" anchor="t"/>
          <a:lstStyle/>
          <a:p>
            <a:pPr indent="0" marL="0">
              <a:buNone/>
            </a:pPr>
            <a:r>
              <a:rPr lang="en-US" sz="1500" dirty="0">
                <a:solidFill>
                  <a:srgbClr val="94A6B3"/>
                </a:solidFill>
                <a:latin typeface="Calibri" pitchFamily="34" charset="0"/>
                <a:ea typeface="Calibri" pitchFamily="34" charset="-122"/>
                <a:cs typeface="Calibri" pitchFamily="34" charset="-120"/>
              </a:rPr>
              <a:t>Theft and a normal backup can look identical from a single trace.</a:t>
            </a:r>
            <a:endParaRPr lang="en-US" sz="1500" dirty="0"/>
          </a:p>
        </p:txBody>
      </p:sp>
      <p:sp>
        <p:nvSpPr>
          <p:cNvPr id="16" name="Shape 11"/>
          <p:cNvSpPr/>
          <p:nvPr/>
        </p:nvSpPr>
        <p:spPr>
          <a:xfrm>
            <a:off x="6492240" y="1828800"/>
            <a:ext cx="5148072" cy="3794760"/>
          </a:xfrm>
          <a:prstGeom prst="roundRect">
            <a:avLst>
              <a:gd name="adj" fmla="val 1928"/>
            </a:avLst>
          </a:prstGeom>
          <a:solidFill>
            <a:srgbClr val="16212A"/>
          </a:solidFill>
          <a:ln w="9525">
            <a:solidFill>
              <a:srgbClr val="2A3A46"/>
            </a:solidFill>
            <a:prstDash val="solid"/>
          </a:ln>
        </p:spPr>
      </p:sp>
      <p:sp>
        <p:nvSpPr>
          <p:cNvPr id="17" name="Text 12"/>
          <p:cNvSpPr txBox="1"/>
          <p:nvPr/>
        </p:nvSpPr>
        <p:spPr>
          <a:xfrm>
            <a:off x="6858000" y="2148840"/>
            <a:ext cx="4389120" cy="274320"/>
          </a:xfrm>
          <a:prstGeom prst="rect">
            <a:avLst/>
          </a:prstGeom>
          <a:noFill/>
          <a:ln/>
        </p:spPr>
        <p:txBody>
          <a:bodyPr wrap="square" lIns="0" tIns="0" rIns="0" bIns="0" rtlCol="0" anchor="t"/>
          <a:lstStyle/>
          <a:p>
            <a:pPr indent="0" marL="0">
              <a:buNone/>
            </a:pPr>
            <a:r>
              <a:rPr lang="en-US" sz="1100" spc="300" kern="0" dirty="0">
                <a:solidFill>
                  <a:srgbClr val="F0C04A"/>
                </a:solidFill>
                <a:latin typeface="Consolas" pitchFamily="34" charset="0"/>
                <a:ea typeface="Consolas" pitchFamily="34" charset="-122"/>
                <a:cs typeface="Consolas" pitchFamily="34" charset="-120"/>
              </a:rPr>
              <a:t>RESEARCH QUESTION</a:t>
            </a:r>
            <a:endParaRPr lang="en-US" sz="1100" dirty="0"/>
          </a:p>
        </p:txBody>
      </p:sp>
      <p:sp>
        <p:nvSpPr>
          <p:cNvPr id="18" name="Text 13"/>
          <p:cNvSpPr txBox="1"/>
          <p:nvPr/>
        </p:nvSpPr>
        <p:spPr>
          <a:xfrm>
            <a:off x="6858000" y="2560320"/>
            <a:ext cx="4434840" cy="2011680"/>
          </a:xfrm>
          <a:prstGeom prst="rect">
            <a:avLst/>
          </a:prstGeom>
          <a:noFill/>
          <a:ln/>
        </p:spPr>
        <p:txBody>
          <a:bodyPr wrap="square" lIns="0" tIns="0" rIns="0" bIns="0" rtlCol="0" anchor="t"/>
          <a:lstStyle/>
          <a:p>
            <a:pPr indent="0" marL="0">
              <a:buNone/>
            </a:pPr>
            <a:r>
              <a:rPr lang="en-US" sz="2400" i="1" dirty="0">
                <a:solidFill>
                  <a:srgbClr val="E3EBF0"/>
                </a:solidFill>
                <a:latin typeface="Cambria" pitchFamily="34" charset="0"/>
                <a:ea typeface="Cambria" pitchFamily="34" charset="-122"/>
                <a:cs typeface="Cambria" pitchFamily="34" charset="-120"/>
              </a:rPr>
              <a:t>Can the traces Windows leaves behind tell an ordinary USB backup apart from an insider copying sensitive company files?</a:t>
            </a:r>
            <a:endParaRPr lang="en-US" sz="2400" dirty="0"/>
          </a:p>
        </p:txBody>
      </p:sp>
      <p:sp>
        <p:nvSpPr>
          <p:cNvPr id="19" name="Text 14"/>
          <p:cNvSpPr txBox="1"/>
          <p:nvPr/>
        </p:nvSpPr>
        <p:spPr>
          <a:xfrm>
            <a:off x="6858000" y="4800600"/>
            <a:ext cx="4434840" cy="548640"/>
          </a:xfrm>
          <a:prstGeom prst="rect">
            <a:avLst/>
          </a:prstGeom>
          <a:noFill/>
          <a:ln/>
        </p:spPr>
        <p:txBody>
          <a:bodyPr wrap="square" lIns="0" tIns="0" rIns="0" bIns="0" rtlCol="0" anchor="t"/>
          <a:lstStyle/>
          <a:p>
            <a:pPr indent="0" marL="0">
              <a:buNone/>
            </a:pPr>
            <a:r>
              <a:rPr lang="en-US" sz="1400" dirty="0">
                <a:solidFill>
                  <a:srgbClr val="94A6B3"/>
                </a:solidFill>
                <a:latin typeface="Calibri" pitchFamily="34" charset="0"/>
                <a:ea typeface="Calibri" pitchFamily="34" charset="-122"/>
                <a:cs typeface="Calibri" pitchFamily="34" charset="-120"/>
              </a:rPr>
              <a:t>Answered with a controlled experiment and real Windows evidence.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02 · THE CORE IDEA</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One clue proves nothing. Agreeing clues tell the story</a:t>
            </a:r>
            <a:endParaRPr lang="en-US" sz="3000" dirty="0"/>
          </a:p>
        </p:txBody>
      </p:sp>
      <p:sp>
        <p:nvSpPr>
          <p:cNvPr id="4" name="Shape 2"/>
          <p:cNvSpPr/>
          <p:nvPr/>
        </p:nvSpPr>
        <p:spPr>
          <a:xfrm>
            <a:off x="548640" y="1783080"/>
            <a:ext cx="3383280" cy="658368"/>
          </a:xfrm>
          <a:prstGeom prst="roundRect">
            <a:avLst>
              <a:gd name="adj" fmla="val 11111"/>
            </a:avLst>
          </a:prstGeom>
          <a:solidFill>
            <a:srgbClr val="16212A"/>
          </a:solidFill>
          <a:ln w="9525">
            <a:solidFill>
              <a:srgbClr val="2A3A46"/>
            </a:solidFill>
            <a:prstDash val="solid"/>
          </a:ln>
        </p:spPr>
      </p:sp>
      <p:pic>
        <p:nvPicPr>
          <p:cNvPr id="5" name="Image 0" descr="preencoded.png">    </p:cNvPr>
          <p:cNvPicPr>
            <a:picLocks noChangeAspect="1"/>
          </p:cNvPicPr>
          <p:nvPr/>
        </p:nvPicPr>
        <p:blipFill>
          <a:blip r:embed="rId1"/>
          <a:stretch>
            <a:fillRect/>
          </a:stretch>
        </p:blipFill>
        <p:spPr>
          <a:xfrm>
            <a:off x="731520" y="1947672"/>
            <a:ext cx="329184" cy="329184"/>
          </a:xfrm>
          <a:prstGeom prst="rect">
            <a:avLst/>
          </a:prstGeom>
        </p:spPr>
      </p:pic>
      <p:sp>
        <p:nvSpPr>
          <p:cNvPr id="6" name="Text 3"/>
          <p:cNvSpPr txBox="1"/>
          <p:nvPr/>
        </p:nvSpPr>
        <p:spPr>
          <a:xfrm>
            <a:off x="1234440" y="1965960"/>
            <a:ext cx="2606040" cy="320040"/>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USB connected</a:t>
            </a:r>
            <a:endParaRPr lang="en-US" sz="1500" dirty="0"/>
          </a:p>
        </p:txBody>
      </p:sp>
      <p:sp>
        <p:nvSpPr>
          <p:cNvPr id="7" name="Shape 4"/>
          <p:cNvSpPr/>
          <p:nvPr/>
        </p:nvSpPr>
        <p:spPr>
          <a:xfrm>
            <a:off x="3931920" y="2112264"/>
            <a:ext cx="914400" cy="1472184"/>
          </a:xfrm>
          <a:prstGeom prst="line">
            <a:avLst/>
          </a:prstGeom>
          <a:noFill/>
          <a:ln w="15875">
            <a:solidFill>
              <a:srgbClr val="5CC0DD"/>
            </a:solidFill>
            <a:prstDash val="solid"/>
          </a:ln>
        </p:spPr>
      </p:sp>
      <p:sp>
        <p:nvSpPr>
          <p:cNvPr id="8" name="Shape 5"/>
          <p:cNvSpPr/>
          <p:nvPr/>
        </p:nvSpPr>
        <p:spPr>
          <a:xfrm>
            <a:off x="548640" y="2624328"/>
            <a:ext cx="3383280" cy="658368"/>
          </a:xfrm>
          <a:prstGeom prst="roundRect">
            <a:avLst>
              <a:gd name="adj" fmla="val 11111"/>
            </a:avLst>
          </a:prstGeom>
          <a:solidFill>
            <a:srgbClr val="16212A"/>
          </a:solidFill>
          <a:ln w="9525">
            <a:solidFill>
              <a:srgbClr val="2A3A46"/>
            </a:solidFill>
            <a:prstDash val="solid"/>
          </a:ln>
        </p:spPr>
      </p:sp>
      <p:pic>
        <p:nvPicPr>
          <p:cNvPr id="9" name="Image 1" descr="preencoded.png">    </p:cNvPr>
          <p:cNvPicPr>
            <a:picLocks noChangeAspect="1"/>
          </p:cNvPicPr>
          <p:nvPr/>
        </p:nvPicPr>
        <p:blipFill>
          <a:blip r:embed="rId2"/>
          <a:stretch>
            <a:fillRect/>
          </a:stretch>
        </p:blipFill>
        <p:spPr>
          <a:xfrm>
            <a:off x="731520" y="2788920"/>
            <a:ext cx="329184" cy="329184"/>
          </a:xfrm>
          <a:prstGeom prst="rect">
            <a:avLst/>
          </a:prstGeom>
        </p:spPr>
      </p:pic>
      <p:sp>
        <p:nvSpPr>
          <p:cNvPr id="10" name="Text 6"/>
          <p:cNvSpPr txBox="1"/>
          <p:nvPr/>
        </p:nvSpPr>
        <p:spPr>
          <a:xfrm>
            <a:off x="1234440" y="2807208"/>
            <a:ext cx="2606040" cy="320040"/>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Sensitive file opened</a:t>
            </a:r>
            <a:endParaRPr lang="en-US" sz="1500" dirty="0"/>
          </a:p>
        </p:txBody>
      </p:sp>
      <p:sp>
        <p:nvSpPr>
          <p:cNvPr id="11" name="Shape 7"/>
          <p:cNvSpPr/>
          <p:nvPr/>
        </p:nvSpPr>
        <p:spPr>
          <a:xfrm>
            <a:off x="3931920" y="2953512"/>
            <a:ext cx="914400" cy="630936"/>
          </a:xfrm>
          <a:prstGeom prst="line">
            <a:avLst/>
          </a:prstGeom>
          <a:noFill/>
          <a:ln w="15875">
            <a:solidFill>
              <a:srgbClr val="F0C04A"/>
            </a:solidFill>
            <a:prstDash val="solid"/>
          </a:ln>
        </p:spPr>
      </p:sp>
      <p:sp>
        <p:nvSpPr>
          <p:cNvPr id="12" name="Shape 8"/>
          <p:cNvSpPr/>
          <p:nvPr/>
        </p:nvSpPr>
        <p:spPr>
          <a:xfrm>
            <a:off x="548640" y="3465576"/>
            <a:ext cx="3383280" cy="658368"/>
          </a:xfrm>
          <a:prstGeom prst="roundRect">
            <a:avLst>
              <a:gd name="adj" fmla="val 11111"/>
            </a:avLst>
          </a:prstGeom>
          <a:solidFill>
            <a:srgbClr val="16212A"/>
          </a:solidFill>
          <a:ln w="9525">
            <a:solidFill>
              <a:srgbClr val="2A3A46"/>
            </a:solidFill>
            <a:prstDash val="solid"/>
          </a:ln>
        </p:spPr>
      </p:sp>
      <p:pic>
        <p:nvPicPr>
          <p:cNvPr id="13" name="Image 2" descr="preencoded.png">    </p:cNvPr>
          <p:cNvPicPr>
            <a:picLocks noChangeAspect="1"/>
          </p:cNvPicPr>
          <p:nvPr/>
        </p:nvPicPr>
        <p:blipFill>
          <a:blip r:embed="rId3"/>
          <a:stretch>
            <a:fillRect/>
          </a:stretch>
        </p:blipFill>
        <p:spPr>
          <a:xfrm>
            <a:off x="731520" y="3630168"/>
            <a:ext cx="329184" cy="329184"/>
          </a:xfrm>
          <a:prstGeom prst="rect">
            <a:avLst/>
          </a:prstGeom>
        </p:spPr>
      </p:pic>
      <p:sp>
        <p:nvSpPr>
          <p:cNvPr id="14" name="Text 9"/>
          <p:cNvSpPr txBox="1"/>
          <p:nvPr/>
        </p:nvSpPr>
        <p:spPr>
          <a:xfrm>
            <a:off x="1234440" y="3648456"/>
            <a:ext cx="2606040" cy="320040"/>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Same file appears on USB</a:t>
            </a:r>
            <a:endParaRPr lang="en-US" sz="1500" dirty="0"/>
          </a:p>
        </p:txBody>
      </p:sp>
      <p:sp>
        <p:nvSpPr>
          <p:cNvPr id="15" name="Shape 10"/>
          <p:cNvSpPr/>
          <p:nvPr/>
        </p:nvSpPr>
        <p:spPr>
          <a:xfrm flipV="1">
            <a:off x="3931920" y="3584448"/>
            <a:ext cx="914400" cy="210312"/>
          </a:xfrm>
          <a:prstGeom prst="line">
            <a:avLst/>
          </a:prstGeom>
          <a:noFill/>
          <a:ln w="15875">
            <a:solidFill>
              <a:srgbClr val="F0C04A"/>
            </a:solidFill>
            <a:prstDash val="solid"/>
          </a:ln>
        </p:spPr>
      </p:sp>
      <p:sp>
        <p:nvSpPr>
          <p:cNvPr id="16" name="Shape 11"/>
          <p:cNvSpPr/>
          <p:nvPr/>
        </p:nvSpPr>
        <p:spPr>
          <a:xfrm>
            <a:off x="548640" y="4306824"/>
            <a:ext cx="3383280" cy="658368"/>
          </a:xfrm>
          <a:prstGeom prst="roundRect">
            <a:avLst>
              <a:gd name="adj" fmla="val 11111"/>
            </a:avLst>
          </a:prstGeom>
          <a:solidFill>
            <a:srgbClr val="16212A"/>
          </a:solidFill>
          <a:ln w="9525">
            <a:solidFill>
              <a:srgbClr val="2A3A46"/>
            </a:solidFill>
            <a:prstDash val="solid"/>
          </a:ln>
        </p:spPr>
      </p:sp>
      <p:pic>
        <p:nvPicPr>
          <p:cNvPr id="17" name="Image 3" descr="preencoded.png">    </p:cNvPr>
          <p:cNvPicPr>
            <a:picLocks noChangeAspect="1"/>
          </p:cNvPicPr>
          <p:nvPr/>
        </p:nvPicPr>
        <p:blipFill>
          <a:blip r:embed="rId4"/>
          <a:stretch>
            <a:fillRect/>
          </a:stretch>
        </p:blipFill>
        <p:spPr>
          <a:xfrm>
            <a:off x="731520" y="4471416"/>
            <a:ext cx="329184" cy="329184"/>
          </a:xfrm>
          <a:prstGeom prst="rect">
            <a:avLst/>
          </a:prstGeom>
        </p:spPr>
      </p:pic>
      <p:sp>
        <p:nvSpPr>
          <p:cNvPr id="18" name="Text 12"/>
          <p:cNvSpPr txBox="1"/>
          <p:nvPr/>
        </p:nvSpPr>
        <p:spPr>
          <a:xfrm>
            <a:off x="1234440" y="4489704"/>
            <a:ext cx="2606040" cy="320040"/>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User logged in</a:t>
            </a:r>
            <a:endParaRPr lang="en-US" sz="1500" dirty="0"/>
          </a:p>
        </p:txBody>
      </p:sp>
      <p:sp>
        <p:nvSpPr>
          <p:cNvPr id="19" name="Shape 13"/>
          <p:cNvSpPr/>
          <p:nvPr/>
        </p:nvSpPr>
        <p:spPr>
          <a:xfrm flipV="1">
            <a:off x="3931920" y="3584448"/>
            <a:ext cx="914400" cy="1051560"/>
          </a:xfrm>
          <a:prstGeom prst="line">
            <a:avLst/>
          </a:prstGeom>
          <a:noFill/>
          <a:ln w="15875">
            <a:solidFill>
              <a:srgbClr val="94A6B3"/>
            </a:solidFill>
            <a:prstDash val="solid"/>
          </a:ln>
        </p:spPr>
      </p:sp>
      <p:sp>
        <p:nvSpPr>
          <p:cNvPr id="20" name="Shape 14"/>
          <p:cNvSpPr/>
          <p:nvPr/>
        </p:nvSpPr>
        <p:spPr>
          <a:xfrm>
            <a:off x="548640" y="5148072"/>
            <a:ext cx="3383280" cy="658368"/>
          </a:xfrm>
          <a:prstGeom prst="roundRect">
            <a:avLst>
              <a:gd name="adj" fmla="val 11111"/>
            </a:avLst>
          </a:prstGeom>
          <a:solidFill>
            <a:srgbClr val="16212A"/>
          </a:solidFill>
          <a:ln w="9525">
            <a:solidFill>
              <a:srgbClr val="2A3A46"/>
            </a:solidFill>
            <a:prstDash val="solid"/>
          </a:ln>
        </p:spPr>
      </p:sp>
      <p:pic>
        <p:nvPicPr>
          <p:cNvPr id="21" name="Image 4" descr="preencoded.png">    </p:cNvPr>
          <p:cNvPicPr>
            <a:picLocks noChangeAspect="1"/>
          </p:cNvPicPr>
          <p:nvPr/>
        </p:nvPicPr>
        <p:blipFill>
          <a:blip r:embed="rId5"/>
          <a:stretch>
            <a:fillRect/>
          </a:stretch>
        </p:blipFill>
        <p:spPr>
          <a:xfrm>
            <a:off x="731520" y="5312664"/>
            <a:ext cx="329184" cy="329184"/>
          </a:xfrm>
          <a:prstGeom prst="rect">
            <a:avLst/>
          </a:prstGeom>
        </p:spPr>
      </p:pic>
      <p:sp>
        <p:nvSpPr>
          <p:cNvPr id="22" name="Text 15"/>
          <p:cNvSpPr txBox="1"/>
          <p:nvPr/>
        </p:nvSpPr>
        <p:spPr>
          <a:xfrm>
            <a:off x="1234440" y="5330952"/>
            <a:ext cx="2606040" cy="320040"/>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ZIP made / file deleted</a:t>
            </a:r>
            <a:endParaRPr lang="en-US" sz="1500" dirty="0"/>
          </a:p>
        </p:txBody>
      </p:sp>
      <p:sp>
        <p:nvSpPr>
          <p:cNvPr id="23" name="Shape 16"/>
          <p:cNvSpPr/>
          <p:nvPr/>
        </p:nvSpPr>
        <p:spPr>
          <a:xfrm flipV="1">
            <a:off x="3931920" y="3584448"/>
            <a:ext cx="914400" cy="1892808"/>
          </a:xfrm>
          <a:prstGeom prst="line">
            <a:avLst/>
          </a:prstGeom>
          <a:noFill/>
          <a:ln w="15875">
            <a:solidFill>
              <a:srgbClr val="F08B78"/>
            </a:solidFill>
            <a:prstDash val="solid"/>
          </a:ln>
        </p:spPr>
      </p:sp>
      <p:sp>
        <p:nvSpPr>
          <p:cNvPr id="24" name="Shape 17"/>
          <p:cNvSpPr/>
          <p:nvPr/>
        </p:nvSpPr>
        <p:spPr>
          <a:xfrm>
            <a:off x="4846320" y="2852928"/>
            <a:ext cx="2651760" cy="1463040"/>
          </a:xfrm>
          <a:prstGeom prst="roundRect">
            <a:avLst>
              <a:gd name="adj" fmla="val 5000"/>
            </a:avLst>
          </a:prstGeom>
          <a:solidFill>
            <a:srgbClr val="1C2A35"/>
          </a:solidFill>
          <a:ln w="9525">
            <a:solidFill>
              <a:srgbClr val="2A3A46"/>
            </a:solidFill>
            <a:prstDash val="solid"/>
          </a:ln>
        </p:spPr>
      </p:sp>
      <p:sp>
        <p:nvSpPr>
          <p:cNvPr id="25" name="Text 18"/>
          <p:cNvSpPr txBox="1"/>
          <p:nvPr/>
        </p:nvSpPr>
        <p:spPr>
          <a:xfrm>
            <a:off x="4983480" y="3090672"/>
            <a:ext cx="2377440" cy="411480"/>
          </a:xfrm>
          <a:prstGeom prst="rect">
            <a:avLst/>
          </a:prstGeom>
          <a:noFill/>
          <a:ln/>
        </p:spPr>
        <p:txBody>
          <a:bodyPr wrap="square" lIns="0" tIns="0" rIns="0" bIns="0" rtlCol="0" anchor="t"/>
          <a:lstStyle/>
          <a:p>
            <a:pPr algn="ctr" indent="0" marL="0">
              <a:buNone/>
            </a:pPr>
            <a:r>
              <a:rPr lang="en-US" sz="1800" b="1" dirty="0">
                <a:solidFill>
                  <a:srgbClr val="E3EBF0"/>
                </a:solidFill>
                <a:latin typeface="Cambria" pitchFamily="34" charset="0"/>
                <a:ea typeface="Cambria" pitchFamily="34" charset="-122"/>
                <a:cs typeface="Cambria" pitchFamily="34" charset="-120"/>
              </a:rPr>
              <a:t>Same USB window</a:t>
            </a:r>
            <a:endParaRPr lang="en-US" sz="1800" dirty="0"/>
          </a:p>
        </p:txBody>
      </p:sp>
      <p:sp>
        <p:nvSpPr>
          <p:cNvPr id="26" name="Text 19"/>
          <p:cNvSpPr txBox="1"/>
          <p:nvPr/>
        </p:nvSpPr>
        <p:spPr>
          <a:xfrm>
            <a:off x="4983480" y="3566160"/>
            <a:ext cx="2377440" cy="320040"/>
          </a:xfrm>
          <a:prstGeom prst="rect">
            <a:avLst/>
          </a:prstGeom>
          <a:noFill/>
          <a:ln/>
        </p:spPr>
        <p:txBody>
          <a:bodyPr wrap="square" lIns="0" tIns="0" rIns="0" bIns="0" rtlCol="0" anchor="t"/>
          <a:lstStyle/>
          <a:p>
            <a:pPr algn="ctr" indent="0" marL="0">
              <a:buNone/>
            </a:pPr>
            <a:r>
              <a:rPr lang="en-US" sz="1300" dirty="0">
                <a:solidFill>
                  <a:srgbClr val="94A6B3"/>
                </a:solidFill>
                <a:latin typeface="Calibri" pitchFamily="34" charset="0"/>
                <a:ea typeface="Calibri" pitchFamily="34" charset="-122"/>
                <a:cs typeface="Calibri" pitchFamily="34" charset="-120"/>
              </a:rPr>
              <a:t>20 minutes, configurable</a:t>
            </a:r>
            <a:endParaRPr lang="en-US" sz="1300" dirty="0"/>
          </a:p>
        </p:txBody>
      </p:sp>
      <p:pic>
        <p:nvPicPr>
          <p:cNvPr id="27" name="Image 5" descr="preencoded.png">    </p:cNvPr>
          <p:cNvPicPr>
            <a:picLocks noChangeAspect="1"/>
          </p:cNvPicPr>
          <p:nvPr/>
        </p:nvPicPr>
        <p:blipFill>
          <a:blip r:embed="rId6"/>
          <a:stretch>
            <a:fillRect/>
          </a:stretch>
        </p:blipFill>
        <p:spPr>
          <a:xfrm>
            <a:off x="7635240" y="3401568"/>
            <a:ext cx="365760" cy="365760"/>
          </a:xfrm>
          <a:prstGeom prst="rect">
            <a:avLst/>
          </a:prstGeom>
        </p:spPr>
      </p:pic>
      <p:sp>
        <p:nvSpPr>
          <p:cNvPr id="28" name="Shape 20"/>
          <p:cNvSpPr/>
          <p:nvPr/>
        </p:nvSpPr>
        <p:spPr>
          <a:xfrm>
            <a:off x="8138160" y="2852928"/>
            <a:ext cx="3502152" cy="1463040"/>
          </a:xfrm>
          <a:prstGeom prst="roundRect">
            <a:avLst>
              <a:gd name="adj" fmla="val 5000"/>
            </a:avLst>
          </a:prstGeom>
          <a:solidFill>
            <a:srgbClr val="1C2A35"/>
          </a:solidFill>
          <a:ln w="9525">
            <a:solidFill>
              <a:srgbClr val="2A3A46"/>
            </a:solidFill>
            <a:prstDash val="solid"/>
          </a:ln>
        </p:spPr>
      </p:sp>
      <p:sp>
        <p:nvSpPr>
          <p:cNvPr id="29" name="Text 21"/>
          <p:cNvSpPr txBox="1"/>
          <p:nvPr/>
        </p:nvSpPr>
        <p:spPr>
          <a:xfrm>
            <a:off x="8321040" y="3090672"/>
            <a:ext cx="3154680" cy="411480"/>
          </a:xfrm>
          <a:prstGeom prst="rect">
            <a:avLst/>
          </a:prstGeom>
          <a:noFill/>
          <a:ln/>
        </p:spPr>
        <p:txBody>
          <a:bodyPr wrap="square" lIns="0" tIns="0" rIns="0" bIns="0" rtlCol="0" anchor="t"/>
          <a:lstStyle/>
          <a:p>
            <a:pPr indent="0" marL="0">
              <a:buNone/>
            </a:pPr>
            <a:r>
              <a:rPr lang="en-US" sz="1800" b="1" dirty="0">
                <a:solidFill>
                  <a:srgbClr val="E3EBF0"/>
                </a:solidFill>
                <a:latin typeface="Cambria" pitchFamily="34" charset="0"/>
                <a:ea typeface="Cambria" pitchFamily="34" charset="-122"/>
                <a:cs typeface="Cambria" pitchFamily="34" charset="-120"/>
              </a:rPr>
              <a:t>Explainable conclusion</a:t>
            </a:r>
            <a:endParaRPr lang="en-US" sz="1800" dirty="0"/>
          </a:p>
        </p:txBody>
      </p:sp>
      <p:sp>
        <p:nvSpPr>
          <p:cNvPr id="30" name="Text 22"/>
          <p:cNvSpPr txBox="1"/>
          <p:nvPr/>
        </p:nvSpPr>
        <p:spPr>
          <a:xfrm>
            <a:off x="8321040" y="3547872"/>
            <a:ext cx="3154680" cy="640080"/>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with confidence, the exact records used, and a stated limit</a:t>
            </a:r>
            <a:endParaRPr lang="en-US" sz="1300" dirty="0"/>
          </a:p>
        </p:txBody>
      </p:sp>
      <p:sp>
        <p:nvSpPr>
          <p:cNvPr id="31" name="Text 23"/>
          <p:cNvSpPr txBox="1"/>
          <p:nvPr/>
        </p:nvSpPr>
        <p:spPr>
          <a:xfrm>
            <a:off x="4846320" y="4892040"/>
            <a:ext cx="6793992" cy="731520"/>
          </a:xfrm>
          <a:prstGeom prst="rect">
            <a:avLst/>
          </a:prstGeom>
          <a:noFill/>
          <a:ln/>
        </p:spPr>
        <p:txBody>
          <a:bodyPr wrap="square" lIns="0" tIns="0" rIns="0" bIns="0" rtlCol="0" anchor="t"/>
          <a:lstStyle/>
          <a:p>
            <a:pPr indent="0" marL="0">
              <a:buNone/>
            </a:pPr>
            <a:r>
              <a:rPr lang="en-US" sz="1500" i="1" dirty="0">
                <a:solidFill>
                  <a:srgbClr val="E3EBF0"/>
                </a:solidFill>
                <a:latin typeface="Calibri" pitchFamily="34" charset="0"/>
                <a:ea typeface="Calibri" pitchFamily="34" charset="-122"/>
                <a:cs typeface="Calibri" pitchFamily="34" charset="-120"/>
              </a:rPr>
              <a:t>A USB connection appears in both normal and suspicious use. Only independent clues agreeing inside the same window make a strong case.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03 · EXPERIMENT DESIGN</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A fair test needs a control</a:t>
            </a:r>
            <a:endParaRPr lang="en-US" sz="3000" dirty="0"/>
          </a:p>
        </p:txBody>
      </p:sp>
      <p:sp>
        <p:nvSpPr>
          <p:cNvPr id="4" name="Shape 2"/>
          <p:cNvSpPr/>
          <p:nvPr/>
        </p:nvSpPr>
        <p:spPr>
          <a:xfrm>
            <a:off x="548640" y="1783080"/>
            <a:ext cx="11094415" cy="640080"/>
          </a:xfrm>
          <a:prstGeom prst="roundRect">
            <a:avLst>
              <a:gd name="adj" fmla="val 11429"/>
            </a:avLst>
          </a:prstGeom>
          <a:solidFill>
            <a:srgbClr val="1C2A35"/>
          </a:solidFill>
          <a:ln w="9525">
            <a:solidFill>
              <a:srgbClr val="2A3A46"/>
            </a:solidFill>
            <a:prstDash val="solid"/>
          </a:ln>
        </p:spPr>
      </p:sp>
      <p:sp>
        <p:nvSpPr>
          <p:cNvPr id="5" name="Text 3"/>
          <p:cNvSpPr txBox="1"/>
          <p:nvPr/>
        </p:nvSpPr>
        <p:spPr>
          <a:xfrm>
            <a:off x="548640" y="1938528"/>
            <a:ext cx="11094415" cy="365760"/>
          </a:xfrm>
          <a:prstGeom prst="rect">
            <a:avLst/>
          </a:prstGeom>
          <a:noFill/>
          <a:ln/>
        </p:spPr>
        <p:txBody>
          <a:bodyPr wrap="square" lIns="0" tIns="0" rIns="0" bIns="0" rtlCol="0" anchor="t"/>
          <a:lstStyle/>
          <a:p>
            <a:pPr algn="ctr" indent="0" marL="0">
              <a:buNone/>
            </a:pPr>
            <a:r>
              <a:rPr lang="en-US" sz="1600" dirty="0">
                <a:solidFill>
                  <a:srgbClr val="94A6B3"/>
                </a:solidFill>
                <a:latin typeface="Calibri" pitchFamily="34" charset="0"/>
                <a:ea typeface="Calibri" pitchFamily="34" charset="-122"/>
                <a:cs typeface="Calibri" pitchFamily="34" charset="-120"/>
              </a:rPr>
              <a:t>Same laptop   ·   same Windows user   ·   same USB drive   ·   same fictional company files</a:t>
            </a:r>
            <a:endParaRPr lang="en-US" sz="1600" dirty="0"/>
          </a:p>
        </p:txBody>
      </p:sp>
      <p:sp>
        <p:nvSpPr>
          <p:cNvPr id="6" name="Shape 4"/>
          <p:cNvSpPr/>
          <p:nvPr/>
        </p:nvSpPr>
        <p:spPr>
          <a:xfrm>
            <a:off x="548640" y="2697480"/>
            <a:ext cx="5394960" cy="3383280"/>
          </a:xfrm>
          <a:prstGeom prst="roundRect">
            <a:avLst>
              <a:gd name="adj" fmla="val 2162"/>
            </a:avLst>
          </a:prstGeom>
          <a:solidFill>
            <a:srgbClr val="16212A"/>
          </a:solidFill>
          <a:ln w="9525">
            <a:solidFill>
              <a:srgbClr val="2A3A46"/>
            </a:solidFill>
            <a:prstDash val="solid"/>
          </a:ln>
        </p:spPr>
      </p:sp>
      <p:sp>
        <p:nvSpPr>
          <p:cNvPr id="7" name="Shape 5"/>
          <p:cNvSpPr/>
          <p:nvPr/>
        </p:nvSpPr>
        <p:spPr>
          <a:xfrm>
            <a:off x="868680" y="2971800"/>
            <a:ext cx="1417320" cy="274320"/>
          </a:xfrm>
          <a:prstGeom prst="roundRect">
            <a:avLst>
              <a:gd name="adj" fmla="val 16667"/>
            </a:avLst>
          </a:prstGeom>
          <a:solidFill>
            <a:srgbClr val="5CC0DD">
              <a:alpha val="18000"/>
            </a:srgbClr>
          </a:solidFill>
          <a:ln w="9525">
            <a:solidFill>
              <a:srgbClr val="5CC0DD"/>
            </a:solidFill>
            <a:prstDash val="solid"/>
          </a:ln>
        </p:spPr>
      </p:sp>
      <p:sp>
        <p:nvSpPr>
          <p:cNvPr id="8" name="Text 6"/>
          <p:cNvSpPr txBox="1"/>
          <p:nvPr/>
        </p:nvSpPr>
        <p:spPr>
          <a:xfrm>
            <a:off x="868680" y="2971800"/>
            <a:ext cx="1417320" cy="274320"/>
          </a:xfrm>
          <a:prstGeom prst="rect">
            <a:avLst/>
          </a:prstGeom>
          <a:noFill/>
          <a:ln/>
        </p:spPr>
        <p:txBody>
          <a:bodyPr wrap="square" lIns="0" tIns="0" rIns="0" bIns="0" rtlCol="0" anchor="ctr"/>
          <a:lstStyle/>
          <a:p>
            <a:pPr algn="ctr" indent="0" marL="0">
              <a:buNone/>
            </a:pPr>
            <a:r>
              <a:rPr lang="en-US" sz="1000" dirty="0">
                <a:solidFill>
                  <a:srgbClr val="5CC0DD"/>
                </a:solidFill>
                <a:latin typeface="Consolas" pitchFamily="34" charset="0"/>
                <a:ea typeface="Consolas" pitchFamily="34" charset="-122"/>
                <a:cs typeface="Consolas" pitchFamily="34" charset="-120"/>
              </a:rPr>
              <a:t>EXPERIMENT A</a:t>
            </a:r>
            <a:endParaRPr lang="en-US" sz="1000" dirty="0"/>
          </a:p>
        </p:txBody>
      </p:sp>
      <p:sp>
        <p:nvSpPr>
          <p:cNvPr id="9" name="Text 7"/>
          <p:cNvSpPr txBox="1"/>
          <p:nvPr/>
        </p:nvSpPr>
        <p:spPr>
          <a:xfrm>
            <a:off x="868680" y="3383280"/>
            <a:ext cx="4754880" cy="457200"/>
          </a:xfrm>
          <a:prstGeom prst="rect">
            <a:avLst/>
          </a:prstGeom>
          <a:noFill/>
          <a:ln/>
        </p:spPr>
        <p:txBody>
          <a:bodyPr wrap="square" lIns="0" tIns="0" rIns="0" bIns="0" rtlCol="0" anchor="t"/>
          <a:lstStyle/>
          <a:p>
            <a:pPr indent="0" marL="0">
              <a:buNone/>
            </a:pPr>
            <a:r>
              <a:rPr lang="en-US" sz="2200" b="1" dirty="0">
                <a:solidFill>
                  <a:srgbClr val="E3EBF0"/>
                </a:solidFill>
                <a:latin typeface="Cambria" pitchFamily="34" charset="0"/>
                <a:ea typeface="Cambria" pitchFamily="34" charset="-122"/>
                <a:cs typeface="Cambria" pitchFamily="34" charset="-120"/>
              </a:rPr>
              <a:t>Normal backup (control)</a:t>
            </a:r>
            <a:endParaRPr lang="en-US" sz="2200" dirty="0"/>
          </a:p>
        </p:txBody>
      </p:sp>
      <p:sp>
        <p:nvSpPr>
          <p:cNvPr id="10" name="Text 8"/>
          <p:cNvSpPr txBox="1"/>
          <p:nvPr/>
        </p:nvSpPr>
        <p:spPr>
          <a:xfrm>
            <a:off x="868680" y="3931920"/>
            <a:ext cx="4754880" cy="16002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E3EBF0"/>
                </a:solidFill>
                <a:latin typeface="Calibri" pitchFamily="34" charset="0"/>
                <a:ea typeface="Calibri" pitchFamily="34" charset="-122"/>
                <a:cs typeface="Calibri" pitchFamily="34" charset="-120"/>
              </a:rPr>
              <a:t>Plug in the USB drive</a:t>
            </a:r>
            <a:endParaRPr lang="en-US" sz="1500" dirty="0"/>
          </a:p>
          <a:p>
            <a:pPr marL="342900" indent="-342900">
              <a:spcAft>
                <a:spcPts val="400"/>
              </a:spcAft>
              <a:buSzPct val="100000"/>
              <a:buChar char="•"/>
            </a:pPr>
            <a:r>
              <a:rPr lang="en-US" sz="1500" dirty="0">
                <a:solidFill>
                  <a:srgbClr val="E3EBF0"/>
                </a:solidFill>
                <a:latin typeface="Calibri" pitchFamily="34" charset="0"/>
                <a:ea typeface="Calibri" pitchFamily="34" charset="-122"/>
                <a:cs typeface="Calibri" pitchFamily="34" charset="-120"/>
              </a:rPr>
              <a:t>Open an ordinary Readme.txt</a:t>
            </a:r>
            <a:endParaRPr lang="en-US" sz="1500" dirty="0"/>
          </a:p>
          <a:p>
            <a:pPr marL="342900" indent="-342900">
              <a:spcAft>
                <a:spcPts val="400"/>
              </a:spcAft>
              <a:buSzPct val="100000"/>
              <a:buChar char="•"/>
            </a:pPr>
            <a:r>
              <a:rPr lang="en-US" sz="1500" dirty="0">
                <a:solidFill>
                  <a:srgbClr val="E3EBF0"/>
                </a:solidFill>
                <a:latin typeface="Calibri" pitchFamily="34" charset="0"/>
                <a:ea typeface="Calibri" pitchFamily="34" charset="-122"/>
                <a:cs typeface="Calibri" pitchFamily="34" charset="-120"/>
              </a:rPr>
              <a:t>Copy it to the USB</a:t>
            </a:r>
            <a:endParaRPr lang="en-US" sz="1500" dirty="0"/>
          </a:p>
        </p:txBody>
      </p:sp>
      <p:sp>
        <p:nvSpPr>
          <p:cNvPr id="11" name="Text 9"/>
          <p:cNvSpPr txBox="1"/>
          <p:nvPr/>
        </p:nvSpPr>
        <p:spPr>
          <a:xfrm>
            <a:off x="868680" y="5577840"/>
            <a:ext cx="4754880" cy="320040"/>
          </a:xfrm>
          <a:prstGeom prst="rect">
            <a:avLst/>
          </a:prstGeom>
          <a:noFill/>
          <a:ln/>
        </p:spPr>
        <p:txBody>
          <a:bodyPr wrap="square" lIns="0" tIns="0" rIns="0" bIns="0" rtlCol="0" anchor="t"/>
          <a:lstStyle/>
          <a:p>
            <a:pPr indent="0" marL="0">
              <a:buNone/>
            </a:pPr>
            <a:r>
              <a:rPr lang="en-US" sz="1400" i="1" dirty="0">
                <a:solidFill>
                  <a:srgbClr val="5CC0DD"/>
                </a:solidFill>
                <a:latin typeface="Calibri" pitchFamily="34" charset="0"/>
                <a:ea typeface="Calibri" pitchFamily="34" charset="-122"/>
                <a:cs typeface="Calibri" pitchFamily="34" charset="-120"/>
              </a:rPr>
              <a:t>Expected: USB used, no leak</a:t>
            </a:r>
            <a:endParaRPr lang="en-US" sz="1400" dirty="0"/>
          </a:p>
        </p:txBody>
      </p:sp>
      <p:sp>
        <p:nvSpPr>
          <p:cNvPr id="12" name="Shape 10"/>
          <p:cNvSpPr/>
          <p:nvPr/>
        </p:nvSpPr>
        <p:spPr>
          <a:xfrm>
            <a:off x="6190488" y="2697480"/>
            <a:ext cx="5394960" cy="3383280"/>
          </a:xfrm>
          <a:prstGeom prst="roundRect">
            <a:avLst>
              <a:gd name="adj" fmla="val 2162"/>
            </a:avLst>
          </a:prstGeom>
          <a:solidFill>
            <a:srgbClr val="16212A"/>
          </a:solidFill>
          <a:ln w="9525">
            <a:solidFill>
              <a:srgbClr val="2A3A46"/>
            </a:solidFill>
            <a:prstDash val="solid"/>
          </a:ln>
        </p:spPr>
      </p:sp>
      <p:sp>
        <p:nvSpPr>
          <p:cNvPr id="13" name="Shape 11"/>
          <p:cNvSpPr/>
          <p:nvPr/>
        </p:nvSpPr>
        <p:spPr>
          <a:xfrm>
            <a:off x="6510528" y="2971800"/>
            <a:ext cx="1417320" cy="274320"/>
          </a:xfrm>
          <a:prstGeom prst="roundRect">
            <a:avLst>
              <a:gd name="adj" fmla="val 16667"/>
            </a:avLst>
          </a:prstGeom>
          <a:solidFill>
            <a:srgbClr val="F08B78">
              <a:alpha val="18000"/>
            </a:srgbClr>
          </a:solidFill>
          <a:ln w="9525">
            <a:solidFill>
              <a:srgbClr val="F08B78"/>
            </a:solidFill>
            <a:prstDash val="solid"/>
          </a:ln>
        </p:spPr>
      </p:sp>
      <p:sp>
        <p:nvSpPr>
          <p:cNvPr id="14" name="Text 12"/>
          <p:cNvSpPr txBox="1"/>
          <p:nvPr/>
        </p:nvSpPr>
        <p:spPr>
          <a:xfrm>
            <a:off x="6510528" y="2971800"/>
            <a:ext cx="1417320" cy="274320"/>
          </a:xfrm>
          <a:prstGeom prst="rect">
            <a:avLst/>
          </a:prstGeom>
          <a:noFill/>
          <a:ln/>
        </p:spPr>
        <p:txBody>
          <a:bodyPr wrap="square" lIns="0" tIns="0" rIns="0" bIns="0" rtlCol="0" anchor="ctr"/>
          <a:lstStyle/>
          <a:p>
            <a:pPr algn="ctr" indent="0" marL="0">
              <a:buNone/>
            </a:pPr>
            <a:r>
              <a:rPr lang="en-US" sz="1000" dirty="0">
                <a:solidFill>
                  <a:srgbClr val="F08B78"/>
                </a:solidFill>
                <a:latin typeface="Consolas" pitchFamily="34" charset="0"/>
                <a:ea typeface="Consolas" pitchFamily="34" charset="-122"/>
                <a:cs typeface="Consolas" pitchFamily="34" charset="-120"/>
              </a:rPr>
              <a:t>EXPERIMENT B</a:t>
            </a:r>
            <a:endParaRPr lang="en-US" sz="1000" dirty="0"/>
          </a:p>
        </p:txBody>
      </p:sp>
      <p:sp>
        <p:nvSpPr>
          <p:cNvPr id="15" name="Text 13"/>
          <p:cNvSpPr txBox="1"/>
          <p:nvPr/>
        </p:nvSpPr>
        <p:spPr>
          <a:xfrm>
            <a:off x="6510528" y="3383280"/>
            <a:ext cx="4754880" cy="457200"/>
          </a:xfrm>
          <a:prstGeom prst="rect">
            <a:avLst/>
          </a:prstGeom>
          <a:noFill/>
          <a:ln/>
        </p:spPr>
        <p:txBody>
          <a:bodyPr wrap="square" lIns="0" tIns="0" rIns="0" bIns="0" rtlCol="0" anchor="t"/>
          <a:lstStyle/>
          <a:p>
            <a:pPr indent="0" marL="0">
              <a:buNone/>
            </a:pPr>
            <a:r>
              <a:rPr lang="en-US" sz="2200" b="1" dirty="0">
                <a:solidFill>
                  <a:srgbClr val="E3EBF0"/>
                </a:solidFill>
                <a:latin typeface="Cambria" pitchFamily="34" charset="0"/>
                <a:ea typeface="Cambria" pitchFamily="34" charset="-122"/>
                <a:cs typeface="Cambria" pitchFamily="34" charset="-120"/>
              </a:rPr>
              <a:t>Simulated insider</a:t>
            </a:r>
            <a:endParaRPr lang="en-US" sz="2200" dirty="0"/>
          </a:p>
        </p:txBody>
      </p:sp>
      <p:sp>
        <p:nvSpPr>
          <p:cNvPr id="16" name="Text 14"/>
          <p:cNvSpPr txBox="1"/>
          <p:nvPr/>
        </p:nvSpPr>
        <p:spPr>
          <a:xfrm>
            <a:off x="6510528" y="3931920"/>
            <a:ext cx="4754880" cy="16002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E3EBF0"/>
                </a:solidFill>
                <a:latin typeface="Calibri" pitchFamily="34" charset="0"/>
                <a:ea typeface="Calibri" pitchFamily="34" charset="-122"/>
                <a:cs typeface="Calibri" pitchFamily="34" charset="-120"/>
              </a:rPr>
              <a:t>Plug in the USB drive</a:t>
            </a:r>
            <a:endParaRPr lang="en-US" sz="1500" dirty="0"/>
          </a:p>
          <a:p>
            <a:pPr marL="342900" indent="-342900">
              <a:spcAft>
                <a:spcPts val="400"/>
              </a:spcAft>
              <a:buSzPct val="100000"/>
              <a:buChar char="•"/>
            </a:pPr>
            <a:r>
              <a:rPr lang="en-US" sz="1500" dirty="0">
                <a:solidFill>
                  <a:srgbClr val="E3EBF0"/>
                </a:solidFill>
                <a:latin typeface="Calibri" pitchFamily="34" charset="0"/>
                <a:ea typeface="Calibri" pitchFamily="34" charset="-122"/>
                <a:cs typeface="Calibri" pitchFamily="34" charset="-120"/>
              </a:rPr>
              <a:t>Open salary, customer and project files</a:t>
            </a:r>
            <a:endParaRPr lang="en-US" sz="1500" dirty="0"/>
          </a:p>
          <a:p>
            <a:pPr marL="342900" indent="-342900">
              <a:spcAft>
                <a:spcPts val="400"/>
              </a:spcAft>
              <a:buSzPct val="100000"/>
              <a:buChar char="•"/>
            </a:pPr>
            <a:r>
              <a:rPr lang="en-US" sz="1500" dirty="0">
                <a:solidFill>
                  <a:srgbClr val="E3EBF0"/>
                </a:solidFill>
                <a:latin typeface="Calibri" pitchFamily="34" charset="0"/>
                <a:ea typeface="Calibri" pitchFamily="34" charset="-122"/>
                <a:cs typeface="Calibri" pitchFamily="34" charset="-120"/>
              </a:rPr>
              <a:t>Copy the sensitive files to the USB</a:t>
            </a:r>
            <a:endParaRPr lang="en-US" sz="1500" dirty="0"/>
          </a:p>
          <a:p>
            <a:pPr marL="342900" indent="-342900">
              <a:spcAft>
                <a:spcPts val="400"/>
              </a:spcAft>
              <a:buSzPct val="100000"/>
              <a:buChar char="•"/>
            </a:pPr>
            <a:r>
              <a:rPr lang="en-US" sz="1500" dirty="0">
                <a:solidFill>
                  <a:srgbClr val="E3EBF0"/>
                </a:solidFill>
                <a:latin typeface="Calibri" pitchFamily="34" charset="0"/>
                <a:ea typeface="Calibri" pitchFamily="34" charset="-122"/>
                <a:cs typeface="Calibri" pitchFamily="34" charset="-120"/>
              </a:rPr>
              <a:t>Make a ZIP archive</a:t>
            </a:r>
            <a:endParaRPr lang="en-US" sz="1500" dirty="0"/>
          </a:p>
          <a:p>
            <a:pPr marL="342900" indent="-342900">
              <a:spcAft>
                <a:spcPts val="400"/>
              </a:spcAft>
              <a:buSzPct val="100000"/>
              <a:buChar char="•"/>
            </a:pPr>
            <a:r>
              <a:rPr lang="en-US" sz="1500" dirty="0">
                <a:solidFill>
                  <a:srgbClr val="E3EBF0"/>
                </a:solidFill>
                <a:latin typeface="Calibri" pitchFamily="34" charset="0"/>
                <a:ea typeface="Calibri" pitchFamily="34" charset="-122"/>
                <a:cs typeface="Calibri" pitchFamily="34" charset="-120"/>
              </a:rPr>
              <a:t>Delete a temporary copy (Recycle Bin)</a:t>
            </a:r>
            <a:endParaRPr lang="en-US" sz="1500" dirty="0"/>
          </a:p>
        </p:txBody>
      </p:sp>
      <p:sp>
        <p:nvSpPr>
          <p:cNvPr id="17" name="Text 15"/>
          <p:cNvSpPr txBox="1"/>
          <p:nvPr/>
        </p:nvSpPr>
        <p:spPr>
          <a:xfrm>
            <a:off x="6510528" y="5577840"/>
            <a:ext cx="4754880" cy="320040"/>
          </a:xfrm>
          <a:prstGeom prst="rect">
            <a:avLst/>
          </a:prstGeom>
          <a:noFill/>
          <a:ln/>
        </p:spPr>
        <p:txBody>
          <a:bodyPr wrap="square" lIns="0" tIns="0" rIns="0" bIns="0" rtlCol="0" anchor="t"/>
          <a:lstStyle/>
          <a:p>
            <a:pPr indent="0" marL="0">
              <a:buNone/>
            </a:pPr>
            <a:r>
              <a:rPr lang="en-US" sz="1400" i="1" dirty="0">
                <a:solidFill>
                  <a:srgbClr val="F08B78"/>
                </a:solidFill>
                <a:latin typeface="Calibri" pitchFamily="34" charset="0"/>
                <a:ea typeface="Calibri" pitchFamily="34" charset="-122"/>
                <a:cs typeface="Calibri" pitchFamily="34" charset="-120"/>
              </a:rPr>
              <a:t>Expected: corroborated transfer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04 · WHAT WINDOWS REMEMBERS</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Five evidence sources, read without changing anything</a:t>
            </a:r>
            <a:endParaRPr lang="en-US" sz="3000" dirty="0"/>
          </a:p>
        </p:txBody>
      </p:sp>
      <p:sp>
        <p:nvSpPr>
          <p:cNvPr id="4" name="Shape 2"/>
          <p:cNvSpPr/>
          <p:nvPr/>
        </p:nvSpPr>
        <p:spPr>
          <a:xfrm>
            <a:off x="548640" y="1783080"/>
            <a:ext cx="5394960" cy="1234440"/>
          </a:xfrm>
          <a:prstGeom prst="roundRect">
            <a:avLst>
              <a:gd name="adj" fmla="val 5926"/>
            </a:avLst>
          </a:prstGeom>
          <a:solidFill>
            <a:srgbClr val="16212A"/>
          </a:solidFill>
          <a:ln w="9525">
            <a:solidFill>
              <a:srgbClr val="2A3A46"/>
            </a:solidFill>
            <a:prstDash val="solid"/>
          </a:ln>
        </p:spPr>
      </p:sp>
      <p:sp>
        <p:nvSpPr>
          <p:cNvPr id="5" name="Shape 3"/>
          <p:cNvSpPr/>
          <p:nvPr/>
        </p:nvSpPr>
        <p:spPr>
          <a:xfrm>
            <a:off x="777240" y="2084832"/>
            <a:ext cx="603504" cy="603504"/>
          </a:xfrm>
          <a:prstGeom prst="ellipse">
            <a:avLst/>
          </a:prstGeom>
          <a:solidFill>
            <a:srgbClr val="1C2A35"/>
          </a:solidFill>
          <a:ln w="9525">
            <a:solidFill>
              <a:srgbClr val="2A3A46"/>
            </a:solidFill>
            <a:prstDash val="solid"/>
          </a:ln>
        </p:spPr>
      </p:sp>
      <p:pic>
        <p:nvPicPr>
          <p:cNvPr id="6" name="Image 0" descr="preencoded.png">    </p:cNvPr>
          <p:cNvPicPr>
            <a:picLocks noChangeAspect="1"/>
          </p:cNvPicPr>
          <p:nvPr/>
        </p:nvPicPr>
        <p:blipFill>
          <a:blip r:embed="rId1"/>
          <a:stretch>
            <a:fillRect/>
          </a:stretch>
        </p:blipFill>
        <p:spPr>
          <a:xfrm>
            <a:off x="910011" y="2217603"/>
            <a:ext cx="337962" cy="337962"/>
          </a:xfrm>
          <a:prstGeom prst="rect">
            <a:avLst/>
          </a:prstGeom>
        </p:spPr>
      </p:pic>
      <p:sp>
        <p:nvSpPr>
          <p:cNvPr id="7" name="Text 4"/>
          <p:cNvSpPr txBox="1"/>
          <p:nvPr/>
        </p:nvSpPr>
        <p:spPr>
          <a:xfrm>
            <a:off x="1600200" y="1938528"/>
            <a:ext cx="4160520" cy="329184"/>
          </a:xfrm>
          <a:prstGeom prst="rect">
            <a:avLst/>
          </a:prstGeom>
          <a:noFill/>
          <a:ln/>
        </p:spPr>
        <p:txBody>
          <a:bodyPr wrap="square" lIns="0" tIns="0" rIns="0" bIns="0" rtlCol="0" anchor="t"/>
          <a:lstStyle/>
          <a:p>
            <a:pPr indent="0" marL="0">
              <a:buNone/>
            </a:pPr>
            <a:r>
              <a:rPr lang="en-US" sz="1700" b="1" dirty="0">
                <a:solidFill>
                  <a:srgbClr val="E3EBF0"/>
                </a:solidFill>
                <a:latin typeface="Calibri" pitchFamily="34" charset="0"/>
                <a:ea typeface="Calibri" pitchFamily="34" charset="-122"/>
                <a:cs typeface="Calibri" pitchFamily="34" charset="-120"/>
              </a:rPr>
              <a:t>USB device history</a:t>
            </a:r>
            <a:endParaRPr lang="en-US" sz="1700" dirty="0"/>
          </a:p>
        </p:txBody>
      </p:sp>
      <p:sp>
        <p:nvSpPr>
          <p:cNvPr id="8" name="Text 5"/>
          <p:cNvSpPr txBox="1"/>
          <p:nvPr/>
        </p:nvSpPr>
        <p:spPr>
          <a:xfrm>
            <a:off x="1600200" y="2267712"/>
            <a:ext cx="4160520" cy="384048"/>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Plug-and-Play records: first install, last connection, removal</a:t>
            </a:r>
            <a:endParaRPr lang="en-US" sz="1300" dirty="0"/>
          </a:p>
        </p:txBody>
      </p:sp>
      <p:sp>
        <p:nvSpPr>
          <p:cNvPr id="9" name="Text 6"/>
          <p:cNvSpPr txBox="1"/>
          <p:nvPr/>
        </p:nvSpPr>
        <p:spPr>
          <a:xfrm>
            <a:off x="1600200" y="2651760"/>
            <a:ext cx="4160520" cy="274320"/>
          </a:xfrm>
          <a:prstGeom prst="rect">
            <a:avLst/>
          </a:prstGeom>
          <a:noFill/>
          <a:ln/>
        </p:spPr>
        <p:txBody>
          <a:bodyPr wrap="square" lIns="0" tIns="0" rIns="0" bIns="0" rtlCol="0" anchor="t"/>
          <a:lstStyle/>
          <a:p>
            <a:pPr indent="0" marL="0">
              <a:buNone/>
            </a:pPr>
            <a:r>
              <a:rPr lang="en-US" sz="1200" i="1" dirty="0">
                <a:solidFill>
                  <a:srgbClr val="F0C04A"/>
                </a:solidFill>
                <a:latin typeface="Calibri" pitchFamily="34" charset="0"/>
                <a:ea typeface="Calibri" pitchFamily="34" charset="-122"/>
                <a:cs typeface="Calibri" pitchFamily="34" charset="-120"/>
              </a:rPr>
              <a:t>Shows a device was present, not what was copied</a:t>
            </a:r>
            <a:endParaRPr lang="en-US" sz="1200" dirty="0"/>
          </a:p>
        </p:txBody>
      </p:sp>
      <p:sp>
        <p:nvSpPr>
          <p:cNvPr id="10" name="Shape 7"/>
          <p:cNvSpPr/>
          <p:nvPr/>
        </p:nvSpPr>
        <p:spPr>
          <a:xfrm>
            <a:off x="548640" y="3200400"/>
            <a:ext cx="5394960" cy="1234440"/>
          </a:xfrm>
          <a:prstGeom prst="roundRect">
            <a:avLst>
              <a:gd name="adj" fmla="val 5926"/>
            </a:avLst>
          </a:prstGeom>
          <a:solidFill>
            <a:srgbClr val="16212A"/>
          </a:solidFill>
          <a:ln w="9525">
            <a:solidFill>
              <a:srgbClr val="2A3A46"/>
            </a:solidFill>
            <a:prstDash val="solid"/>
          </a:ln>
        </p:spPr>
      </p:sp>
      <p:sp>
        <p:nvSpPr>
          <p:cNvPr id="11" name="Shape 8"/>
          <p:cNvSpPr/>
          <p:nvPr/>
        </p:nvSpPr>
        <p:spPr>
          <a:xfrm>
            <a:off x="777240" y="3502152"/>
            <a:ext cx="603504" cy="603504"/>
          </a:xfrm>
          <a:prstGeom prst="ellipse">
            <a:avLst/>
          </a:prstGeom>
          <a:solidFill>
            <a:srgbClr val="1C2A35"/>
          </a:solidFill>
          <a:ln w="9525">
            <a:solidFill>
              <a:srgbClr val="2A3A46"/>
            </a:solidFill>
            <a:prstDash val="solid"/>
          </a:ln>
        </p:spPr>
      </p:sp>
      <p:pic>
        <p:nvPicPr>
          <p:cNvPr id="12" name="Image 1" descr="preencoded.png">    </p:cNvPr>
          <p:cNvPicPr>
            <a:picLocks noChangeAspect="1"/>
          </p:cNvPicPr>
          <p:nvPr/>
        </p:nvPicPr>
        <p:blipFill>
          <a:blip r:embed="rId2"/>
          <a:stretch>
            <a:fillRect/>
          </a:stretch>
        </p:blipFill>
        <p:spPr>
          <a:xfrm>
            <a:off x="910011" y="3634923"/>
            <a:ext cx="337962" cy="337962"/>
          </a:xfrm>
          <a:prstGeom prst="rect">
            <a:avLst/>
          </a:prstGeom>
        </p:spPr>
      </p:pic>
      <p:sp>
        <p:nvSpPr>
          <p:cNvPr id="13" name="Text 9"/>
          <p:cNvSpPr txBox="1"/>
          <p:nvPr/>
        </p:nvSpPr>
        <p:spPr>
          <a:xfrm>
            <a:off x="1600200" y="3355848"/>
            <a:ext cx="4160520" cy="329184"/>
          </a:xfrm>
          <a:prstGeom prst="rect">
            <a:avLst/>
          </a:prstGeom>
          <a:noFill/>
          <a:ln/>
        </p:spPr>
        <p:txBody>
          <a:bodyPr wrap="square" lIns="0" tIns="0" rIns="0" bIns="0" rtlCol="0" anchor="t"/>
          <a:lstStyle/>
          <a:p>
            <a:pPr indent="0" marL="0">
              <a:buNone/>
            </a:pPr>
            <a:r>
              <a:rPr lang="en-US" sz="1700" b="1" dirty="0">
                <a:solidFill>
                  <a:srgbClr val="E3EBF0"/>
                </a:solidFill>
                <a:latin typeface="Calibri" pitchFamily="34" charset="0"/>
                <a:ea typeface="Calibri" pitchFamily="34" charset="-122"/>
                <a:cs typeface="Calibri" pitchFamily="34" charset="-120"/>
              </a:rPr>
              <a:t>Files on the USB</a:t>
            </a:r>
            <a:endParaRPr lang="en-US" sz="1700" dirty="0"/>
          </a:p>
        </p:txBody>
      </p:sp>
      <p:sp>
        <p:nvSpPr>
          <p:cNvPr id="14" name="Text 10"/>
          <p:cNvSpPr txBox="1"/>
          <p:nvPr/>
        </p:nvSpPr>
        <p:spPr>
          <a:xfrm>
            <a:off x="1600200" y="3685032"/>
            <a:ext cx="4160520" cy="384048"/>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Listing of the removable volume: names, paths, creation times</a:t>
            </a:r>
            <a:endParaRPr lang="en-US" sz="1300" dirty="0"/>
          </a:p>
        </p:txBody>
      </p:sp>
      <p:sp>
        <p:nvSpPr>
          <p:cNvPr id="15" name="Text 11"/>
          <p:cNvSpPr txBox="1"/>
          <p:nvPr/>
        </p:nvSpPr>
        <p:spPr>
          <a:xfrm>
            <a:off x="1600200" y="4069080"/>
            <a:ext cx="4160520" cy="274320"/>
          </a:xfrm>
          <a:prstGeom prst="rect">
            <a:avLst/>
          </a:prstGeom>
          <a:noFill/>
          <a:ln/>
        </p:spPr>
        <p:txBody>
          <a:bodyPr wrap="square" lIns="0" tIns="0" rIns="0" bIns="0" rtlCol="0" anchor="t"/>
          <a:lstStyle/>
          <a:p>
            <a:pPr indent="0" marL="0">
              <a:buNone/>
            </a:pPr>
            <a:r>
              <a:rPr lang="en-US" sz="1200" i="1" dirty="0">
                <a:solidFill>
                  <a:srgbClr val="F0C04A"/>
                </a:solidFill>
                <a:latin typeface="Calibri" pitchFamily="34" charset="0"/>
                <a:ea typeface="Calibri" pitchFamily="34" charset="-122"/>
                <a:cs typeface="Calibri" pitchFamily="34" charset="-120"/>
              </a:rPr>
              <a:t>The strongest clue: the file reached the drive</a:t>
            </a:r>
            <a:endParaRPr lang="en-US" sz="1200" dirty="0"/>
          </a:p>
        </p:txBody>
      </p:sp>
      <p:sp>
        <p:nvSpPr>
          <p:cNvPr id="16" name="Shape 12"/>
          <p:cNvSpPr/>
          <p:nvPr/>
        </p:nvSpPr>
        <p:spPr>
          <a:xfrm>
            <a:off x="548640" y="4617720"/>
            <a:ext cx="5394960" cy="1234440"/>
          </a:xfrm>
          <a:prstGeom prst="roundRect">
            <a:avLst>
              <a:gd name="adj" fmla="val 5926"/>
            </a:avLst>
          </a:prstGeom>
          <a:solidFill>
            <a:srgbClr val="16212A"/>
          </a:solidFill>
          <a:ln w="9525">
            <a:solidFill>
              <a:srgbClr val="2A3A46"/>
            </a:solidFill>
            <a:prstDash val="solid"/>
          </a:ln>
        </p:spPr>
      </p:sp>
      <p:sp>
        <p:nvSpPr>
          <p:cNvPr id="17" name="Shape 13"/>
          <p:cNvSpPr/>
          <p:nvPr/>
        </p:nvSpPr>
        <p:spPr>
          <a:xfrm>
            <a:off x="777240" y="4919472"/>
            <a:ext cx="603504" cy="603504"/>
          </a:xfrm>
          <a:prstGeom prst="ellipse">
            <a:avLst/>
          </a:prstGeom>
          <a:solidFill>
            <a:srgbClr val="1C2A35"/>
          </a:solidFill>
          <a:ln w="9525">
            <a:solidFill>
              <a:srgbClr val="2A3A46"/>
            </a:solidFill>
            <a:prstDash val="solid"/>
          </a:ln>
        </p:spPr>
      </p:sp>
      <p:pic>
        <p:nvPicPr>
          <p:cNvPr id="18" name="Image 2" descr="preencoded.png">    </p:cNvPr>
          <p:cNvPicPr>
            <a:picLocks noChangeAspect="1"/>
          </p:cNvPicPr>
          <p:nvPr/>
        </p:nvPicPr>
        <p:blipFill>
          <a:blip r:embed="rId3"/>
          <a:stretch>
            <a:fillRect/>
          </a:stretch>
        </p:blipFill>
        <p:spPr>
          <a:xfrm>
            <a:off x="910011" y="5052243"/>
            <a:ext cx="337962" cy="337962"/>
          </a:xfrm>
          <a:prstGeom prst="rect">
            <a:avLst/>
          </a:prstGeom>
        </p:spPr>
      </p:pic>
      <p:sp>
        <p:nvSpPr>
          <p:cNvPr id="19" name="Text 14"/>
          <p:cNvSpPr txBox="1"/>
          <p:nvPr/>
        </p:nvSpPr>
        <p:spPr>
          <a:xfrm>
            <a:off x="1600200" y="4773168"/>
            <a:ext cx="4160520" cy="329184"/>
          </a:xfrm>
          <a:prstGeom prst="rect">
            <a:avLst/>
          </a:prstGeom>
          <a:noFill/>
          <a:ln/>
        </p:spPr>
        <p:txBody>
          <a:bodyPr wrap="square" lIns="0" tIns="0" rIns="0" bIns="0" rtlCol="0" anchor="t"/>
          <a:lstStyle/>
          <a:p>
            <a:pPr indent="0" marL="0">
              <a:buNone/>
            </a:pPr>
            <a:r>
              <a:rPr lang="en-US" sz="1700" b="1" dirty="0">
                <a:solidFill>
                  <a:srgbClr val="E3EBF0"/>
                </a:solidFill>
                <a:latin typeface="Calibri" pitchFamily="34" charset="0"/>
                <a:ea typeface="Calibri" pitchFamily="34" charset="-122"/>
                <a:cs typeface="Calibri" pitchFamily="34" charset="-120"/>
              </a:rPr>
              <a:t>Recent Items shortcuts</a:t>
            </a:r>
            <a:endParaRPr lang="en-US" sz="1700" dirty="0"/>
          </a:p>
        </p:txBody>
      </p:sp>
      <p:sp>
        <p:nvSpPr>
          <p:cNvPr id="20" name="Text 15"/>
          <p:cNvSpPr txBox="1"/>
          <p:nvPr/>
        </p:nvSpPr>
        <p:spPr>
          <a:xfrm>
            <a:off x="1600200" y="5102352"/>
            <a:ext cx="4160520" cy="384048"/>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LNK files Windows writes when a document is opened</a:t>
            </a:r>
            <a:endParaRPr lang="en-US" sz="1300" dirty="0"/>
          </a:p>
        </p:txBody>
      </p:sp>
      <p:sp>
        <p:nvSpPr>
          <p:cNvPr id="21" name="Text 16"/>
          <p:cNvSpPr txBox="1"/>
          <p:nvPr/>
        </p:nvSpPr>
        <p:spPr>
          <a:xfrm>
            <a:off x="1600200" y="5486400"/>
            <a:ext cx="4160520" cy="274320"/>
          </a:xfrm>
          <a:prstGeom prst="rect">
            <a:avLst/>
          </a:prstGeom>
          <a:noFill/>
          <a:ln/>
        </p:spPr>
        <p:txBody>
          <a:bodyPr wrap="square" lIns="0" tIns="0" rIns="0" bIns="0" rtlCol="0" anchor="t"/>
          <a:lstStyle/>
          <a:p>
            <a:pPr indent="0" marL="0">
              <a:buNone/>
            </a:pPr>
            <a:r>
              <a:rPr lang="en-US" sz="1200" i="1" dirty="0">
                <a:solidFill>
                  <a:srgbClr val="F0C04A"/>
                </a:solidFill>
                <a:latin typeface="Calibri" pitchFamily="34" charset="0"/>
                <a:ea typeface="Calibri" pitchFamily="34" charset="-122"/>
                <a:cs typeface="Calibri" pitchFamily="34" charset="-120"/>
              </a:rPr>
              <a:t>Shows a file was opened, not copied</a:t>
            </a:r>
            <a:endParaRPr lang="en-US" sz="1200" dirty="0"/>
          </a:p>
        </p:txBody>
      </p:sp>
      <p:sp>
        <p:nvSpPr>
          <p:cNvPr id="22" name="Shape 17"/>
          <p:cNvSpPr/>
          <p:nvPr/>
        </p:nvSpPr>
        <p:spPr>
          <a:xfrm>
            <a:off x="6190488" y="1783080"/>
            <a:ext cx="5394960" cy="1234440"/>
          </a:xfrm>
          <a:prstGeom prst="roundRect">
            <a:avLst>
              <a:gd name="adj" fmla="val 5926"/>
            </a:avLst>
          </a:prstGeom>
          <a:solidFill>
            <a:srgbClr val="16212A"/>
          </a:solidFill>
          <a:ln w="9525">
            <a:solidFill>
              <a:srgbClr val="2A3A46"/>
            </a:solidFill>
            <a:prstDash val="solid"/>
          </a:ln>
        </p:spPr>
      </p:sp>
      <p:sp>
        <p:nvSpPr>
          <p:cNvPr id="23" name="Shape 18"/>
          <p:cNvSpPr/>
          <p:nvPr/>
        </p:nvSpPr>
        <p:spPr>
          <a:xfrm>
            <a:off x="6419088" y="2084832"/>
            <a:ext cx="603504" cy="603504"/>
          </a:xfrm>
          <a:prstGeom prst="ellipse">
            <a:avLst/>
          </a:prstGeom>
          <a:solidFill>
            <a:srgbClr val="1C2A35"/>
          </a:solidFill>
          <a:ln w="9525">
            <a:solidFill>
              <a:srgbClr val="2A3A46"/>
            </a:solidFill>
            <a:prstDash val="solid"/>
          </a:ln>
        </p:spPr>
      </p:sp>
      <p:pic>
        <p:nvPicPr>
          <p:cNvPr id="24" name="Image 3" descr="preencoded.png">    </p:cNvPr>
          <p:cNvPicPr>
            <a:picLocks noChangeAspect="1"/>
          </p:cNvPicPr>
          <p:nvPr/>
        </p:nvPicPr>
        <p:blipFill>
          <a:blip r:embed="rId4"/>
          <a:stretch>
            <a:fillRect/>
          </a:stretch>
        </p:blipFill>
        <p:spPr>
          <a:xfrm>
            <a:off x="6551859" y="2217603"/>
            <a:ext cx="337962" cy="337962"/>
          </a:xfrm>
          <a:prstGeom prst="rect">
            <a:avLst/>
          </a:prstGeom>
        </p:spPr>
      </p:pic>
      <p:sp>
        <p:nvSpPr>
          <p:cNvPr id="25" name="Text 19"/>
          <p:cNvSpPr txBox="1"/>
          <p:nvPr/>
        </p:nvSpPr>
        <p:spPr>
          <a:xfrm>
            <a:off x="7242048" y="1938528"/>
            <a:ext cx="4160520" cy="329184"/>
          </a:xfrm>
          <a:prstGeom prst="rect">
            <a:avLst/>
          </a:prstGeom>
          <a:noFill/>
          <a:ln/>
        </p:spPr>
        <p:txBody>
          <a:bodyPr wrap="square" lIns="0" tIns="0" rIns="0" bIns="0" rtlCol="0" anchor="t"/>
          <a:lstStyle/>
          <a:p>
            <a:pPr indent="0" marL="0">
              <a:buNone/>
            </a:pPr>
            <a:r>
              <a:rPr lang="en-US" sz="1700" b="1" dirty="0">
                <a:solidFill>
                  <a:srgbClr val="E3EBF0"/>
                </a:solidFill>
                <a:latin typeface="Calibri" pitchFamily="34" charset="0"/>
                <a:ea typeface="Calibri" pitchFamily="34" charset="-122"/>
                <a:cs typeface="Calibri" pitchFamily="34" charset="-120"/>
              </a:rPr>
              <a:t>Recycle Bin records</a:t>
            </a:r>
            <a:endParaRPr lang="en-US" sz="1700" dirty="0"/>
          </a:p>
        </p:txBody>
      </p:sp>
      <p:sp>
        <p:nvSpPr>
          <p:cNvPr id="26" name="Text 20"/>
          <p:cNvSpPr txBox="1"/>
          <p:nvPr/>
        </p:nvSpPr>
        <p:spPr>
          <a:xfrm>
            <a:off x="7242048" y="2267712"/>
            <a:ext cx="4160520" cy="384048"/>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$I files holding original path and deletion time</a:t>
            </a:r>
            <a:endParaRPr lang="en-US" sz="1300" dirty="0"/>
          </a:p>
        </p:txBody>
      </p:sp>
      <p:sp>
        <p:nvSpPr>
          <p:cNvPr id="27" name="Text 21"/>
          <p:cNvSpPr txBox="1"/>
          <p:nvPr/>
        </p:nvSpPr>
        <p:spPr>
          <a:xfrm>
            <a:off x="7242048" y="2651760"/>
            <a:ext cx="4160520" cy="274320"/>
          </a:xfrm>
          <a:prstGeom prst="rect">
            <a:avLst/>
          </a:prstGeom>
          <a:noFill/>
          <a:ln/>
        </p:spPr>
        <p:txBody>
          <a:bodyPr wrap="square" lIns="0" tIns="0" rIns="0" bIns="0" rtlCol="0" anchor="t"/>
          <a:lstStyle/>
          <a:p>
            <a:pPr indent="0" marL="0">
              <a:buNone/>
            </a:pPr>
            <a:r>
              <a:rPr lang="en-US" sz="1200" i="1" dirty="0">
                <a:solidFill>
                  <a:srgbClr val="F0C04A"/>
                </a:solidFill>
                <a:latin typeface="Calibri" pitchFamily="34" charset="0"/>
                <a:ea typeface="Calibri" pitchFamily="34" charset="-122"/>
                <a:cs typeface="Calibri" pitchFamily="34" charset="-120"/>
              </a:rPr>
              <a:t>Deletion can be innocent; intent is not proven</a:t>
            </a:r>
            <a:endParaRPr lang="en-US" sz="1200" dirty="0"/>
          </a:p>
        </p:txBody>
      </p:sp>
      <p:sp>
        <p:nvSpPr>
          <p:cNvPr id="28" name="Shape 22"/>
          <p:cNvSpPr/>
          <p:nvPr/>
        </p:nvSpPr>
        <p:spPr>
          <a:xfrm>
            <a:off x="6190488" y="3200400"/>
            <a:ext cx="5394960" cy="1234440"/>
          </a:xfrm>
          <a:prstGeom prst="roundRect">
            <a:avLst>
              <a:gd name="adj" fmla="val 5926"/>
            </a:avLst>
          </a:prstGeom>
          <a:solidFill>
            <a:srgbClr val="16212A"/>
          </a:solidFill>
          <a:ln w="9525">
            <a:solidFill>
              <a:srgbClr val="2A3A46"/>
            </a:solidFill>
            <a:prstDash val="solid"/>
          </a:ln>
        </p:spPr>
      </p:sp>
      <p:sp>
        <p:nvSpPr>
          <p:cNvPr id="29" name="Shape 23"/>
          <p:cNvSpPr/>
          <p:nvPr/>
        </p:nvSpPr>
        <p:spPr>
          <a:xfrm>
            <a:off x="6419088" y="3502152"/>
            <a:ext cx="603504" cy="603504"/>
          </a:xfrm>
          <a:prstGeom prst="ellipse">
            <a:avLst/>
          </a:prstGeom>
          <a:solidFill>
            <a:srgbClr val="1C2A35"/>
          </a:solidFill>
          <a:ln w="9525">
            <a:solidFill>
              <a:srgbClr val="2A3A46"/>
            </a:solidFill>
            <a:prstDash val="solid"/>
          </a:ln>
        </p:spPr>
      </p:sp>
      <p:pic>
        <p:nvPicPr>
          <p:cNvPr id="30" name="Image 4" descr="preencoded.png">    </p:cNvPr>
          <p:cNvPicPr>
            <a:picLocks noChangeAspect="1"/>
          </p:cNvPicPr>
          <p:nvPr/>
        </p:nvPicPr>
        <p:blipFill>
          <a:blip r:embed="rId5"/>
          <a:stretch>
            <a:fillRect/>
          </a:stretch>
        </p:blipFill>
        <p:spPr>
          <a:xfrm>
            <a:off x="6551859" y="3634923"/>
            <a:ext cx="337962" cy="337962"/>
          </a:xfrm>
          <a:prstGeom prst="rect">
            <a:avLst/>
          </a:prstGeom>
        </p:spPr>
      </p:pic>
      <p:sp>
        <p:nvSpPr>
          <p:cNvPr id="31" name="Text 24"/>
          <p:cNvSpPr txBox="1"/>
          <p:nvPr/>
        </p:nvSpPr>
        <p:spPr>
          <a:xfrm>
            <a:off x="7242048" y="3355848"/>
            <a:ext cx="4160520" cy="329184"/>
          </a:xfrm>
          <a:prstGeom prst="rect">
            <a:avLst/>
          </a:prstGeom>
          <a:noFill/>
          <a:ln/>
        </p:spPr>
        <p:txBody>
          <a:bodyPr wrap="square" lIns="0" tIns="0" rIns="0" bIns="0" rtlCol="0" anchor="t"/>
          <a:lstStyle/>
          <a:p>
            <a:pPr indent="0" marL="0">
              <a:buNone/>
            </a:pPr>
            <a:r>
              <a:rPr lang="en-US" sz="1700" b="1" dirty="0">
                <a:solidFill>
                  <a:srgbClr val="E3EBF0"/>
                </a:solidFill>
                <a:latin typeface="Calibri" pitchFamily="34" charset="0"/>
                <a:ea typeface="Calibri" pitchFamily="34" charset="-122"/>
                <a:cs typeface="Calibri" pitchFamily="34" charset="-120"/>
              </a:rPr>
              <a:t>Logon events</a:t>
            </a:r>
            <a:endParaRPr lang="en-US" sz="1700" dirty="0"/>
          </a:p>
        </p:txBody>
      </p:sp>
      <p:sp>
        <p:nvSpPr>
          <p:cNvPr id="32" name="Text 25"/>
          <p:cNvSpPr txBox="1"/>
          <p:nvPr/>
        </p:nvSpPr>
        <p:spPr>
          <a:xfrm>
            <a:off x="7242048" y="3685032"/>
            <a:ext cx="4160520" cy="384048"/>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Winlogon event 7001 in the System log</a:t>
            </a:r>
            <a:endParaRPr lang="en-US" sz="1300" dirty="0"/>
          </a:p>
        </p:txBody>
      </p:sp>
      <p:sp>
        <p:nvSpPr>
          <p:cNvPr id="33" name="Text 26"/>
          <p:cNvSpPr txBox="1"/>
          <p:nvPr/>
        </p:nvSpPr>
        <p:spPr>
          <a:xfrm>
            <a:off x="7242048" y="4069080"/>
            <a:ext cx="4160520" cy="274320"/>
          </a:xfrm>
          <a:prstGeom prst="rect">
            <a:avLst/>
          </a:prstGeom>
          <a:noFill/>
          <a:ln/>
        </p:spPr>
        <p:txBody>
          <a:bodyPr wrap="square" lIns="0" tIns="0" rIns="0" bIns="0" rtlCol="0" anchor="t"/>
          <a:lstStyle/>
          <a:p>
            <a:pPr indent="0" marL="0">
              <a:buNone/>
            </a:pPr>
            <a:r>
              <a:rPr lang="en-US" sz="1200" i="1" dirty="0">
                <a:solidFill>
                  <a:srgbClr val="F0C04A"/>
                </a:solidFill>
                <a:latin typeface="Calibri" pitchFamily="34" charset="0"/>
                <a:ea typeface="Calibri" pitchFamily="34" charset="-122"/>
                <a:cs typeface="Calibri" pitchFamily="34" charset="-120"/>
              </a:rPr>
              <a:t>Ties the activity to a user session</a:t>
            </a:r>
            <a:endParaRPr lang="en-US" sz="1200" dirty="0"/>
          </a:p>
        </p:txBody>
      </p:sp>
      <p:sp>
        <p:nvSpPr>
          <p:cNvPr id="34" name="Shape 27"/>
          <p:cNvSpPr/>
          <p:nvPr/>
        </p:nvSpPr>
        <p:spPr>
          <a:xfrm>
            <a:off x="6190488" y="4617720"/>
            <a:ext cx="5394960" cy="1234440"/>
          </a:xfrm>
          <a:prstGeom prst="roundRect">
            <a:avLst>
              <a:gd name="adj" fmla="val 5926"/>
            </a:avLst>
          </a:prstGeom>
          <a:solidFill>
            <a:srgbClr val="1C2A35"/>
          </a:solidFill>
          <a:ln w="9525">
            <a:solidFill>
              <a:srgbClr val="2A3A46"/>
            </a:solidFill>
            <a:prstDash val="solid"/>
          </a:ln>
        </p:spPr>
      </p:sp>
      <p:pic>
        <p:nvPicPr>
          <p:cNvPr id="35" name="Image 5" descr="preencoded.png">    </p:cNvPr>
          <p:cNvPicPr>
            <a:picLocks noChangeAspect="1"/>
          </p:cNvPicPr>
          <p:nvPr/>
        </p:nvPicPr>
        <p:blipFill>
          <a:blip r:embed="rId6"/>
          <a:stretch>
            <a:fillRect/>
          </a:stretch>
        </p:blipFill>
        <p:spPr>
          <a:xfrm>
            <a:off x="6419088" y="4983480"/>
            <a:ext cx="457200" cy="457200"/>
          </a:xfrm>
          <a:prstGeom prst="rect">
            <a:avLst/>
          </a:prstGeom>
        </p:spPr>
      </p:pic>
      <p:sp>
        <p:nvSpPr>
          <p:cNvPr id="36" name="Text 28"/>
          <p:cNvSpPr txBox="1"/>
          <p:nvPr/>
        </p:nvSpPr>
        <p:spPr>
          <a:xfrm>
            <a:off x="7242048" y="4800600"/>
            <a:ext cx="4206240" cy="320040"/>
          </a:xfrm>
          <a:prstGeom prst="rect">
            <a:avLst/>
          </a:prstGeom>
          <a:noFill/>
          <a:ln/>
        </p:spPr>
        <p:txBody>
          <a:bodyPr wrap="square" lIns="0" tIns="0" rIns="0" bIns="0" rtlCol="0" anchor="t"/>
          <a:lstStyle/>
          <a:p>
            <a:pPr indent="0" marL="0">
              <a:buNone/>
            </a:pPr>
            <a:r>
              <a:rPr lang="en-US" sz="1300" dirty="0">
                <a:solidFill>
                  <a:srgbClr val="5CC0DD"/>
                </a:solidFill>
                <a:latin typeface="Consolas" pitchFamily="34" charset="0"/>
                <a:ea typeface="Consolas" pitchFamily="34" charset="-122"/>
                <a:cs typeface="Consolas" pitchFamily="34" charset="-120"/>
              </a:rPr>
              <a:t>collector\collect_usb_artifacts.ps1</a:t>
            </a:r>
            <a:endParaRPr lang="en-US" sz="1300" dirty="0"/>
          </a:p>
        </p:txBody>
      </p:sp>
      <p:sp>
        <p:nvSpPr>
          <p:cNvPr id="37" name="Text 29"/>
          <p:cNvSpPr txBox="1"/>
          <p:nvPr/>
        </p:nvSpPr>
        <p:spPr>
          <a:xfrm>
            <a:off x="7242048" y="5166360"/>
            <a:ext cx="4206240" cy="548640"/>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Runs as a normal user. Read-only. Writes a SHA-256 manifest.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05 · HOW THE SYSTEM WORKS</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From raw Windows traces to an explainable verdict</a:t>
            </a:r>
            <a:endParaRPr lang="en-US" sz="3000" dirty="0"/>
          </a:p>
        </p:txBody>
      </p:sp>
      <p:sp>
        <p:nvSpPr>
          <p:cNvPr id="4" name="Shape 2"/>
          <p:cNvSpPr/>
          <p:nvPr/>
        </p:nvSpPr>
        <p:spPr>
          <a:xfrm>
            <a:off x="548640" y="1965960"/>
            <a:ext cx="1443838" cy="2331720"/>
          </a:xfrm>
          <a:prstGeom prst="roundRect">
            <a:avLst>
              <a:gd name="adj" fmla="val 5066"/>
            </a:avLst>
          </a:prstGeom>
          <a:solidFill>
            <a:srgbClr val="16212A"/>
          </a:solidFill>
          <a:ln w="9525">
            <a:solidFill>
              <a:srgbClr val="2A3A46"/>
            </a:solidFill>
            <a:prstDash val="solid"/>
          </a:ln>
        </p:spPr>
      </p:sp>
      <p:sp>
        <p:nvSpPr>
          <p:cNvPr id="5" name="Shape 3"/>
          <p:cNvSpPr/>
          <p:nvPr/>
        </p:nvSpPr>
        <p:spPr>
          <a:xfrm>
            <a:off x="968807" y="2194560"/>
            <a:ext cx="603504" cy="603504"/>
          </a:xfrm>
          <a:prstGeom prst="ellipse">
            <a:avLst/>
          </a:prstGeom>
          <a:solidFill>
            <a:srgbClr val="1C2A35"/>
          </a:solidFill>
          <a:ln w="9525">
            <a:solidFill>
              <a:srgbClr val="2A3A46"/>
            </a:solidFill>
            <a:prstDash val="solid"/>
          </a:ln>
        </p:spPr>
      </p:sp>
      <p:pic>
        <p:nvPicPr>
          <p:cNvPr id="6" name="Image 0" descr="preencoded.png">    </p:cNvPr>
          <p:cNvPicPr>
            <a:picLocks noChangeAspect="1"/>
          </p:cNvPicPr>
          <p:nvPr/>
        </p:nvPicPr>
        <p:blipFill>
          <a:blip r:embed="rId1"/>
          <a:stretch>
            <a:fillRect/>
          </a:stretch>
        </p:blipFill>
        <p:spPr>
          <a:xfrm>
            <a:off x="1101578" y="2327331"/>
            <a:ext cx="337962" cy="337962"/>
          </a:xfrm>
          <a:prstGeom prst="rect">
            <a:avLst/>
          </a:prstGeom>
        </p:spPr>
      </p:pic>
      <p:sp>
        <p:nvSpPr>
          <p:cNvPr id="7" name="Text 4"/>
          <p:cNvSpPr txBox="1"/>
          <p:nvPr/>
        </p:nvSpPr>
        <p:spPr>
          <a:xfrm>
            <a:off x="658368" y="2057400"/>
            <a:ext cx="365760" cy="274320"/>
          </a:xfrm>
          <a:prstGeom prst="rect">
            <a:avLst/>
          </a:prstGeom>
          <a:noFill/>
          <a:ln/>
        </p:spPr>
        <p:txBody>
          <a:bodyPr wrap="square" lIns="0" tIns="0" rIns="0" bIns="0" rtlCol="0" anchor="t"/>
          <a:lstStyle/>
          <a:p>
            <a:pPr indent="0" marL="0">
              <a:buNone/>
            </a:pPr>
            <a:r>
              <a:rPr lang="en-US" sz="1100" dirty="0">
                <a:solidFill>
                  <a:srgbClr val="6B7D89"/>
                </a:solidFill>
                <a:latin typeface="Consolas" pitchFamily="34" charset="0"/>
                <a:ea typeface="Consolas" pitchFamily="34" charset="-122"/>
                <a:cs typeface="Consolas" pitchFamily="34" charset="-120"/>
              </a:rPr>
              <a:t>1</a:t>
            </a:r>
            <a:endParaRPr lang="en-US" sz="1100" dirty="0"/>
          </a:p>
        </p:txBody>
      </p:sp>
      <p:sp>
        <p:nvSpPr>
          <p:cNvPr id="8" name="Text 5"/>
          <p:cNvSpPr txBox="1"/>
          <p:nvPr/>
        </p:nvSpPr>
        <p:spPr>
          <a:xfrm>
            <a:off x="640080" y="2926080"/>
            <a:ext cx="1260958" cy="365760"/>
          </a:xfrm>
          <a:prstGeom prst="rect">
            <a:avLst/>
          </a:prstGeom>
          <a:noFill/>
          <a:ln/>
        </p:spPr>
        <p:txBody>
          <a:bodyPr wrap="square" lIns="0" tIns="0" rIns="0" bIns="0" rtlCol="0" anchor="t"/>
          <a:lstStyle/>
          <a:p>
            <a:pPr algn="ctr" indent="0" marL="0">
              <a:buNone/>
            </a:pPr>
            <a:r>
              <a:rPr lang="en-US" sz="1600" b="1" dirty="0">
                <a:solidFill>
                  <a:srgbClr val="E3EBF0"/>
                </a:solidFill>
                <a:latin typeface="Calibri" pitchFamily="34" charset="0"/>
                <a:ea typeface="Calibri" pitchFamily="34" charset="-122"/>
                <a:cs typeface="Calibri" pitchFamily="34" charset="-120"/>
              </a:rPr>
              <a:t>Collect</a:t>
            </a:r>
            <a:endParaRPr lang="en-US" sz="1600" dirty="0"/>
          </a:p>
        </p:txBody>
      </p:sp>
      <p:sp>
        <p:nvSpPr>
          <p:cNvPr id="9" name="Text 6"/>
          <p:cNvSpPr txBox="1"/>
          <p:nvPr/>
        </p:nvSpPr>
        <p:spPr>
          <a:xfrm>
            <a:off x="658368" y="3337560"/>
            <a:ext cx="1224382" cy="868680"/>
          </a:xfrm>
          <a:prstGeom prst="rect">
            <a:avLst/>
          </a:prstGeom>
          <a:noFill/>
          <a:ln/>
        </p:spPr>
        <p:txBody>
          <a:bodyPr wrap="square" lIns="0" tIns="0" rIns="0" bIns="0" rtlCol="0" anchor="t"/>
          <a:lstStyle/>
          <a:p>
            <a:pPr algn="ctr" indent="0" marL="0">
              <a:buNone/>
            </a:pPr>
            <a:r>
              <a:rPr lang="en-US" sz="1200" dirty="0">
                <a:solidFill>
                  <a:srgbClr val="94A6B3"/>
                </a:solidFill>
                <a:latin typeface="Calibri" pitchFamily="34" charset="0"/>
                <a:ea typeface="Calibri" pitchFamily="34" charset="-122"/>
                <a:cs typeface="Calibri" pitchFamily="34" charset="-120"/>
              </a:rPr>
              <a:t>Read-only PowerShell collector</a:t>
            </a:r>
            <a:endParaRPr lang="en-US" sz="1200" dirty="0"/>
          </a:p>
        </p:txBody>
      </p:sp>
      <p:sp>
        <p:nvSpPr>
          <p:cNvPr id="10" name="Shape 7"/>
          <p:cNvSpPr/>
          <p:nvPr/>
        </p:nvSpPr>
        <p:spPr>
          <a:xfrm>
            <a:off x="2157070" y="1965960"/>
            <a:ext cx="1443838" cy="2331720"/>
          </a:xfrm>
          <a:prstGeom prst="roundRect">
            <a:avLst>
              <a:gd name="adj" fmla="val 5066"/>
            </a:avLst>
          </a:prstGeom>
          <a:solidFill>
            <a:srgbClr val="16212A"/>
          </a:solidFill>
          <a:ln w="9525">
            <a:solidFill>
              <a:srgbClr val="2A3A46"/>
            </a:solidFill>
            <a:prstDash val="solid"/>
          </a:ln>
        </p:spPr>
      </p:sp>
      <p:sp>
        <p:nvSpPr>
          <p:cNvPr id="11" name="Shape 8"/>
          <p:cNvSpPr/>
          <p:nvPr/>
        </p:nvSpPr>
        <p:spPr>
          <a:xfrm>
            <a:off x="2577236" y="2194560"/>
            <a:ext cx="603504" cy="603504"/>
          </a:xfrm>
          <a:prstGeom prst="ellipse">
            <a:avLst/>
          </a:prstGeom>
          <a:solidFill>
            <a:srgbClr val="1C2A35"/>
          </a:solidFill>
          <a:ln w="9525">
            <a:solidFill>
              <a:srgbClr val="2A3A46"/>
            </a:solidFill>
            <a:prstDash val="solid"/>
          </a:ln>
        </p:spPr>
      </p:sp>
      <p:pic>
        <p:nvPicPr>
          <p:cNvPr id="12" name="Image 1" descr="preencoded.png">    </p:cNvPr>
          <p:cNvPicPr>
            <a:picLocks noChangeAspect="1"/>
          </p:cNvPicPr>
          <p:nvPr/>
        </p:nvPicPr>
        <p:blipFill>
          <a:blip r:embed="rId2"/>
          <a:stretch>
            <a:fillRect/>
          </a:stretch>
        </p:blipFill>
        <p:spPr>
          <a:xfrm>
            <a:off x="2710007" y="2327331"/>
            <a:ext cx="337962" cy="337962"/>
          </a:xfrm>
          <a:prstGeom prst="rect">
            <a:avLst/>
          </a:prstGeom>
        </p:spPr>
      </p:pic>
      <p:sp>
        <p:nvSpPr>
          <p:cNvPr id="13" name="Text 9"/>
          <p:cNvSpPr txBox="1"/>
          <p:nvPr/>
        </p:nvSpPr>
        <p:spPr>
          <a:xfrm>
            <a:off x="2266798" y="2057400"/>
            <a:ext cx="365760" cy="274320"/>
          </a:xfrm>
          <a:prstGeom prst="rect">
            <a:avLst/>
          </a:prstGeom>
          <a:noFill/>
          <a:ln/>
        </p:spPr>
        <p:txBody>
          <a:bodyPr wrap="square" lIns="0" tIns="0" rIns="0" bIns="0" rtlCol="0" anchor="t"/>
          <a:lstStyle/>
          <a:p>
            <a:pPr indent="0" marL="0">
              <a:buNone/>
            </a:pPr>
            <a:r>
              <a:rPr lang="en-US" sz="1100" dirty="0">
                <a:solidFill>
                  <a:srgbClr val="6B7D89"/>
                </a:solidFill>
                <a:latin typeface="Consolas" pitchFamily="34" charset="0"/>
                <a:ea typeface="Consolas" pitchFamily="34" charset="-122"/>
                <a:cs typeface="Consolas" pitchFamily="34" charset="-120"/>
              </a:rPr>
              <a:t>2</a:t>
            </a:r>
            <a:endParaRPr lang="en-US" sz="1100" dirty="0"/>
          </a:p>
        </p:txBody>
      </p:sp>
      <p:sp>
        <p:nvSpPr>
          <p:cNvPr id="14" name="Text 10"/>
          <p:cNvSpPr txBox="1"/>
          <p:nvPr/>
        </p:nvSpPr>
        <p:spPr>
          <a:xfrm>
            <a:off x="2248510" y="2926080"/>
            <a:ext cx="1260958" cy="365760"/>
          </a:xfrm>
          <a:prstGeom prst="rect">
            <a:avLst/>
          </a:prstGeom>
          <a:noFill/>
          <a:ln/>
        </p:spPr>
        <p:txBody>
          <a:bodyPr wrap="square" lIns="0" tIns="0" rIns="0" bIns="0" rtlCol="0" anchor="t"/>
          <a:lstStyle/>
          <a:p>
            <a:pPr algn="ctr" indent="0" marL="0">
              <a:buNone/>
            </a:pPr>
            <a:r>
              <a:rPr lang="en-US" sz="1600" b="1" dirty="0">
                <a:solidFill>
                  <a:srgbClr val="E3EBF0"/>
                </a:solidFill>
                <a:latin typeface="Calibri" pitchFamily="34" charset="0"/>
                <a:ea typeface="Calibri" pitchFamily="34" charset="-122"/>
                <a:cs typeface="Calibri" pitchFamily="34" charset="-120"/>
              </a:rPr>
              <a:t>Seal</a:t>
            </a:r>
            <a:endParaRPr lang="en-US" sz="1600" dirty="0"/>
          </a:p>
        </p:txBody>
      </p:sp>
      <p:sp>
        <p:nvSpPr>
          <p:cNvPr id="15" name="Text 11"/>
          <p:cNvSpPr txBox="1"/>
          <p:nvPr/>
        </p:nvSpPr>
        <p:spPr>
          <a:xfrm>
            <a:off x="2266798" y="3337560"/>
            <a:ext cx="1224382" cy="868680"/>
          </a:xfrm>
          <a:prstGeom prst="rect">
            <a:avLst/>
          </a:prstGeom>
          <a:noFill/>
          <a:ln/>
        </p:spPr>
        <p:txBody>
          <a:bodyPr wrap="square" lIns="0" tIns="0" rIns="0" bIns="0" rtlCol="0" anchor="t"/>
          <a:lstStyle/>
          <a:p>
            <a:pPr algn="ctr" indent="0" marL="0">
              <a:buNone/>
            </a:pPr>
            <a:r>
              <a:rPr lang="en-US" sz="1200" dirty="0">
                <a:solidFill>
                  <a:srgbClr val="94A6B3"/>
                </a:solidFill>
                <a:latin typeface="Calibri" pitchFamily="34" charset="0"/>
                <a:ea typeface="Calibri" pitchFamily="34" charset="-122"/>
                <a:cs typeface="Calibri" pitchFamily="34" charset="-120"/>
              </a:rPr>
              <a:t>SHA-256 fingerprint + custody log</a:t>
            </a:r>
            <a:endParaRPr lang="en-US" sz="1200" dirty="0"/>
          </a:p>
        </p:txBody>
      </p:sp>
      <p:sp>
        <p:nvSpPr>
          <p:cNvPr id="16" name="Shape 12"/>
          <p:cNvSpPr/>
          <p:nvPr/>
        </p:nvSpPr>
        <p:spPr>
          <a:xfrm>
            <a:off x="3765499" y="1965960"/>
            <a:ext cx="1443838" cy="2331720"/>
          </a:xfrm>
          <a:prstGeom prst="roundRect">
            <a:avLst>
              <a:gd name="adj" fmla="val 5066"/>
            </a:avLst>
          </a:prstGeom>
          <a:solidFill>
            <a:srgbClr val="16212A"/>
          </a:solidFill>
          <a:ln w="9525">
            <a:solidFill>
              <a:srgbClr val="2A3A46"/>
            </a:solidFill>
            <a:prstDash val="solid"/>
          </a:ln>
        </p:spPr>
      </p:sp>
      <p:sp>
        <p:nvSpPr>
          <p:cNvPr id="17" name="Shape 13"/>
          <p:cNvSpPr/>
          <p:nvPr/>
        </p:nvSpPr>
        <p:spPr>
          <a:xfrm>
            <a:off x="4185666" y="2194560"/>
            <a:ext cx="603504" cy="603504"/>
          </a:xfrm>
          <a:prstGeom prst="ellipse">
            <a:avLst/>
          </a:prstGeom>
          <a:solidFill>
            <a:srgbClr val="1C2A35"/>
          </a:solidFill>
          <a:ln w="9525">
            <a:solidFill>
              <a:srgbClr val="2A3A46"/>
            </a:solidFill>
            <a:prstDash val="solid"/>
          </a:ln>
        </p:spPr>
      </p:sp>
      <p:pic>
        <p:nvPicPr>
          <p:cNvPr id="18" name="Image 2" descr="preencoded.png">    </p:cNvPr>
          <p:cNvPicPr>
            <a:picLocks noChangeAspect="1"/>
          </p:cNvPicPr>
          <p:nvPr/>
        </p:nvPicPr>
        <p:blipFill>
          <a:blip r:embed="rId3"/>
          <a:stretch>
            <a:fillRect/>
          </a:stretch>
        </p:blipFill>
        <p:spPr>
          <a:xfrm>
            <a:off x="4318437" y="2327331"/>
            <a:ext cx="337962" cy="337962"/>
          </a:xfrm>
          <a:prstGeom prst="rect">
            <a:avLst/>
          </a:prstGeom>
        </p:spPr>
      </p:pic>
      <p:sp>
        <p:nvSpPr>
          <p:cNvPr id="19" name="Text 14"/>
          <p:cNvSpPr txBox="1"/>
          <p:nvPr/>
        </p:nvSpPr>
        <p:spPr>
          <a:xfrm>
            <a:off x="3875227" y="2057400"/>
            <a:ext cx="365760" cy="274320"/>
          </a:xfrm>
          <a:prstGeom prst="rect">
            <a:avLst/>
          </a:prstGeom>
          <a:noFill/>
          <a:ln/>
        </p:spPr>
        <p:txBody>
          <a:bodyPr wrap="square" lIns="0" tIns="0" rIns="0" bIns="0" rtlCol="0" anchor="t"/>
          <a:lstStyle/>
          <a:p>
            <a:pPr indent="0" marL="0">
              <a:buNone/>
            </a:pPr>
            <a:r>
              <a:rPr lang="en-US" sz="1100" dirty="0">
                <a:solidFill>
                  <a:srgbClr val="6B7D89"/>
                </a:solidFill>
                <a:latin typeface="Consolas" pitchFamily="34" charset="0"/>
                <a:ea typeface="Consolas" pitchFamily="34" charset="-122"/>
                <a:cs typeface="Consolas" pitchFamily="34" charset="-120"/>
              </a:rPr>
              <a:t>3</a:t>
            </a:r>
            <a:endParaRPr lang="en-US" sz="1100" dirty="0"/>
          </a:p>
        </p:txBody>
      </p:sp>
      <p:sp>
        <p:nvSpPr>
          <p:cNvPr id="20" name="Text 15"/>
          <p:cNvSpPr txBox="1"/>
          <p:nvPr/>
        </p:nvSpPr>
        <p:spPr>
          <a:xfrm>
            <a:off x="3856939" y="2926080"/>
            <a:ext cx="1260958" cy="365760"/>
          </a:xfrm>
          <a:prstGeom prst="rect">
            <a:avLst/>
          </a:prstGeom>
          <a:noFill/>
          <a:ln/>
        </p:spPr>
        <p:txBody>
          <a:bodyPr wrap="square" lIns="0" tIns="0" rIns="0" bIns="0" rtlCol="0" anchor="t"/>
          <a:lstStyle/>
          <a:p>
            <a:pPr algn="ctr" indent="0" marL="0">
              <a:buNone/>
            </a:pPr>
            <a:r>
              <a:rPr lang="en-US" sz="1600" b="1" dirty="0">
                <a:solidFill>
                  <a:srgbClr val="E3EBF0"/>
                </a:solidFill>
                <a:latin typeface="Calibri" pitchFamily="34" charset="0"/>
                <a:ea typeface="Calibri" pitchFamily="34" charset="-122"/>
                <a:cs typeface="Calibri" pitchFamily="34" charset="-120"/>
              </a:rPr>
              <a:t>Ingest</a:t>
            </a:r>
            <a:endParaRPr lang="en-US" sz="1600" dirty="0"/>
          </a:p>
        </p:txBody>
      </p:sp>
      <p:sp>
        <p:nvSpPr>
          <p:cNvPr id="21" name="Text 16"/>
          <p:cNvSpPr txBox="1"/>
          <p:nvPr/>
        </p:nvSpPr>
        <p:spPr>
          <a:xfrm>
            <a:off x="3875227" y="3337560"/>
            <a:ext cx="1224382" cy="868680"/>
          </a:xfrm>
          <a:prstGeom prst="rect">
            <a:avLst/>
          </a:prstGeom>
          <a:noFill/>
          <a:ln/>
        </p:spPr>
        <p:txBody>
          <a:bodyPr wrap="square" lIns="0" tIns="0" rIns="0" bIns="0" rtlCol="0" anchor="t"/>
          <a:lstStyle/>
          <a:p>
            <a:pPr algn="ctr" indent="0" marL="0">
              <a:buNone/>
            </a:pPr>
            <a:r>
              <a:rPr lang="en-US" sz="1200" dirty="0">
                <a:solidFill>
                  <a:srgbClr val="94A6B3"/>
                </a:solidFill>
                <a:latin typeface="Calibri" pitchFamily="34" charset="0"/>
                <a:ea typeface="Calibri" pitchFamily="34" charset="-122"/>
                <a:cs typeface="Calibri" pitchFamily="34" charset="-120"/>
              </a:rPr>
              <a:t>Raw record kept untouched</a:t>
            </a:r>
            <a:endParaRPr lang="en-US" sz="1200" dirty="0"/>
          </a:p>
        </p:txBody>
      </p:sp>
      <p:sp>
        <p:nvSpPr>
          <p:cNvPr id="22" name="Shape 17"/>
          <p:cNvSpPr/>
          <p:nvPr/>
        </p:nvSpPr>
        <p:spPr>
          <a:xfrm>
            <a:off x="5373929" y="1965960"/>
            <a:ext cx="1443838" cy="2331720"/>
          </a:xfrm>
          <a:prstGeom prst="roundRect">
            <a:avLst>
              <a:gd name="adj" fmla="val 5066"/>
            </a:avLst>
          </a:prstGeom>
          <a:solidFill>
            <a:srgbClr val="16212A"/>
          </a:solidFill>
          <a:ln w="9525">
            <a:solidFill>
              <a:srgbClr val="2A3A46"/>
            </a:solidFill>
            <a:prstDash val="solid"/>
          </a:ln>
        </p:spPr>
      </p:sp>
      <p:sp>
        <p:nvSpPr>
          <p:cNvPr id="23" name="Shape 18"/>
          <p:cNvSpPr/>
          <p:nvPr/>
        </p:nvSpPr>
        <p:spPr>
          <a:xfrm>
            <a:off x="5794096" y="2194560"/>
            <a:ext cx="603504" cy="603504"/>
          </a:xfrm>
          <a:prstGeom prst="ellipse">
            <a:avLst/>
          </a:prstGeom>
          <a:solidFill>
            <a:srgbClr val="1C2A35"/>
          </a:solidFill>
          <a:ln w="9525">
            <a:solidFill>
              <a:srgbClr val="2A3A46"/>
            </a:solidFill>
            <a:prstDash val="solid"/>
          </a:ln>
        </p:spPr>
      </p:sp>
      <p:pic>
        <p:nvPicPr>
          <p:cNvPr id="24" name="Image 3" descr="preencoded.png">    </p:cNvPr>
          <p:cNvPicPr>
            <a:picLocks noChangeAspect="1"/>
          </p:cNvPicPr>
          <p:nvPr/>
        </p:nvPicPr>
        <p:blipFill>
          <a:blip r:embed="rId4"/>
          <a:stretch>
            <a:fillRect/>
          </a:stretch>
        </p:blipFill>
        <p:spPr>
          <a:xfrm>
            <a:off x="5926866" y="2327331"/>
            <a:ext cx="337962" cy="337962"/>
          </a:xfrm>
          <a:prstGeom prst="rect">
            <a:avLst/>
          </a:prstGeom>
        </p:spPr>
      </p:pic>
      <p:sp>
        <p:nvSpPr>
          <p:cNvPr id="25" name="Text 19"/>
          <p:cNvSpPr txBox="1"/>
          <p:nvPr/>
        </p:nvSpPr>
        <p:spPr>
          <a:xfrm>
            <a:off x="5483657" y="2057400"/>
            <a:ext cx="365760" cy="274320"/>
          </a:xfrm>
          <a:prstGeom prst="rect">
            <a:avLst/>
          </a:prstGeom>
          <a:noFill/>
          <a:ln/>
        </p:spPr>
        <p:txBody>
          <a:bodyPr wrap="square" lIns="0" tIns="0" rIns="0" bIns="0" rtlCol="0" anchor="t"/>
          <a:lstStyle/>
          <a:p>
            <a:pPr indent="0" marL="0">
              <a:buNone/>
            </a:pPr>
            <a:r>
              <a:rPr lang="en-US" sz="1100" dirty="0">
                <a:solidFill>
                  <a:srgbClr val="6B7D89"/>
                </a:solidFill>
                <a:latin typeface="Consolas" pitchFamily="34" charset="0"/>
                <a:ea typeface="Consolas" pitchFamily="34" charset="-122"/>
                <a:cs typeface="Consolas" pitchFamily="34" charset="-120"/>
              </a:rPr>
              <a:t>4</a:t>
            </a:r>
            <a:endParaRPr lang="en-US" sz="1100" dirty="0"/>
          </a:p>
        </p:txBody>
      </p:sp>
      <p:sp>
        <p:nvSpPr>
          <p:cNvPr id="26" name="Text 20"/>
          <p:cNvSpPr txBox="1"/>
          <p:nvPr/>
        </p:nvSpPr>
        <p:spPr>
          <a:xfrm>
            <a:off x="5465369" y="2926080"/>
            <a:ext cx="1260958" cy="365760"/>
          </a:xfrm>
          <a:prstGeom prst="rect">
            <a:avLst/>
          </a:prstGeom>
          <a:noFill/>
          <a:ln/>
        </p:spPr>
        <p:txBody>
          <a:bodyPr wrap="square" lIns="0" tIns="0" rIns="0" bIns="0" rtlCol="0" anchor="t"/>
          <a:lstStyle/>
          <a:p>
            <a:pPr algn="ctr" indent="0" marL="0">
              <a:buNone/>
            </a:pPr>
            <a:r>
              <a:rPr lang="en-US" sz="1600" b="1" dirty="0">
                <a:solidFill>
                  <a:srgbClr val="E3EBF0"/>
                </a:solidFill>
                <a:latin typeface="Calibri" pitchFamily="34" charset="0"/>
                <a:ea typeface="Calibri" pitchFamily="34" charset="-122"/>
                <a:cs typeface="Calibri" pitchFamily="34" charset="-120"/>
              </a:rPr>
              <a:t>Normalize</a:t>
            </a:r>
            <a:endParaRPr lang="en-US" sz="1600" dirty="0"/>
          </a:p>
        </p:txBody>
      </p:sp>
      <p:sp>
        <p:nvSpPr>
          <p:cNvPr id="27" name="Text 21"/>
          <p:cNvSpPr txBox="1"/>
          <p:nvPr/>
        </p:nvSpPr>
        <p:spPr>
          <a:xfrm>
            <a:off x="5483657" y="3337560"/>
            <a:ext cx="1224382" cy="868680"/>
          </a:xfrm>
          <a:prstGeom prst="rect">
            <a:avLst/>
          </a:prstGeom>
          <a:noFill/>
          <a:ln/>
        </p:spPr>
        <p:txBody>
          <a:bodyPr wrap="square" lIns="0" tIns="0" rIns="0" bIns="0" rtlCol="0" anchor="t"/>
          <a:lstStyle/>
          <a:p>
            <a:pPr algn="ctr" indent="0" marL="0">
              <a:buNone/>
            </a:pPr>
            <a:r>
              <a:rPr lang="en-US" sz="1200" dirty="0">
                <a:solidFill>
                  <a:srgbClr val="94A6B3"/>
                </a:solidFill>
                <a:latin typeface="Calibri" pitchFamily="34" charset="0"/>
                <a:ea typeface="Calibri" pitchFamily="34" charset="-122"/>
                <a:cs typeface="Calibri" pitchFamily="34" charset="-120"/>
              </a:rPr>
              <a:t>One common format, nothing guessed</a:t>
            </a:r>
            <a:endParaRPr lang="en-US" sz="1200" dirty="0"/>
          </a:p>
        </p:txBody>
      </p:sp>
      <p:sp>
        <p:nvSpPr>
          <p:cNvPr id="28" name="Shape 22"/>
          <p:cNvSpPr/>
          <p:nvPr/>
        </p:nvSpPr>
        <p:spPr>
          <a:xfrm>
            <a:off x="6982358" y="1965960"/>
            <a:ext cx="1443838" cy="2331720"/>
          </a:xfrm>
          <a:prstGeom prst="roundRect">
            <a:avLst>
              <a:gd name="adj" fmla="val 5066"/>
            </a:avLst>
          </a:prstGeom>
          <a:solidFill>
            <a:srgbClr val="1C2A35"/>
          </a:solidFill>
          <a:ln w="9525">
            <a:solidFill>
              <a:srgbClr val="2A3A46"/>
            </a:solidFill>
            <a:prstDash val="solid"/>
          </a:ln>
        </p:spPr>
      </p:sp>
      <p:sp>
        <p:nvSpPr>
          <p:cNvPr id="29" name="Shape 23"/>
          <p:cNvSpPr/>
          <p:nvPr/>
        </p:nvSpPr>
        <p:spPr>
          <a:xfrm>
            <a:off x="7402525" y="2194560"/>
            <a:ext cx="603504" cy="603504"/>
          </a:xfrm>
          <a:prstGeom prst="ellipse">
            <a:avLst/>
          </a:prstGeom>
          <a:solidFill>
            <a:srgbClr val="1C2A35"/>
          </a:solidFill>
          <a:ln w="9525">
            <a:solidFill>
              <a:srgbClr val="2A3A46"/>
            </a:solidFill>
            <a:prstDash val="solid"/>
          </a:ln>
        </p:spPr>
      </p:sp>
      <p:pic>
        <p:nvPicPr>
          <p:cNvPr id="30" name="Image 4" descr="preencoded.png">    </p:cNvPr>
          <p:cNvPicPr>
            <a:picLocks noChangeAspect="1"/>
          </p:cNvPicPr>
          <p:nvPr/>
        </p:nvPicPr>
        <p:blipFill>
          <a:blip r:embed="rId5"/>
          <a:stretch>
            <a:fillRect/>
          </a:stretch>
        </p:blipFill>
        <p:spPr>
          <a:xfrm>
            <a:off x="7535296" y="2327331"/>
            <a:ext cx="337962" cy="337962"/>
          </a:xfrm>
          <a:prstGeom prst="rect">
            <a:avLst/>
          </a:prstGeom>
        </p:spPr>
      </p:pic>
      <p:sp>
        <p:nvSpPr>
          <p:cNvPr id="31" name="Text 24"/>
          <p:cNvSpPr txBox="1"/>
          <p:nvPr/>
        </p:nvSpPr>
        <p:spPr>
          <a:xfrm>
            <a:off x="7092086" y="2057400"/>
            <a:ext cx="365760" cy="274320"/>
          </a:xfrm>
          <a:prstGeom prst="rect">
            <a:avLst/>
          </a:prstGeom>
          <a:noFill/>
          <a:ln/>
        </p:spPr>
        <p:txBody>
          <a:bodyPr wrap="square" lIns="0" tIns="0" rIns="0" bIns="0" rtlCol="0" anchor="t"/>
          <a:lstStyle/>
          <a:p>
            <a:pPr indent="0" marL="0">
              <a:buNone/>
            </a:pPr>
            <a:r>
              <a:rPr lang="en-US" sz="1100" dirty="0">
                <a:solidFill>
                  <a:srgbClr val="6B7D89"/>
                </a:solidFill>
                <a:latin typeface="Consolas" pitchFamily="34" charset="0"/>
                <a:ea typeface="Consolas" pitchFamily="34" charset="-122"/>
                <a:cs typeface="Consolas" pitchFamily="34" charset="-120"/>
              </a:rPr>
              <a:t>5</a:t>
            </a:r>
            <a:endParaRPr lang="en-US" sz="1100" dirty="0"/>
          </a:p>
        </p:txBody>
      </p:sp>
      <p:sp>
        <p:nvSpPr>
          <p:cNvPr id="32" name="Text 25"/>
          <p:cNvSpPr txBox="1"/>
          <p:nvPr/>
        </p:nvSpPr>
        <p:spPr>
          <a:xfrm>
            <a:off x="7073798" y="2926080"/>
            <a:ext cx="1260958" cy="365760"/>
          </a:xfrm>
          <a:prstGeom prst="rect">
            <a:avLst/>
          </a:prstGeom>
          <a:noFill/>
          <a:ln/>
        </p:spPr>
        <p:txBody>
          <a:bodyPr wrap="square" lIns="0" tIns="0" rIns="0" bIns="0" rtlCol="0" anchor="t"/>
          <a:lstStyle/>
          <a:p>
            <a:pPr algn="ctr" indent="0" marL="0">
              <a:buNone/>
            </a:pPr>
            <a:r>
              <a:rPr lang="en-US" sz="1600" b="1" dirty="0">
                <a:solidFill>
                  <a:srgbClr val="E3EBF0"/>
                </a:solidFill>
                <a:latin typeface="Calibri" pitchFamily="34" charset="0"/>
                <a:ea typeface="Calibri" pitchFamily="34" charset="-122"/>
                <a:cs typeface="Calibri" pitchFamily="34" charset="-120"/>
              </a:rPr>
              <a:t>Correlate</a:t>
            </a:r>
            <a:endParaRPr lang="en-US" sz="1600" dirty="0"/>
          </a:p>
        </p:txBody>
      </p:sp>
      <p:sp>
        <p:nvSpPr>
          <p:cNvPr id="33" name="Text 26"/>
          <p:cNvSpPr txBox="1"/>
          <p:nvPr/>
        </p:nvSpPr>
        <p:spPr>
          <a:xfrm>
            <a:off x="7092086" y="3337560"/>
            <a:ext cx="1224382" cy="868680"/>
          </a:xfrm>
          <a:prstGeom prst="rect">
            <a:avLst/>
          </a:prstGeom>
          <a:noFill/>
          <a:ln/>
        </p:spPr>
        <p:txBody>
          <a:bodyPr wrap="square" lIns="0" tIns="0" rIns="0" bIns="0" rtlCol="0" anchor="t"/>
          <a:lstStyle/>
          <a:p>
            <a:pPr algn="ctr" indent="0" marL="0">
              <a:buNone/>
            </a:pPr>
            <a:r>
              <a:rPr lang="en-US" sz="1200" dirty="0">
                <a:solidFill>
                  <a:srgbClr val="94A6B3"/>
                </a:solidFill>
                <a:latin typeface="Calibri" pitchFamily="34" charset="0"/>
                <a:ea typeface="Calibri" pitchFamily="34" charset="-122"/>
                <a:cs typeface="Calibri" pitchFamily="34" charset="-120"/>
              </a:rPr>
              <a:t>Same user, device, file and time window</a:t>
            </a:r>
            <a:endParaRPr lang="en-US" sz="1200" dirty="0"/>
          </a:p>
        </p:txBody>
      </p:sp>
      <p:sp>
        <p:nvSpPr>
          <p:cNvPr id="34" name="Shape 27"/>
          <p:cNvSpPr/>
          <p:nvPr/>
        </p:nvSpPr>
        <p:spPr>
          <a:xfrm>
            <a:off x="8590788" y="1965960"/>
            <a:ext cx="1443838" cy="2331720"/>
          </a:xfrm>
          <a:prstGeom prst="roundRect">
            <a:avLst>
              <a:gd name="adj" fmla="val 5066"/>
            </a:avLst>
          </a:prstGeom>
          <a:solidFill>
            <a:srgbClr val="16212A"/>
          </a:solidFill>
          <a:ln w="9525">
            <a:solidFill>
              <a:srgbClr val="2A3A46"/>
            </a:solidFill>
            <a:prstDash val="solid"/>
          </a:ln>
        </p:spPr>
      </p:sp>
      <p:sp>
        <p:nvSpPr>
          <p:cNvPr id="35" name="Shape 28"/>
          <p:cNvSpPr/>
          <p:nvPr/>
        </p:nvSpPr>
        <p:spPr>
          <a:xfrm>
            <a:off x="9010955" y="2194560"/>
            <a:ext cx="603504" cy="603504"/>
          </a:xfrm>
          <a:prstGeom prst="ellipse">
            <a:avLst/>
          </a:prstGeom>
          <a:solidFill>
            <a:srgbClr val="1C2A35"/>
          </a:solidFill>
          <a:ln w="9525">
            <a:solidFill>
              <a:srgbClr val="2A3A46"/>
            </a:solidFill>
            <a:prstDash val="solid"/>
          </a:ln>
        </p:spPr>
      </p:sp>
      <p:pic>
        <p:nvPicPr>
          <p:cNvPr id="36" name="Image 5" descr="preencoded.png">    </p:cNvPr>
          <p:cNvPicPr>
            <a:picLocks noChangeAspect="1"/>
          </p:cNvPicPr>
          <p:nvPr/>
        </p:nvPicPr>
        <p:blipFill>
          <a:blip r:embed="rId6"/>
          <a:stretch>
            <a:fillRect/>
          </a:stretch>
        </p:blipFill>
        <p:spPr>
          <a:xfrm>
            <a:off x="9143726" y="2327331"/>
            <a:ext cx="337962" cy="337962"/>
          </a:xfrm>
          <a:prstGeom prst="rect">
            <a:avLst/>
          </a:prstGeom>
        </p:spPr>
      </p:pic>
      <p:sp>
        <p:nvSpPr>
          <p:cNvPr id="37" name="Text 29"/>
          <p:cNvSpPr txBox="1"/>
          <p:nvPr/>
        </p:nvSpPr>
        <p:spPr>
          <a:xfrm>
            <a:off x="8700516" y="2057400"/>
            <a:ext cx="365760" cy="274320"/>
          </a:xfrm>
          <a:prstGeom prst="rect">
            <a:avLst/>
          </a:prstGeom>
          <a:noFill/>
          <a:ln/>
        </p:spPr>
        <p:txBody>
          <a:bodyPr wrap="square" lIns="0" tIns="0" rIns="0" bIns="0" rtlCol="0" anchor="t"/>
          <a:lstStyle/>
          <a:p>
            <a:pPr indent="0" marL="0">
              <a:buNone/>
            </a:pPr>
            <a:r>
              <a:rPr lang="en-US" sz="1100" dirty="0">
                <a:solidFill>
                  <a:srgbClr val="6B7D89"/>
                </a:solidFill>
                <a:latin typeface="Consolas" pitchFamily="34" charset="0"/>
                <a:ea typeface="Consolas" pitchFamily="34" charset="-122"/>
                <a:cs typeface="Consolas" pitchFamily="34" charset="-120"/>
              </a:rPr>
              <a:t>6</a:t>
            </a:r>
            <a:endParaRPr lang="en-US" sz="1100" dirty="0"/>
          </a:p>
        </p:txBody>
      </p:sp>
      <p:sp>
        <p:nvSpPr>
          <p:cNvPr id="38" name="Text 30"/>
          <p:cNvSpPr txBox="1"/>
          <p:nvPr/>
        </p:nvSpPr>
        <p:spPr>
          <a:xfrm>
            <a:off x="8682228" y="2926080"/>
            <a:ext cx="1260958" cy="365760"/>
          </a:xfrm>
          <a:prstGeom prst="rect">
            <a:avLst/>
          </a:prstGeom>
          <a:noFill/>
          <a:ln/>
        </p:spPr>
        <p:txBody>
          <a:bodyPr wrap="square" lIns="0" tIns="0" rIns="0" bIns="0" rtlCol="0" anchor="t"/>
          <a:lstStyle/>
          <a:p>
            <a:pPr algn="ctr" indent="0" marL="0">
              <a:buNone/>
            </a:pPr>
            <a:r>
              <a:rPr lang="en-US" sz="1600" b="1" dirty="0">
                <a:solidFill>
                  <a:srgbClr val="E3EBF0"/>
                </a:solidFill>
                <a:latin typeface="Calibri" pitchFamily="34" charset="0"/>
                <a:ea typeface="Calibri" pitchFamily="34" charset="-122"/>
                <a:cs typeface="Calibri" pitchFamily="34" charset="-120"/>
              </a:rPr>
              <a:t>Assess</a:t>
            </a:r>
            <a:endParaRPr lang="en-US" sz="1600" dirty="0"/>
          </a:p>
        </p:txBody>
      </p:sp>
      <p:sp>
        <p:nvSpPr>
          <p:cNvPr id="39" name="Text 31"/>
          <p:cNvSpPr txBox="1"/>
          <p:nvPr/>
        </p:nvSpPr>
        <p:spPr>
          <a:xfrm>
            <a:off x="8700516" y="3337560"/>
            <a:ext cx="1224382" cy="868680"/>
          </a:xfrm>
          <a:prstGeom prst="rect">
            <a:avLst/>
          </a:prstGeom>
          <a:noFill/>
          <a:ln/>
        </p:spPr>
        <p:txBody>
          <a:bodyPr wrap="square" lIns="0" tIns="0" rIns="0" bIns="0" rtlCol="0" anchor="t"/>
          <a:lstStyle/>
          <a:p>
            <a:pPr algn="ctr" indent="0" marL="0">
              <a:buNone/>
            </a:pPr>
            <a:r>
              <a:rPr lang="en-US" sz="1200" dirty="0">
                <a:solidFill>
                  <a:srgbClr val="94A6B3"/>
                </a:solidFill>
                <a:latin typeface="Calibri" pitchFamily="34" charset="0"/>
                <a:ea typeface="Calibri" pitchFamily="34" charset="-122"/>
                <a:cs typeface="Calibri" pitchFamily="34" charset="-120"/>
              </a:rPr>
              <a:t>Four hypotheses with limits</a:t>
            </a:r>
            <a:endParaRPr lang="en-US" sz="1200" dirty="0"/>
          </a:p>
        </p:txBody>
      </p:sp>
      <p:sp>
        <p:nvSpPr>
          <p:cNvPr id="40" name="Shape 32"/>
          <p:cNvSpPr/>
          <p:nvPr/>
        </p:nvSpPr>
        <p:spPr>
          <a:xfrm>
            <a:off x="10199218" y="1965960"/>
            <a:ext cx="1443838" cy="2331720"/>
          </a:xfrm>
          <a:prstGeom prst="roundRect">
            <a:avLst>
              <a:gd name="adj" fmla="val 5066"/>
            </a:avLst>
          </a:prstGeom>
          <a:solidFill>
            <a:srgbClr val="16212A"/>
          </a:solidFill>
          <a:ln w="9525">
            <a:solidFill>
              <a:srgbClr val="2A3A46"/>
            </a:solidFill>
            <a:prstDash val="solid"/>
          </a:ln>
        </p:spPr>
      </p:sp>
      <p:sp>
        <p:nvSpPr>
          <p:cNvPr id="41" name="Shape 33"/>
          <p:cNvSpPr/>
          <p:nvPr/>
        </p:nvSpPr>
        <p:spPr>
          <a:xfrm>
            <a:off x="10619384" y="2194560"/>
            <a:ext cx="603504" cy="603504"/>
          </a:xfrm>
          <a:prstGeom prst="ellipse">
            <a:avLst/>
          </a:prstGeom>
          <a:solidFill>
            <a:srgbClr val="1C2A35"/>
          </a:solidFill>
          <a:ln w="9525">
            <a:solidFill>
              <a:srgbClr val="2A3A46"/>
            </a:solidFill>
            <a:prstDash val="solid"/>
          </a:ln>
        </p:spPr>
      </p:sp>
      <p:pic>
        <p:nvPicPr>
          <p:cNvPr id="42" name="Image 6" descr="preencoded.png">    </p:cNvPr>
          <p:cNvPicPr>
            <a:picLocks noChangeAspect="1"/>
          </p:cNvPicPr>
          <p:nvPr/>
        </p:nvPicPr>
        <p:blipFill>
          <a:blip r:embed="rId7"/>
          <a:stretch>
            <a:fillRect/>
          </a:stretch>
        </p:blipFill>
        <p:spPr>
          <a:xfrm>
            <a:off x="10752155" y="2327331"/>
            <a:ext cx="337962" cy="337962"/>
          </a:xfrm>
          <a:prstGeom prst="rect">
            <a:avLst/>
          </a:prstGeom>
        </p:spPr>
      </p:pic>
      <p:sp>
        <p:nvSpPr>
          <p:cNvPr id="43" name="Text 34"/>
          <p:cNvSpPr txBox="1"/>
          <p:nvPr/>
        </p:nvSpPr>
        <p:spPr>
          <a:xfrm>
            <a:off x="10308946" y="2057400"/>
            <a:ext cx="365760" cy="274320"/>
          </a:xfrm>
          <a:prstGeom prst="rect">
            <a:avLst/>
          </a:prstGeom>
          <a:noFill/>
          <a:ln/>
        </p:spPr>
        <p:txBody>
          <a:bodyPr wrap="square" lIns="0" tIns="0" rIns="0" bIns="0" rtlCol="0" anchor="t"/>
          <a:lstStyle/>
          <a:p>
            <a:pPr indent="0" marL="0">
              <a:buNone/>
            </a:pPr>
            <a:r>
              <a:rPr lang="en-US" sz="1100" dirty="0">
                <a:solidFill>
                  <a:srgbClr val="6B7D89"/>
                </a:solidFill>
                <a:latin typeface="Consolas" pitchFamily="34" charset="0"/>
                <a:ea typeface="Consolas" pitchFamily="34" charset="-122"/>
                <a:cs typeface="Consolas" pitchFamily="34" charset="-120"/>
              </a:rPr>
              <a:t>7</a:t>
            </a:r>
            <a:endParaRPr lang="en-US" sz="1100" dirty="0"/>
          </a:p>
        </p:txBody>
      </p:sp>
      <p:sp>
        <p:nvSpPr>
          <p:cNvPr id="44" name="Text 35"/>
          <p:cNvSpPr txBox="1"/>
          <p:nvPr/>
        </p:nvSpPr>
        <p:spPr>
          <a:xfrm>
            <a:off x="10290658" y="2926080"/>
            <a:ext cx="1260958" cy="365760"/>
          </a:xfrm>
          <a:prstGeom prst="rect">
            <a:avLst/>
          </a:prstGeom>
          <a:noFill/>
          <a:ln/>
        </p:spPr>
        <p:txBody>
          <a:bodyPr wrap="square" lIns="0" tIns="0" rIns="0" bIns="0" rtlCol="0" anchor="t"/>
          <a:lstStyle/>
          <a:p>
            <a:pPr algn="ctr" indent="0" marL="0">
              <a:buNone/>
            </a:pPr>
            <a:r>
              <a:rPr lang="en-US" sz="1600" b="1" dirty="0">
                <a:solidFill>
                  <a:srgbClr val="E3EBF0"/>
                </a:solidFill>
                <a:latin typeface="Calibri" pitchFamily="34" charset="0"/>
                <a:ea typeface="Calibri" pitchFamily="34" charset="-122"/>
                <a:cs typeface="Calibri" pitchFamily="34" charset="-120"/>
              </a:rPr>
              <a:t>Present</a:t>
            </a:r>
            <a:endParaRPr lang="en-US" sz="1600" dirty="0"/>
          </a:p>
        </p:txBody>
      </p:sp>
      <p:sp>
        <p:nvSpPr>
          <p:cNvPr id="45" name="Text 36"/>
          <p:cNvSpPr txBox="1"/>
          <p:nvPr/>
        </p:nvSpPr>
        <p:spPr>
          <a:xfrm>
            <a:off x="10308946" y="3337560"/>
            <a:ext cx="1224382" cy="868680"/>
          </a:xfrm>
          <a:prstGeom prst="rect">
            <a:avLst/>
          </a:prstGeom>
          <a:noFill/>
          <a:ln/>
        </p:spPr>
        <p:txBody>
          <a:bodyPr wrap="square" lIns="0" tIns="0" rIns="0" bIns="0" rtlCol="0" anchor="t"/>
          <a:lstStyle/>
          <a:p>
            <a:pPr algn="ctr" indent="0" marL="0">
              <a:buNone/>
            </a:pPr>
            <a:r>
              <a:rPr lang="en-US" sz="1200" dirty="0">
                <a:solidFill>
                  <a:srgbClr val="94A6B3"/>
                </a:solidFill>
                <a:latin typeface="Calibri" pitchFamily="34" charset="0"/>
                <a:ea typeface="Calibri" pitchFamily="34" charset="-122"/>
                <a:cs typeface="Calibri" pitchFamily="34" charset="-120"/>
              </a:rPr>
              <a:t>Dashboard, PDF, HTML, CSV</a:t>
            </a:r>
            <a:endParaRPr lang="en-US" sz="1200" dirty="0"/>
          </a:p>
        </p:txBody>
      </p:sp>
      <p:sp>
        <p:nvSpPr>
          <p:cNvPr id="46" name="Text 37"/>
          <p:cNvSpPr txBox="1"/>
          <p:nvPr/>
        </p:nvSpPr>
        <p:spPr>
          <a:xfrm>
            <a:off x="548640" y="4754880"/>
            <a:ext cx="2743200" cy="274320"/>
          </a:xfrm>
          <a:prstGeom prst="rect">
            <a:avLst/>
          </a:prstGeom>
          <a:noFill/>
          <a:ln/>
        </p:spPr>
        <p:txBody>
          <a:bodyPr wrap="square" lIns="0" tIns="0" rIns="0" bIns="0" rtlCol="0" anchor="t"/>
          <a:lstStyle/>
          <a:p>
            <a:pPr indent="0" marL="0">
              <a:buNone/>
            </a:pPr>
            <a:r>
              <a:rPr lang="en-US" sz="1100" spc="300" kern="0" dirty="0">
                <a:solidFill>
                  <a:srgbClr val="6B7D89"/>
                </a:solidFill>
                <a:latin typeface="Consolas" pitchFamily="34" charset="0"/>
                <a:ea typeface="Consolas" pitchFamily="34" charset="-122"/>
                <a:cs typeface="Consolas" pitchFamily="34" charset="-120"/>
              </a:rPr>
              <a:t>BUILT WITH</a:t>
            </a:r>
            <a:endParaRPr lang="en-US" sz="1100" dirty="0"/>
          </a:p>
        </p:txBody>
      </p:sp>
      <p:sp>
        <p:nvSpPr>
          <p:cNvPr id="47" name="Shape 38"/>
          <p:cNvSpPr/>
          <p:nvPr/>
        </p:nvSpPr>
        <p:spPr>
          <a:xfrm>
            <a:off x="548640" y="5120640"/>
            <a:ext cx="923544" cy="274320"/>
          </a:xfrm>
          <a:prstGeom prst="roundRect">
            <a:avLst>
              <a:gd name="adj" fmla="val 16667"/>
            </a:avLst>
          </a:prstGeom>
          <a:solidFill>
            <a:srgbClr val="E3EBF0">
              <a:alpha val="18000"/>
            </a:srgbClr>
          </a:solidFill>
          <a:ln w="9525">
            <a:solidFill>
              <a:srgbClr val="E3EBF0"/>
            </a:solidFill>
            <a:prstDash val="solid"/>
          </a:ln>
        </p:spPr>
      </p:sp>
      <p:sp>
        <p:nvSpPr>
          <p:cNvPr id="48" name="Text 39"/>
          <p:cNvSpPr txBox="1"/>
          <p:nvPr/>
        </p:nvSpPr>
        <p:spPr>
          <a:xfrm>
            <a:off x="548640" y="5120640"/>
            <a:ext cx="923544" cy="274320"/>
          </a:xfrm>
          <a:prstGeom prst="rect">
            <a:avLst/>
          </a:prstGeom>
          <a:noFill/>
          <a:ln/>
        </p:spPr>
        <p:txBody>
          <a:bodyPr wrap="square" lIns="0" tIns="0" rIns="0" bIns="0" rtlCol="0" anchor="ctr"/>
          <a:lstStyle/>
          <a:p>
            <a:pPr algn="ctr" indent="0" marL="0">
              <a:buNone/>
            </a:pPr>
            <a:r>
              <a:rPr lang="en-US" sz="1000" dirty="0">
                <a:solidFill>
                  <a:srgbClr val="E3EBF0"/>
                </a:solidFill>
                <a:latin typeface="Consolas" pitchFamily="34" charset="0"/>
                <a:ea typeface="Consolas" pitchFamily="34" charset="-122"/>
                <a:cs typeface="Consolas" pitchFamily="34" charset="-120"/>
              </a:rPr>
              <a:t>PowerShell</a:t>
            </a:r>
            <a:endParaRPr lang="en-US" sz="1000" dirty="0"/>
          </a:p>
        </p:txBody>
      </p:sp>
      <p:sp>
        <p:nvSpPr>
          <p:cNvPr id="49" name="Shape 40"/>
          <p:cNvSpPr/>
          <p:nvPr/>
        </p:nvSpPr>
        <p:spPr>
          <a:xfrm>
            <a:off x="1655064" y="5120640"/>
            <a:ext cx="612648" cy="274320"/>
          </a:xfrm>
          <a:prstGeom prst="roundRect">
            <a:avLst>
              <a:gd name="adj" fmla="val 16667"/>
            </a:avLst>
          </a:prstGeom>
          <a:solidFill>
            <a:srgbClr val="E3EBF0">
              <a:alpha val="18000"/>
            </a:srgbClr>
          </a:solidFill>
          <a:ln w="9525">
            <a:solidFill>
              <a:srgbClr val="E3EBF0"/>
            </a:solidFill>
            <a:prstDash val="solid"/>
          </a:ln>
        </p:spPr>
      </p:sp>
      <p:sp>
        <p:nvSpPr>
          <p:cNvPr id="50" name="Text 41"/>
          <p:cNvSpPr txBox="1"/>
          <p:nvPr/>
        </p:nvSpPr>
        <p:spPr>
          <a:xfrm>
            <a:off x="1655064" y="5120640"/>
            <a:ext cx="612648" cy="274320"/>
          </a:xfrm>
          <a:prstGeom prst="rect">
            <a:avLst/>
          </a:prstGeom>
          <a:noFill/>
          <a:ln/>
        </p:spPr>
        <p:txBody>
          <a:bodyPr wrap="square" lIns="0" tIns="0" rIns="0" bIns="0" rtlCol="0" anchor="ctr"/>
          <a:lstStyle/>
          <a:p>
            <a:pPr algn="ctr" indent="0" marL="0">
              <a:buNone/>
            </a:pPr>
            <a:r>
              <a:rPr lang="en-US" sz="1000" dirty="0">
                <a:solidFill>
                  <a:srgbClr val="E3EBF0"/>
                </a:solidFill>
                <a:latin typeface="Consolas" pitchFamily="34" charset="0"/>
                <a:ea typeface="Consolas" pitchFamily="34" charset="-122"/>
                <a:cs typeface="Consolas" pitchFamily="34" charset="-120"/>
              </a:rPr>
              <a:t>Python</a:t>
            </a:r>
            <a:endParaRPr lang="en-US" sz="1000" dirty="0"/>
          </a:p>
        </p:txBody>
      </p:sp>
      <p:sp>
        <p:nvSpPr>
          <p:cNvPr id="51" name="Shape 42"/>
          <p:cNvSpPr/>
          <p:nvPr/>
        </p:nvSpPr>
        <p:spPr>
          <a:xfrm>
            <a:off x="2450592" y="5120640"/>
            <a:ext cx="612648" cy="274320"/>
          </a:xfrm>
          <a:prstGeom prst="roundRect">
            <a:avLst>
              <a:gd name="adj" fmla="val 16667"/>
            </a:avLst>
          </a:prstGeom>
          <a:solidFill>
            <a:srgbClr val="E3EBF0">
              <a:alpha val="18000"/>
            </a:srgbClr>
          </a:solidFill>
          <a:ln w="9525">
            <a:solidFill>
              <a:srgbClr val="E3EBF0"/>
            </a:solidFill>
            <a:prstDash val="solid"/>
          </a:ln>
        </p:spPr>
      </p:sp>
      <p:sp>
        <p:nvSpPr>
          <p:cNvPr id="52" name="Text 43"/>
          <p:cNvSpPr txBox="1"/>
          <p:nvPr/>
        </p:nvSpPr>
        <p:spPr>
          <a:xfrm>
            <a:off x="2450592" y="5120640"/>
            <a:ext cx="612648" cy="274320"/>
          </a:xfrm>
          <a:prstGeom prst="rect">
            <a:avLst/>
          </a:prstGeom>
          <a:noFill/>
          <a:ln/>
        </p:spPr>
        <p:txBody>
          <a:bodyPr wrap="square" lIns="0" tIns="0" rIns="0" bIns="0" rtlCol="0" anchor="ctr"/>
          <a:lstStyle/>
          <a:p>
            <a:pPr algn="ctr" indent="0" marL="0">
              <a:buNone/>
            </a:pPr>
            <a:r>
              <a:rPr lang="en-US" sz="1000" dirty="0">
                <a:solidFill>
                  <a:srgbClr val="E3EBF0"/>
                </a:solidFill>
                <a:latin typeface="Consolas" pitchFamily="34" charset="0"/>
                <a:ea typeface="Consolas" pitchFamily="34" charset="-122"/>
                <a:cs typeface="Consolas" pitchFamily="34" charset="-120"/>
              </a:rPr>
              <a:t>SQLite</a:t>
            </a:r>
            <a:endParaRPr lang="en-US" sz="1000" dirty="0"/>
          </a:p>
        </p:txBody>
      </p:sp>
      <p:sp>
        <p:nvSpPr>
          <p:cNvPr id="53" name="Shape 44"/>
          <p:cNvSpPr/>
          <p:nvPr/>
        </p:nvSpPr>
        <p:spPr>
          <a:xfrm>
            <a:off x="3246120" y="5120640"/>
            <a:ext cx="845820" cy="274320"/>
          </a:xfrm>
          <a:prstGeom prst="roundRect">
            <a:avLst>
              <a:gd name="adj" fmla="val 16667"/>
            </a:avLst>
          </a:prstGeom>
          <a:solidFill>
            <a:srgbClr val="E3EBF0">
              <a:alpha val="18000"/>
            </a:srgbClr>
          </a:solidFill>
          <a:ln w="9525">
            <a:solidFill>
              <a:srgbClr val="E3EBF0"/>
            </a:solidFill>
            <a:prstDash val="solid"/>
          </a:ln>
        </p:spPr>
      </p:sp>
      <p:sp>
        <p:nvSpPr>
          <p:cNvPr id="54" name="Text 45"/>
          <p:cNvSpPr txBox="1"/>
          <p:nvPr/>
        </p:nvSpPr>
        <p:spPr>
          <a:xfrm>
            <a:off x="3246120" y="5120640"/>
            <a:ext cx="845820" cy="274320"/>
          </a:xfrm>
          <a:prstGeom prst="rect">
            <a:avLst/>
          </a:prstGeom>
          <a:noFill/>
          <a:ln/>
        </p:spPr>
        <p:txBody>
          <a:bodyPr wrap="square" lIns="0" tIns="0" rIns="0" bIns="0" rtlCol="0" anchor="ctr"/>
          <a:lstStyle/>
          <a:p>
            <a:pPr algn="ctr" indent="0" marL="0">
              <a:buNone/>
            </a:pPr>
            <a:r>
              <a:rPr lang="en-US" sz="1000" dirty="0">
                <a:solidFill>
                  <a:srgbClr val="E3EBF0"/>
                </a:solidFill>
                <a:latin typeface="Consolas" pitchFamily="34" charset="0"/>
                <a:ea typeface="Consolas" pitchFamily="34" charset="-122"/>
                <a:cs typeface="Consolas" pitchFamily="34" charset="-120"/>
              </a:rPr>
              <a:t>Flask API</a:t>
            </a:r>
            <a:endParaRPr lang="en-US" sz="1000" dirty="0"/>
          </a:p>
        </p:txBody>
      </p:sp>
      <p:sp>
        <p:nvSpPr>
          <p:cNvPr id="55" name="Shape 46"/>
          <p:cNvSpPr/>
          <p:nvPr/>
        </p:nvSpPr>
        <p:spPr>
          <a:xfrm>
            <a:off x="4274820" y="5120640"/>
            <a:ext cx="1078992" cy="274320"/>
          </a:xfrm>
          <a:prstGeom prst="roundRect">
            <a:avLst>
              <a:gd name="adj" fmla="val 16667"/>
            </a:avLst>
          </a:prstGeom>
          <a:solidFill>
            <a:srgbClr val="E3EBF0">
              <a:alpha val="18000"/>
            </a:srgbClr>
          </a:solidFill>
          <a:ln w="9525">
            <a:solidFill>
              <a:srgbClr val="E3EBF0"/>
            </a:solidFill>
            <a:prstDash val="solid"/>
          </a:ln>
        </p:spPr>
      </p:sp>
      <p:sp>
        <p:nvSpPr>
          <p:cNvPr id="56" name="Text 47"/>
          <p:cNvSpPr txBox="1"/>
          <p:nvPr/>
        </p:nvSpPr>
        <p:spPr>
          <a:xfrm>
            <a:off x="4274820" y="5120640"/>
            <a:ext cx="1078992" cy="274320"/>
          </a:xfrm>
          <a:prstGeom prst="rect">
            <a:avLst/>
          </a:prstGeom>
          <a:noFill/>
          <a:ln/>
        </p:spPr>
        <p:txBody>
          <a:bodyPr wrap="square" lIns="0" tIns="0" rIns="0" bIns="0" rtlCol="0" anchor="ctr"/>
          <a:lstStyle/>
          <a:p>
            <a:pPr algn="ctr" indent="0" marL="0">
              <a:buNone/>
            </a:pPr>
            <a:r>
              <a:rPr lang="en-US" sz="1000" dirty="0">
                <a:solidFill>
                  <a:srgbClr val="E3EBF0"/>
                </a:solidFill>
                <a:latin typeface="Consolas" pitchFamily="34" charset="0"/>
                <a:ea typeface="Consolas" pitchFamily="34" charset="-122"/>
                <a:cs typeface="Consolas" pitchFamily="34" charset="-120"/>
              </a:rPr>
              <a:t>React + ReUI</a:t>
            </a:r>
            <a:endParaRPr lang="en-US" sz="1000" dirty="0"/>
          </a:p>
        </p:txBody>
      </p:sp>
      <p:sp>
        <p:nvSpPr>
          <p:cNvPr id="57" name="Shape 48"/>
          <p:cNvSpPr/>
          <p:nvPr/>
        </p:nvSpPr>
        <p:spPr>
          <a:xfrm>
            <a:off x="5536692" y="5120640"/>
            <a:ext cx="1545336" cy="274320"/>
          </a:xfrm>
          <a:prstGeom prst="roundRect">
            <a:avLst>
              <a:gd name="adj" fmla="val 16667"/>
            </a:avLst>
          </a:prstGeom>
          <a:solidFill>
            <a:srgbClr val="6FCF97">
              <a:alpha val="18000"/>
            </a:srgbClr>
          </a:solidFill>
          <a:ln w="9525">
            <a:solidFill>
              <a:srgbClr val="6FCF97"/>
            </a:solidFill>
            <a:prstDash val="solid"/>
          </a:ln>
        </p:spPr>
      </p:sp>
      <p:sp>
        <p:nvSpPr>
          <p:cNvPr id="58" name="Text 49"/>
          <p:cNvSpPr txBox="1"/>
          <p:nvPr/>
        </p:nvSpPr>
        <p:spPr>
          <a:xfrm>
            <a:off x="5536692" y="5120640"/>
            <a:ext cx="1545336" cy="274320"/>
          </a:xfrm>
          <a:prstGeom prst="rect">
            <a:avLst/>
          </a:prstGeom>
          <a:noFill/>
          <a:ln/>
        </p:spPr>
        <p:txBody>
          <a:bodyPr wrap="square" lIns="0" tIns="0" rIns="0" bIns="0" rtlCol="0" anchor="ctr"/>
          <a:lstStyle/>
          <a:p>
            <a:pPr algn="ctr" indent="0" marL="0">
              <a:buNone/>
            </a:pPr>
            <a:r>
              <a:rPr lang="en-US" sz="1000" dirty="0">
                <a:solidFill>
                  <a:srgbClr val="6FCF97"/>
                </a:solidFill>
                <a:latin typeface="Consolas" pitchFamily="34" charset="0"/>
                <a:ea typeface="Consolas" pitchFamily="34" charset="-122"/>
                <a:cs typeface="Consolas" pitchFamily="34" charset="-120"/>
              </a:rPr>
              <a:t>14 automated tests</a:t>
            </a:r>
            <a:endParaRPr lang="en-US" sz="1000" dirty="0"/>
          </a:p>
        </p:txBody>
      </p:sp>
      <p:sp>
        <p:nvSpPr>
          <p:cNvPr id="59" name="Text 50"/>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400" i="1" dirty="0">
                <a:solidFill>
                  <a:srgbClr val="94A6B3"/>
                </a:solidFill>
                <a:latin typeface="Calibri" pitchFamily="34" charset="0"/>
                <a:ea typeface="Calibri" pitchFamily="34" charset="-122"/>
                <a:cs typeface="Calibri" pitchFamily="34" charset="-120"/>
              </a:rPr>
              <a:t>Every stage keeps the IDs of the records it used, so any result can be traced back to the original evidence.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06 · FOUR QUESTIONS, NOT ONE VERDICT</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Each answer comes with its evidence and its limit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731520"/>
                <a:gridCol w="3108960"/>
                <a:gridCol w="4114800"/>
                <a:gridCol w="3136392"/>
              </a:tblGrid>
              <a:tr h="411480">
                <a:tc>
                  <a:txBody>
                    <a:bodyPr/>
                    <a:lstStyle/>
                    <a:p>
                      <a:pPr indent="0" marL="0">
                        <a:buNone/>
                      </a:pP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c>
                  <a:txBody>
                    <a:bodyPr/>
                    <a:lstStyle/>
                    <a:p>
                      <a:pPr indent="0" marL="0">
                        <a:buNone/>
                      </a:pPr>
                      <a:r>
                        <a:rPr lang="en-US" sz="1200" b="1" dirty="0">
                          <a:solidFill>
                            <a:srgbClr val="94A6B3"/>
                          </a:solidFill>
                          <a:latin typeface="Consolas" pitchFamily="34" charset="0"/>
                          <a:ea typeface="Consolas" pitchFamily="34" charset="-122"/>
                          <a:cs typeface="Consolas" pitchFamily="34" charset="-120"/>
                        </a:rPr>
                        <a:t>Question</a:t>
                      </a: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c>
                  <a:txBody>
                    <a:bodyPr/>
                    <a:lstStyle/>
                    <a:p>
                      <a:pPr indent="0" marL="0">
                        <a:buNone/>
                      </a:pPr>
                      <a:r>
                        <a:rPr lang="en-US" sz="1200" b="1" dirty="0">
                          <a:solidFill>
                            <a:srgbClr val="94A6B3"/>
                          </a:solidFill>
                          <a:latin typeface="Consolas" pitchFamily="34" charset="0"/>
                          <a:ea typeface="Consolas" pitchFamily="34" charset="-122"/>
                          <a:cs typeface="Consolas" pitchFamily="34" charset="-120"/>
                        </a:rPr>
                        <a:t>Evidence required</a:t>
                      </a: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c>
                  <a:txBody>
                    <a:bodyPr/>
                    <a:lstStyle/>
                    <a:p>
                      <a:pPr indent="0" marL="0">
                        <a:buNone/>
                      </a:pPr>
                      <a:r>
                        <a:rPr lang="en-US" sz="1200" b="1" dirty="0">
                          <a:solidFill>
                            <a:srgbClr val="94A6B3"/>
                          </a:solidFill>
                          <a:latin typeface="Consolas" pitchFamily="34" charset="0"/>
                          <a:ea typeface="Consolas" pitchFamily="34" charset="-122"/>
                          <a:cs typeface="Consolas" pitchFamily="34" charset="-120"/>
                        </a:rPr>
                        <a:t>Limit stated</a:t>
                      </a: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r>
              <a:tr h="868680">
                <a:tc>
                  <a:txBody>
                    <a:bodyPr/>
                    <a:lstStyle/>
                    <a:p>
                      <a:pPr indent="0" marL="0">
                        <a:buNone/>
                      </a:pPr>
                      <a:r>
                        <a:rPr lang="en-US" sz="1800" b="1" dirty="0">
                          <a:solidFill>
                            <a:srgbClr val="5CC0DD"/>
                          </a:solidFill>
                          <a:latin typeface="Consolas" pitchFamily="34" charset="0"/>
                          <a:ea typeface="Consolas" pitchFamily="34" charset="-122"/>
                          <a:cs typeface="Consolas" pitchFamily="34" charset="-120"/>
                        </a:rPr>
                        <a:t>H1</a:t>
                      </a:r>
                      <a:endParaRPr lang="en-US" sz="18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500" b="1" dirty="0">
                          <a:solidFill>
                            <a:srgbClr val="E3EBF0"/>
                          </a:solidFill>
                          <a:latin typeface="Calibri" pitchFamily="34" charset="0"/>
                          <a:ea typeface="Calibri" pitchFamily="34" charset="-122"/>
                          <a:cs typeface="Calibri" pitchFamily="34" charset="-120"/>
                        </a:rPr>
                        <a:t>Was a USB drive used?</a:t>
                      </a:r>
                      <a:endParaRPr lang="en-US" sz="15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dirty="0">
                          <a:solidFill>
                            <a:srgbClr val="E3EBF0"/>
                          </a:solidFill>
                          <a:latin typeface="Calibri" pitchFamily="34" charset="0"/>
                          <a:ea typeface="Calibri" pitchFamily="34" charset="-122"/>
                          <a:cs typeface="Calibri" pitchFamily="34" charset="-120"/>
                        </a:rPr>
                        <a:t>A USB connection record</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i="1" dirty="0">
                          <a:solidFill>
                            <a:srgbClr val="F0C04A"/>
                          </a:solidFill>
                          <a:latin typeface="Calibri" pitchFamily="34" charset="0"/>
                          <a:ea typeface="Calibri" pitchFamily="34" charset="-122"/>
                          <a:cs typeface="Calibri" pitchFamily="34" charset="-120"/>
                        </a:rPr>
                        <a:t>Normal users plug in USB drives too</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r>
              <a:tr h="868680">
                <a:tc>
                  <a:txBody>
                    <a:bodyPr/>
                    <a:lstStyle/>
                    <a:p>
                      <a:pPr indent="0" marL="0">
                        <a:buNone/>
                      </a:pPr>
                      <a:r>
                        <a:rPr lang="en-US" sz="1800" b="1" dirty="0">
                          <a:solidFill>
                            <a:srgbClr val="5CC0DD"/>
                          </a:solidFill>
                          <a:latin typeface="Consolas" pitchFamily="34" charset="0"/>
                          <a:ea typeface="Consolas" pitchFamily="34" charset="-122"/>
                          <a:cs typeface="Consolas" pitchFamily="34" charset="-120"/>
                        </a:rPr>
                        <a:t>H2</a:t>
                      </a:r>
                      <a:endParaRPr lang="en-US" sz="18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500" b="1" dirty="0">
                          <a:solidFill>
                            <a:srgbClr val="E3EBF0"/>
                          </a:solidFill>
                          <a:latin typeface="Calibri" pitchFamily="34" charset="0"/>
                          <a:ea typeface="Calibri" pitchFamily="34" charset="-122"/>
                          <a:cs typeface="Calibri" pitchFamily="34" charset="-120"/>
                        </a:rPr>
                        <a:t>Were the sensitive files opened?</a:t>
                      </a:r>
                      <a:endParaRPr lang="en-US" sz="15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dirty="0">
                          <a:solidFill>
                            <a:srgbClr val="E3EBF0"/>
                          </a:solidFill>
                          <a:latin typeface="Calibri" pitchFamily="34" charset="0"/>
                          <a:ea typeface="Calibri" pitchFamily="34" charset="-122"/>
                          <a:cs typeface="Calibri" pitchFamily="34" charset="-120"/>
                        </a:rPr>
                        <a:t>Shortcuts or recent-document records for listed files</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i="1" dirty="0">
                          <a:solidFill>
                            <a:srgbClr val="F0C04A"/>
                          </a:solidFill>
                          <a:latin typeface="Calibri" pitchFamily="34" charset="0"/>
                          <a:ea typeface="Calibri" pitchFamily="34" charset="-122"/>
                          <a:cs typeface="Calibri" pitchFamily="34" charset="-120"/>
                        </a:rPr>
                        <a:t>Opening is not copying</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r>
              <a:tr h="868680">
                <a:tc>
                  <a:txBody>
                    <a:bodyPr/>
                    <a:lstStyle/>
                    <a:p>
                      <a:pPr indent="0" marL="0">
                        <a:buNone/>
                      </a:pPr>
                      <a:r>
                        <a:rPr lang="en-US" sz="1800" b="1" dirty="0">
                          <a:solidFill>
                            <a:srgbClr val="5CC0DD"/>
                          </a:solidFill>
                          <a:latin typeface="Consolas" pitchFamily="34" charset="0"/>
                          <a:ea typeface="Consolas" pitchFamily="34" charset="-122"/>
                          <a:cs typeface="Consolas" pitchFamily="34" charset="-120"/>
                        </a:rPr>
                        <a:t>H3</a:t>
                      </a:r>
                      <a:endParaRPr lang="en-US" sz="18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500" b="1" dirty="0">
                          <a:solidFill>
                            <a:srgbClr val="E3EBF0"/>
                          </a:solidFill>
                          <a:latin typeface="Calibri" pitchFamily="34" charset="0"/>
                          <a:ea typeface="Calibri" pitchFamily="34" charset="-122"/>
                          <a:cs typeface="Calibri" pitchFamily="34" charset="-120"/>
                        </a:rPr>
                        <a:t>Were they copied to the USB?</a:t>
                      </a:r>
                      <a:endParaRPr lang="en-US" sz="15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dirty="0">
                          <a:solidFill>
                            <a:srgbClr val="E3EBF0"/>
                          </a:solidFill>
                          <a:latin typeface="Calibri" pitchFamily="34" charset="0"/>
                          <a:ea typeface="Calibri" pitchFamily="34" charset="-122"/>
                          <a:cs typeface="Calibri" pitchFamily="34" charset="-120"/>
                        </a:rPr>
                        <a:t>Sensitive file on the USB inside the connection window, plus a user session</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i="1" dirty="0">
                          <a:solidFill>
                            <a:srgbClr val="F0C04A"/>
                          </a:solidFill>
                          <a:latin typeface="Calibri" pitchFamily="34" charset="0"/>
                          <a:ea typeface="Calibri" pitchFamily="34" charset="-122"/>
                          <a:cs typeface="Calibri" pitchFamily="34" charset="-120"/>
                        </a:rPr>
                        <a:t>Shows timing and links, not intent</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r>
              <a:tr h="868680">
                <a:tc>
                  <a:txBody>
                    <a:bodyPr/>
                    <a:lstStyle/>
                    <a:p>
                      <a:pPr indent="0" marL="0">
                        <a:buNone/>
                      </a:pPr>
                      <a:r>
                        <a:rPr lang="en-US" sz="1800" b="1" dirty="0">
                          <a:solidFill>
                            <a:srgbClr val="5CC0DD"/>
                          </a:solidFill>
                          <a:latin typeface="Consolas" pitchFamily="34" charset="0"/>
                          <a:ea typeface="Consolas" pitchFamily="34" charset="-122"/>
                          <a:cs typeface="Consolas" pitchFamily="34" charset="-120"/>
                        </a:rPr>
                        <a:t>H4</a:t>
                      </a:r>
                      <a:endParaRPr lang="en-US" sz="18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500" b="1" dirty="0">
                          <a:solidFill>
                            <a:srgbClr val="E3EBF0"/>
                          </a:solidFill>
                          <a:latin typeface="Calibri" pitchFamily="34" charset="0"/>
                          <a:ea typeface="Calibri" pitchFamily="34" charset="-122"/>
                          <a:cs typeface="Calibri" pitchFamily="34" charset="-120"/>
                        </a:rPr>
                        <a:t>Was anything hidden?</a:t>
                      </a:r>
                      <a:endParaRPr lang="en-US" sz="15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dirty="0">
                          <a:solidFill>
                            <a:srgbClr val="E3EBF0"/>
                          </a:solidFill>
                          <a:latin typeface="Calibri" pitchFamily="34" charset="0"/>
                          <a:ea typeface="Calibri" pitchFamily="34" charset="-122"/>
                          <a:cs typeface="Calibri" pitchFamily="34" charset="-120"/>
                        </a:rPr>
                        <a:t>Archive or deletion records</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i="1" dirty="0">
                          <a:solidFill>
                            <a:srgbClr val="F0C04A"/>
                          </a:solidFill>
                          <a:latin typeface="Calibri" pitchFamily="34" charset="0"/>
                          <a:ea typeface="Calibri" pitchFamily="34" charset="-122"/>
                          <a:cs typeface="Calibri" pitchFamily="34" charset="-120"/>
                        </a:rPr>
                        <a:t>Zipping and deleting can be innocent</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r>
            </a:tbl>
          </a:graphicData>
        </a:graphic>
      </p:graphicFrame>
      <p:sp>
        <p:nvSpPr>
          <p:cNvPr id="5" name="Text 2"/>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300" i="1" dirty="0">
                <a:solidFill>
                  <a:srgbClr val="94A6B3"/>
                </a:solidFill>
                <a:latin typeface="Calibri" pitchFamily="34" charset="0"/>
                <a:ea typeface="Calibri" pitchFamily="34" charset="-122"/>
                <a:cs typeface="Calibri" pitchFamily="34" charset="-120"/>
              </a:rPr>
              <a:t>Confidence is Low, Medium or High: project-defined labels, not probabilities. The experimental score is a ranking aid, not a forensic standard.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07 · FORENSIC SOUNDNESS</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Evidence is preserved, fingerprinted and traceable</a:t>
            </a:r>
            <a:endParaRPr lang="en-US" sz="3000" dirty="0"/>
          </a:p>
        </p:txBody>
      </p:sp>
      <p:sp>
        <p:nvSpPr>
          <p:cNvPr id="4" name="Shape 2"/>
          <p:cNvSpPr/>
          <p:nvPr/>
        </p:nvSpPr>
        <p:spPr>
          <a:xfrm>
            <a:off x="548640" y="1828800"/>
            <a:ext cx="566928" cy="566928"/>
          </a:xfrm>
          <a:prstGeom prst="ellipse">
            <a:avLst/>
          </a:prstGeom>
          <a:solidFill>
            <a:srgbClr val="1C2A35"/>
          </a:solidFill>
          <a:ln w="9525">
            <a:solidFill>
              <a:srgbClr val="2A3A46"/>
            </a:solidFill>
            <a:prstDash val="solid"/>
          </a:ln>
        </p:spPr>
      </p:sp>
      <p:pic>
        <p:nvPicPr>
          <p:cNvPr id="5" name="Image 0" descr="preencoded.png">    </p:cNvPr>
          <p:cNvPicPr>
            <a:picLocks noChangeAspect="1"/>
          </p:cNvPicPr>
          <p:nvPr/>
        </p:nvPicPr>
        <p:blipFill>
          <a:blip r:embed="rId1"/>
          <a:stretch>
            <a:fillRect/>
          </a:stretch>
        </p:blipFill>
        <p:spPr>
          <a:xfrm>
            <a:off x="673364" y="1953524"/>
            <a:ext cx="317480" cy="317480"/>
          </a:xfrm>
          <a:prstGeom prst="rect">
            <a:avLst/>
          </a:prstGeom>
        </p:spPr>
      </p:pic>
      <p:sp>
        <p:nvSpPr>
          <p:cNvPr id="6" name="Text 3"/>
          <p:cNvSpPr txBox="1"/>
          <p:nvPr/>
        </p:nvSpPr>
        <p:spPr>
          <a:xfrm>
            <a:off x="1325880" y="1810512"/>
            <a:ext cx="4572000" cy="347472"/>
          </a:xfrm>
          <a:prstGeom prst="rect">
            <a:avLst/>
          </a:prstGeom>
          <a:noFill/>
          <a:ln/>
        </p:spPr>
        <p:txBody>
          <a:bodyPr wrap="square" lIns="0" tIns="0" rIns="0" bIns="0" rtlCol="0" anchor="t"/>
          <a:lstStyle/>
          <a:p>
            <a:pPr indent="0" marL="0">
              <a:buNone/>
            </a:pPr>
            <a:r>
              <a:rPr lang="en-US" sz="1700" b="1" dirty="0">
                <a:solidFill>
                  <a:srgbClr val="E3EBF0"/>
                </a:solidFill>
                <a:latin typeface="Calibri" pitchFamily="34" charset="0"/>
                <a:ea typeface="Calibri" pitchFamily="34" charset="-122"/>
                <a:cs typeface="Calibri" pitchFamily="34" charset="-120"/>
              </a:rPr>
              <a:t>Read-only collection</a:t>
            </a:r>
            <a:endParaRPr lang="en-US" sz="1700" dirty="0"/>
          </a:p>
        </p:txBody>
      </p:sp>
      <p:sp>
        <p:nvSpPr>
          <p:cNvPr id="7" name="Text 4"/>
          <p:cNvSpPr txBox="1"/>
          <p:nvPr/>
        </p:nvSpPr>
        <p:spPr>
          <a:xfrm>
            <a:off x="1325880" y="2176272"/>
            <a:ext cx="4572000" cy="566928"/>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The collector never edits the system it examines.</a:t>
            </a:r>
            <a:endParaRPr lang="en-US" sz="1300" dirty="0"/>
          </a:p>
        </p:txBody>
      </p:sp>
      <p:sp>
        <p:nvSpPr>
          <p:cNvPr id="8" name="Shape 5"/>
          <p:cNvSpPr/>
          <p:nvPr/>
        </p:nvSpPr>
        <p:spPr>
          <a:xfrm>
            <a:off x="548640" y="2852928"/>
            <a:ext cx="566928" cy="566928"/>
          </a:xfrm>
          <a:prstGeom prst="ellipse">
            <a:avLst/>
          </a:prstGeom>
          <a:solidFill>
            <a:srgbClr val="1C2A35"/>
          </a:solidFill>
          <a:ln w="9525">
            <a:solidFill>
              <a:srgbClr val="2A3A46"/>
            </a:solidFill>
            <a:prstDash val="solid"/>
          </a:ln>
        </p:spPr>
      </p:sp>
      <p:pic>
        <p:nvPicPr>
          <p:cNvPr id="9" name="Image 1" descr="preencoded.png">    </p:cNvPr>
          <p:cNvPicPr>
            <a:picLocks noChangeAspect="1"/>
          </p:cNvPicPr>
          <p:nvPr/>
        </p:nvPicPr>
        <p:blipFill>
          <a:blip r:embed="rId2"/>
          <a:stretch>
            <a:fillRect/>
          </a:stretch>
        </p:blipFill>
        <p:spPr>
          <a:xfrm>
            <a:off x="673364" y="2977652"/>
            <a:ext cx="317480" cy="317480"/>
          </a:xfrm>
          <a:prstGeom prst="rect">
            <a:avLst/>
          </a:prstGeom>
        </p:spPr>
      </p:pic>
      <p:sp>
        <p:nvSpPr>
          <p:cNvPr id="10" name="Text 6"/>
          <p:cNvSpPr txBox="1"/>
          <p:nvPr/>
        </p:nvSpPr>
        <p:spPr>
          <a:xfrm>
            <a:off x="1325880" y="2834640"/>
            <a:ext cx="4572000" cy="347472"/>
          </a:xfrm>
          <a:prstGeom prst="rect">
            <a:avLst/>
          </a:prstGeom>
          <a:noFill/>
          <a:ln/>
        </p:spPr>
        <p:txBody>
          <a:bodyPr wrap="square" lIns="0" tIns="0" rIns="0" bIns="0" rtlCol="0" anchor="t"/>
          <a:lstStyle/>
          <a:p>
            <a:pPr indent="0" marL="0">
              <a:buNone/>
            </a:pPr>
            <a:r>
              <a:rPr lang="en-US" sz="1700" b="1" dirty="0">
                <a:solidFill>
                  <a:srgbClr val="E3EBF0"/>
                </a:solidFill>
                <a:latin typeface="Calibri" pitchFamily="34" charset="0"/>
                <a:ea typeface="Calibri" pitchFamily="34" charset="-122"/>
                <a:cs typeface="Calibri" pitchFamily="34" charset="-120"/>
              </a:rPr>
              <a:t>SHA-256 fingerprint</a:t>
            </a:r>
            <a:endParaRPr lang="en-US" sz="1700" dirty="0"/>
          </a:p>
        </p:txBody>
      </p:sp>
      <p:sp>
        <p:nvSpPr>
          <p:cNvPr id="11" name="Text 7"/>
          <p:cNvSpPr txBox="1"/>
          <p:nvPr/>
        </p:nvSpPr>
        <p:spPr>
          <a:xfrm>
            <a:off x="1325880" y="3200400"/>
            <a:ext cx="4572000" cy="566928"/>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CA60D5A4ED47…7B9C41 sealed the real Experiment B export. Any later change would show.</a:t>
            </a:r>
            <a:endParaRPr lang="en-US" sz="1300" dirty="0"/>
          </a:p>
        </p:txBody>
      </p:sp>
      <p:sp>
        <p:nvSpPr>
          <p:cNvPr id="12" name="Shape 8"/>
          <p:cNvSpPr/>
          <p:nvPr/>
        </p:nvSpPr>
        <p:spPr>
          <a:xfrm>
            <a:off x="548640" y="3877056"/>
            <a:ext cx="566928" cy="566928"/>
          </a:xfrm>
          <a:prstGeom prst="ellipse">
            <a:avLst/>
          </a:prstGeom>
          <a:solidFill>
            <a:srgbClr val="1C2A35"/>
          </a:solidFill>
          <a:ln w="9525">
            <a:solidFill>
              <a:srgbClr val="2A3A46"/>
            </a:solidFill>
            <a:prstDash val="solid"/>
          </a:ln>
        </p:spPr>
      </p:sp>
      <p:pic>
        <p:nvPicPr>
          <p:cNvPr id="13" name="Image 2" descr="preencoded.png">    </p:cNvPr>
          <p:cNvPicPr>
            <a:picLocks noChangeAspect="1"/>
          </p:cNvPicPr>
          <p:nvPr/>
        </p:nvPicPr>
        <p:blipFill>
          <a:blip r:embed="rId3"/>
          <a:stretch>
            <a:fillRect/>
          </a:stretch>
        </p:blipFill>
        <p:spPr>
          <a:xfrm>
            <a:off x="673364" y="4001780"/>
            <a:ext cx="317480" cy="317480"/>
          </a:xfrm>
          <a:prstGeom prst="rect">
            <a:avLst/>
          </a:prstGeom>
        </p:spPr>
      </p:pic>
      <p:sp>
        <p:nvSpPr>
          <p:cNvPr id="14" name="Text 9"/>
          <p:cNvSpPr txBox="1"/>
          <p:nvPr/>
        </p:nvSpPr>
        <p:spPr>
          <a:xfrm>
            <a:off x="1325880" y="3858768"/>
            <a:ext cx="4572000" cy="347472"/>
          </a:xfrm>
          <a:prstGeom prst="rect">
            <a:avLst/>
          </a:prstGeom>
          <a:noFill/>
          <a:ln/>
        </p:spPr>
        <p:txBody>
          <a:bodyPr wrap="square" lIns="0" tIns="0" rIns="0" bIns="0" rtlCol="0" anchor="t"/>
          <a:lstStyle/>
          <a:p>
            <a:pPr indent="0" marL="0">
              <a:buNone/>
            </a:pPr>
            <a:r>
              <a:rPr lang="en-US" sz="1700" b="1" dirty="0">
                <a:solidFill>
                  <a:srgbClr val="E3EBF0"/>
                </a:solidFill>
                <a:latin typeface="Calibri" pitchFamily="34" charset="0"/>
                <a:ea typeface="Calibri" pitchFamily="34" charset="-122"/>
                <a:cs typeface="Calibri" pitchFamily="34" charset="-120"/>
              </a:rPr>
              <a:t>Raw record preserved</a:t>
            </a:r>
            <a:endParaRPr lang="en-US" sz="1700" dirty="0"/>
          </a:p>
        </p:txBody>
      </p:sp>
      <p:sp>
        <p:nvSpPr>
          <p:cNvPr id="15" name="Text 10"/>
          <p:cNvSpPr txBox="1"/>
          <p:nvPr/>
        </p:nvSpPr>
        <p:spPr>
          <a:xfrm>
            <a:off x="1325880" y="4224528"/>
            <a:ext cx="4572000" cy="566928"/>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The untouched source record sits next to the normalized one.</a:t>
            </a:r>
            <a:endParaRPr lang="en-US" sz="1300" dirty="0"/>
          </a:p>
        </p:txBody>
      </p:sp>
      <p:sp>
        <p:nvSpPr>
          <p:cNvPr id="16" name="Shape 11"/>
          <p:cNvSpPr/>
          <p:nvPr/>
        </p:nvSpPr>
        <p:spPr>
          <a:xfrm>
            <a:off x="548640" y="4901184"/>
            <a:ext cx="566928" cy="566928"/>
          </a:xfrm>
          <a:prstGeom prst="ellipse">
            <a:avLst/>
          </a:prstGeom>
          <a:solidFill>
            <a:srgbClr val="1C2A35"/>
          </a:solidFill>
          <a:ln w="9525">
            <a:solidFill>
              <a:srgbClr val="2A3A46"/>
            </a:solidFill>
            <a:prstDash val="solid"/>
          </a:ln>
        </p:spPr>
      </p:sp>
      <p:pic>
        <p:nvPicPr>
          <p:cNvPr id="17" name="Image 3" descr="preencoded.png">    </p:cNvPr>
          <p:cNvPicPr>
            <a:picLocks noChangeAspect="1"/>
          </p:cNvPicPr>
          <p:nvPr/>
        </p:nvPicPr>
        <p:blipFill>
          <a:blip r:embed="rId4"/>
          <a:stretch>
            <a:fillRect/>
          </a:stretch>
        </p:blipFill>
        <p:spPr>
          <a:xfrm>
            <a:off x="673364" y="5025908"/>
            <a:ext cx="317480" cy="317480"/>
          </a:xfrm>
          <a:prstGeom prst="rect">
            <a:avLst/>
          </a:prstGeom>
        </p:spPr>
      </p:pic>
      <p:sp>
        <p:nvSpPr>
          <p:cNvPr id="18" name="Text 12"/>
          <p:cNvSpPr txBox="1"/>
          <p:nvPr/>
        </p:nvSpPr>
        <p:spPr>
          <a:xfrm>
            <a:off x="1325880" y="4882896"/>
            <a:ext cx="4572000" cy="347472"/>
          </a:xfrm>
          <a:prstGeom prst="rect">
            <a:avLst/>
          </a:prstGeom>
          <a:noFill/>
          <a:ln/>
        </p:spPr>
        <p:txBody>
          <a:bodyPr wrap="square" lIns="0" tIns="0" rIns="0" bIns="0" rtlCol="0" anchor="t"/>
          <a:lstStyle/>
          <a:p>
            <a:pPr indent="0" marL="0">
              <a:buNone/>
            </a:pPr>
            <a:r>
              <a:rPr lang="en-US" sz="1700" b="1" dirty="0">
                <a:solidFill>
                  <a:srgbClr val="E3EBF0"/>
                </a:solidFill>
                <a:latin typeface="Calibri" pitchFamily="34" charset="0"/>
                <a:ea typeface="Calibri" pitchFamily="34" charset="-122"/>
                <a:cs typeface="Calibri" pitchFamily="34" charset="-120"/>
              </a:rPr>
              <a:t>Custody and audit log</a:t>
            </a:r>
            <a:endParaRPr lang="en-US" sz="1700" dirty="0"/>
          </a:p>
        </p:txBody>
      </p:sp>
      <p:sp>
        <p:nvSpPr>
          <p:cNvPr id="19" name="Text 13"/>
          <p:cNvSpPr txBox="1"/>
          <p:nvPr/>
        </p:nvSpPr>
        <p:spPr>
          <a:xfrm>
            <a:off x="1325880" y="5248656"/>
            <a:ext cx="4572000" cy="566928"/>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Who handled the evidence, when, and every analysis run.</a:t>
            </a:r>
            <a:endParaRPr lang="en-US" sz="1300" dirty="0"/>
          </a:p>
        </p:txBody>
      </p:sp>
      <p:sp>
        <p:nvSpPr>
          <p:cNvPr id="20" name="Shape 14"/>
          <p:cNvSpPr/>
          <p:nvPr/>
        </p:nvSpPr>
        <p:spPr>
          <a:xfrm>
            <a:off x="6254496" y="1728216"/>
            <a:ext cx="5440680" cy="3438144"/>
          </a:xfrm>
          <a:prstGeom prst="roundRect">
            <a:avLst>
              <a:gd name="adj" fmla="val 2128"/>
            </a:avLst>
          </a:prstGeom>
          <a:solidFill>
            <a:srgbClr val="1C2A35"/>
          </a:solidFill>
          <a:ln w="9525">
            <a:solidFill>
              <a:srgbClr val="2A3A46"/>
            </a:solidFill>
            <a:prstDash val="solid"/>
          </a:ln>
          <a:effectLst>
            <a:outerShdw sx="100000" sy="100000" kx="0" ky="0" algn="bl" rotWithShape="0" blurRad="177800" dist="50800" dir="5400000">
              <a:srgbClr val="000000">
                <a:alpha val="45000"/>
              </a:srgbClr>
            </a:outerShdw>
          </a:effectLst>
        </p:spPr>
      </p:sp>
      <p:pic>
        <p:nvPicPr>
          <p:cNvPr id="21" name="Image 4" descr="C:\Users\Gary\AppData\Local\Temp\claude\C--Users-Gary-Desktop-CF-proj\9eb8b016-f6a9-4b13-949a-4dbf52c2bac2\scratchpad\deck\img\drawer.png">    </p:cNvPr>
          <p:cNvPicPr>
            <a:picLocks noChangeAspect="1"/>
          </p:cNvPicPr>
          <p:nvPr/>
        </p:nvPicPr>
        <p:blipFill>
          <a:blip r:embed="rId5"/>
          <a:stretch>
            <a:fillRect/>
          </a:stretch>
        </p:blipFill>
        <p:spPr>
          <a:xfrm>
            <a:off x="6309360" y="1783080"/>
            <a:ext cx="5330952" cy="3328416"/>
          </a:xfrm>
          <a:prstGeom prst="rect">
            <a:avLst/>
          </a:prstGeom>
        </p:spPr>
      </p:pic>
      <p:sp>
        <p:nvSpPr>
          <p:cNvPr id="22" name="Text 15"/>
          <p:cNvSpPr txBox="1"/>
          <p:nvPr/>
        </p:nvSpPr>
        <p:spPr>
          <a:xfrm>
            <a:off x="6309360" y="5303520"/>
            <a:ext cx="5330952" cy="320040"/>
          </a:xfrm>
          <a:prstGeom prst="rect">
            <a:avLst/>
          </a:prstGeom>
          <a:noFill/>
          <a:ln/>
        </p:spPr>
        <p:txBody>
          <a:bodyPr wrap="square" lIns="0" tIns="0" rIns="0" bIns="0" rtlCol="0" anchor="t"/>
          <a:lstStyle/>
          <a:p>
            <a:pPr indent="0" marL="0">
              <a:buNone/>
            </a:pPr>
            <a:r>
              <a:rPr lang="en-US" sz="1200" i="1" dirty="0">
                <a:solidFill>
                  <a:srgbClr val="6B7D89"/>
                </a:solidFill>
                <a:latin typeface="Calibri" pitchFamily="34" charset="0"/>
                <a:ea typeface="Calibri" pitchFamily="34" charset="-122"/>
                <a:cs typeface="Calibri" pitchFamily="34" charset="-120"/>
              </a:rPr>
              <a:t>Dashboard evidence drawer: normalized fields above, raw JSON below</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08 · LIVE DEMONSTRATION</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One command performs the whole investigation</a:t>
            </a:r>
            <a:endParaRPr lang="en-US" sz="3000" dirty="0"/>
          </a:p>
        </p:txBody>
      </p:sp>
      <p:sp>
        <p:nvSpPr>
          <p:cNvPr id="4" name="Shape 2"/>
          <p:cNvSpPr/>
          <p:nvPr/>
        </p:nvSpPr>
        <p:spPr>
          <a:xfrm>
            <a:off x="548640" y="1783080"/>
            <a:ext cx="4754880" cy="685800"/>
          </a:xfrm>
          <a:prstGeom prst="roundRect">
            <a:avLst>
              <a:gd name="adj" fmla="val 10667"/>
            </a:avLst>
          </a:prstGeom>
          <a:solidFill>
            <a:srgbClr val="1C2A35"/>
          </a:solidFill>
          <a:ln w="9525">
            <a:solidFill>
              <a:srgbClr val="2A3A46"/>
            </a:solidFill>
            <a:prstDash val="solid"/>
          </a:ln>
        </p:spPr>
      </p:sp>
      <p:sp>
        <p:nvSpPr>
          <p:cNvPr id="5" name="Text 3"/>
          <p:cNvSpPr txBox="1"/>
          <p:nvPr/>
        </p:nvSpPr>
        <p:spPr>
          <a:xfrm>
            <a:off x="822960" y="1938528"/>
            <a:ext cx="4206240" cy="365760"/>
          </a:xfrm>
          <a:prstGeom prst="rect">
            <a:avLst/>
          </a:prstGeom>
          <a:noFill/>
          <a:ln/>
        </p:spPr>
        <p:txBody>
          <a:bodyPr wrap="square" lIns="0" tIns="0" rIns="0" bIns="0" rtlCol="0" anchor="t"/>
          <a:lstStyle/>
          <a:p>
            <a:pPr indent="0" marL="0">
              <a:buNone/>
            </a:pPr>
            <a:r>
              <a:rPr lang="en-US" sz="2000" dirty="0">
                <a:solidFill>
                  <a:srgbClr val="6FCF97"/>
                </a:solidFill>
                <a:latin typeface="Consolas" pitchFamily="34" charset="0"/>
                <a:ea typeface="Consolas" pitchFamily="34" charset="-122"/>
                <a:cs typeface="Consolas" pitchFamily="34" charset="-120"/>
              </a:rPr>
              <a:t>PS&gt; .\live_demo.ps1</a:t>
            </a:r>
            <a:endParaRPr lang="en-US" sz="2000" dirty="0"/>
          </a:p>
        </p:txBody>
      </p:sp>
      <p:sp>
        <p:nvSpPr>
          <p:cNvPr id="6" name="Text 4"/>
          <p:cNvSpPr txBox="1"/>
          <p:nvPr/>
        </p:nvSpPr>
        <p:spPr>
          <a:xfrm>
            <a:off x="548640" y="2697480"/>
            <a:ext cx="4754880" cy="731520"/>
          </a:xfrm>
          <a:prstGeom prst="rect">
            <a:avLst/>
          </a:prstGeom>
          <a:noFill/>
          <a:ln/>
        </p:spPr>
        <p:txBody>
          <a:bodyPr wrap="square" lIns="0" tIns="0" rIns="0" bIns="0" rtlCol="0" anchor="t"/>
          <a:lstStyle/>
          <a:p>
            <a:pPr indent="0" marL="0">
              <a:buNone/>
            </a:pPr>
            <a:r>
              <a:rPr lang="en-US" sz="1500" dirty="0">
                <a:solidFill>
                  <a:srgbClr val="94A6B3"/>
                </a:solidFill>
                <a:latin typeface="Calibri" pitchFamily="34" charset="0"/>
                <a:ea typeface="Calibri" pitchFamily="34" charset="-122"/>
                <a:cs typeface="Calibri" pitchFamily="34" charset="-120"/>
              </a:rPr>
              <a:t>Each step prints the exact command and the real code lines it runs, then waits for Enter.</a:t>
            </a:r>
            <a:endParaRPr lang="en-US" sz="1500" dirty="0"/>
          </a:p>
        </p:txBody>
      </p:sp>
      <p:sp>
        <p:nvSpPr>
          <p:cNvPr id="7" name="Text 5"/>
          <p:cNvSpPr txBox="1"/>
          <p:nvPr/>
        </p:nvSpPr>
        <p:spPr>
          <a:xfrm>
            <a:off x="548640" y="3520440"/>
            <a:ext cx="4754880" cy="731520"/>
          </a:xfrm>
          <a:prstGeom prst="rect">
            <a:avLst/>
          </a:prstGeom>
          <a:noFill/>
          <a:ln/>
        </p:spPr>
        <p:txBody>
          <a:bodyPr wrap="square" lIns="0" tIns="0" rIns="0" bIns="0" rtlCol="0" anchor="t"/>
          <a:lstStyle/>
          <a:p>
            <a:pPr indent="0" marL="0">
              <a:buNone/>
            </a:pPr>
            <a:r>
              <a:rPr lang="en-US" sz="1500" dirty="0">
                <a:solidFill>
                  <a:srgbClr val="94A6B3"/>
                </a:solidFill>
                <a:latin typeface="Calibri" pitchFamily="34" charset="0"/>
                <a:ea typeface="Calibri" pitchFamily="34" charset="-122"/>
                <a:cs typeface="Calibri" pitchFamily="34" charset="-120"/>
              </a:rPr>
              <a:t>The USB drive is unplugged and plugged back in before each experiment, so Windows records a genuine connection.</a:t>
            </a:r>
            <a:endParaRPr lang="en-US" sz="1500" dirty="0"/>
          </a:p>
        </p:txBody>
      </p:sp>
      <p:sp>
        <p:nvSpPr>
          <p:cNvPr id="8" name="Text 6"/>
          <p:cNvSpPr txBox="1"/>
          <p:nvPr/>
        </p:nvSpPr>
        <p:spPr>
          <a:xfrm>
            <a:off x="548640" y="4434840"/>
            <a:ext cx="4754880" cy="548640"/>
          </a:xfrm>
          <a:prstGeom prst="rect">
            <a:avLst/>
          </a:prstGeom>
          <a:noFill/>
          <a:ln/>
        </p:spPr>
        <p:txBody>
          <a:bodyPr wrap="square" lIns="0" tIns="0" rIns="0" bIns="0" rtlCol="0" anchor="t"/>
          <a:lstStyle/>
          <a:p>
            <a:pPr indent="0" marL="0">
              <a:buNone/>
            </a:pPr>
            <a:r>
              <a:rPr lang="en-US" sz="1500" i="1" dirty="0">
                <a:solidFill>
                  <a:srgbClr val="E3EBF0"/>
                </a:solidFill>
                <a:latin typeface="Calibri" pitchFamily="34" charset="0"/>
                <a:ea typeface="Calibri" pitchFamily="34" charset="-122"/>
                <a:cs typeface="Calibri" pitchFamily="34" charset="-120"/>
              </a:rPr>
              <a:t>About 5 minutes. Only fictional files. Everything is cleaned up afterwards.</a:t>
            </a:r>
            <a:endParaRPr lang="en-US" sz="1500" dirty="0"/>
          </a:p>
        </p:txBody>
      </p:sp>
      <p:sp>
        <p:nvSpPr>
          <p:cNvPr id="9" name="Shape 7"/>
          <p:cNvSpPr/>
          <p:nvPr/>
        </p:nvSpPr>
        <p:spPr>
          <a:xfrm>
            <a:off x="5989320" y="1783080"/>
            <a:ext cx="402336" cy="402336"/>
          </a:xfrm>
          <a:prstGeom prst="ellipse">
            <a:avLst/>
          </a:prstGeom>
          <a:solidFill>
            <a:srgbClr val="1C2A35"/>
          </a:solidFill>
          <a:ln w="15875">
            <a:solidFill>
              <a:srgbClr val="5CC0DD"/>
            </a:solidFill>
            <a:prstDash val="solid"/>
          </a:ln>
        </p:spPr>
      </p:sp>
      <p:sp>
        <p:nvSpPr>
          <p:cNvPr id="10" name="Text 8"/>
          <p:cNvSpPr txBox="1"/>
          <p:nvPr/>
        </p:nvSpPr>
        <p:spPr>
          <a:xfrm>
            <a:off x="5989320" y="1783080"/>
            <a:ext cx="402336" cy="402336"/>
          </a:xfrm>
          <a:prstGeom prst="rect">
            <a:avLst/>
          </a:prstGeom>
          <a:noFill/>
          <a:ln/>
        </p:spPr>
        <p:txBody>
          <a:bodyPr wrap="square" lIns="0" tIns="0" rIns="0" bIns="0" rtlCol="0" anchor="ctr"/>
          <a:lstStyle/>
          <a:p>
            <a:pPr algn="ctr" indent="0" marL="0">
              <a:buNone/>
            </a:pPr>
            <a:r>
              <a:rPr lang="en-US" sz="1300" dirty="0">
                <a:solidFill>
                  <a:srgbClr val="5CC0DD"/>
                </a:solidFill>
                <a:latin typeface="Consolas" pitchFamily="34" charset="0"/>
                <a:ea typeface="Consolas" pitchFamily="34" charset="-122"/>
                <a:cs typeface="Consolas" pitchFamily="34" charset="-120"/>
              </a:rPr>
              <a:t>1</a:t>
            </a:r>
            <a:endParaRPr lang="en-US" sz="1300" dirty="0"/>
          </a:p>
        </p:txBody>
      </p:sp>
      <p:sp>
        <p:nvSpPr>
          <p:cNvPr id="11" name="Shape 9"/>
          <p:cNvSpPr/>
          <p:nvPr/>
        </p:nvSpPr>
        <p:spPr>
          <a:xfrm>
            <a:off x="6190488" y="2185416"/>
            <a:ext cx="0" cy="146304"/>
          </a:xfrm>
          <a:prstGeom prst="line">
            <a:avLst/>
          </a:prstGeom>
          <a:noFill/>
          <a:ln w="12700">
            <a:solidFill>
              <a:srgbClr val="2A3A46"/>
            </a:solidFill>
            <a:prstDash val="solid"/>
          </a:ln>
        </p:spPr>
      </p:sp>
      <p:sp>
        <p:nvSpPr>
          <p:cNvPr id="12" name="Shape 10"/>
          <p:cNvSpPr/>
          <p:nvPr/>
        </p:nvSpPr>
        <p:spPr>
          <a:xfrm>
            <a:off x="6583680" y="1764792"/>
            <a:ext cx="5056632" cy="438912"/>
          </a:xfrm>
          <a:prstGeom prst="roundRect">
            <a:avLst>
              <a:gd name="adj" fmla="val 16667"/>
            </a:avLst>
          </a:prstGeom>
          <a:solidFill>
            <a:srgbClr val="16212A"/>
          </a:solidFill>
          <a:ln w="9525">
            <a:solidFill>
              <a:srgbClr val="2A3A46"/>
            </a:solidFill>
            <a:prstDash val="solid"/>
          </a:ln>
        </p:spPr>
      </p:sp>
      <p:sp>
        <p:nvSpPr>
          <p:cNvPr id="13" name="Text 11"/>
          <p:cNvSpPr txBox="1"/>
          <p:nvPr/>
        </p:nvSpPr>
        <p:spPr>
          <a:xfrm>
            <a:off x="6784848" y="1837944"/>
            <a:ext cx="4754880" cy="292608"/>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Find the USB drive</a:t>
            </a:r>
            <a:endParaRPr lang="en-US" sz="1500" dirty="0"/>
          </a:p>
        </p:txBody>
      </p:sp>
      <p:sp>
        <p:nvSpPr>
          <p:cNvPr id="14" name="Shape 12"/>
          <p:cNvSpPr/>
          <p:nvPr/>
        </p:nvSpPr>
        <p:spPr>
          <a:xfrm>
            <a:off x="5989320" y="2331720"/>
            <a:ext cx="402336" cy="402336"/>
          </a:xfrm>
          <a:prstGeom prst="ellipse">
            <a:avLst/>
          </a:prstGeom>
          <a:solidFill>
            <a:srgbClr val="1C2A35"/>
          </a:solidFill>
          <a:ln w="15875">
            <a:solidFill>
              <a:srgbClr val="94A6B3"/>
            </a:solidFill>
            <a:prstDash val="solid"/>
          </a:ln>
        </p:spPr>
      </p:sp>
      <p:sp>
        <p:nvSpPr>
          <p:cNvPr id="15" name="Text 13"/>
          <p:cNvSpPr txBox="1"/>
          <p:nvPr/>
        </p:nvSpPr>
        <p:spPr>
          <a:xfrm>
            <a:off x="5989320" y="2331720"/>
            <a:ext cx="402336" cy="402336"/>
          </a:xfrm>
          <a:prstGeom prst="rect">
            <a:avLst/>
          </a:prstGeom>
          <a:noFill/>
          <a:ln/>
        </p:spPr>
        <p:txBody>
          <a:bodyPr wrap="square" lIns="0" tIns="0" rIns="0" bIns="0" rtlCol="0" anchor="ctr"/>
          <a:lstStyle/>
          <a:p>
            <a:pPr algn="ctr" indent="0" marL="0">
              <a:buNone/>
            </a:pPr>
            <a:r>
              <a:rPr lang="en-US" sz="1300" dirty="0">
                <a:solidFill>
                  <a:srgbClr val="94A6B3"/>
                </a:solidFill>
                <a:latin typeface="Consolas" pitchFamily="34" charset="0"/>
                <a:ea typeface="Consolas" pitchFamily="34" charset="-122"/>
                <a:cs typeface="Consolas" pitchFamily="34" charset="-120"/>
              </a:rPr>
              <a:t>2</a:t>
            </a:r>
            <a:endParaRPr lang="en-US" sz="1300" dirty="0"/>
          </a:p>
        </p:txBody>
      </p:sp>
      <p:sp>
        <p:nvSpPr>
          <p:cNvPr id="16" name="Shape 14"/>
          <p:cNvSpPr/>
          <p:nvPr/>
        </p:nvSpPr>
        <p:spPr>
          <a:xfrm>
            <a:off x="6190488" y="2734056"/>
            <a:ext cx="0" cy="146304"/>
          </a:xfrm>
          <a:prstGeom prst="line">
            <a:avLst/>
          </a:prstGeom>
          <a:noFill/>
          <a:ln w="12700">
            <a:solidFill>
              <a:srgbClr val="2A3A46"/>
            </a:solidFill>
            <a:prstDash val="solid"/>
          </a:ln>
        </p:spPr>
      </p:sp>
      <p:sp>
        <p:nvSpPr>
          <p:cNvPr id="17" name="Shape 15"/>
          <p:cNvSpPr/>
          <p:nvPr/>
        </p:nvSpPr>
        <p:spPr>
          <a:xfrm>
            <a:off x="6583680" y="2313432"/>
            <a:ext cx="5056632" cy="438912"/>
          </a:xfrm>
          <a:prstGeom prst="roundRect">
            <a:avLst>
              <a:gd name="adj" fmla="val 16667"/>
            </a:avLst>
          </a:prstGeom>
          <a:solidFill>
            <a:srgbClr val="16212A"/>
          </a:solidFill>
          <a:ln w="9525">
            <a:solidFill>
              <a:srgbClr val="2A3A46"/>
            </a:solidFill>
            <a:prstDash val="solid"/>
          </a:ln>
        </p:spPr>
      </p:sp>
      <p:sp>
        <p:nvSpPr>
          <p:cNvPr id="18" name="Text 16"/>
          <p:cNvSpPr txBox="1"/>
          <p:nvPr/>
        </p:nvSpPr>
        <p:spPr>
          <a:xfrm>
            <a:off x="6784848" y="2386584"/>
            <a:ext cx="4754880" cy="292608"/>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Create fictional company files</a:t>
            </a:r>
            <a:endParaRPr lang="en-US" sz="1500" dirty="0"/>
          </a:p>
        </p:txBody>
      </p:sp>
      <p:sp>
        <p:nvSpPr>
          <p:cNvPr id="19" name="Shape 17"/>
          <p:cNvSpPr/>
          <p:nvPr/>
        </p:nvSpPr>
        <p:spPr>
          <a:xfrm>
            <a:off x="5989320" y="2880360"/>
            <a:ext cx="402336" cy="402336"/>
          </a:xfrm>
          <a:prstGeom prst="ellipse">
            <a:avLst/>
          </a:prstGeom>
          <a:solidFill>
            <a:srgbClr val="1C2A35"/>
          </a:solidFill>
          <a:ln w="15875">
            <a:solidFill>
              <a:srgbClr val="5CC0DD"/>
            </a:solidFill>
            <a:prstDash val="solid"/>
          </a:ln>
        </p:spPr>
      </p:sp>
      <p:sp>
        <p:nvSpPr>
          <p:cNvPr id="20" name="Text 18"/>
          <p:cNvSpPr txBox="1"/>
          <p:nvPr/>
        </p:nvSpPr>
        <p:spPr>
          <a:xfrm>
            <a:off x="5989320" y="2880360"/>
            <a:ext cx="402336" cy="402336"/>
          </a:xfrm>
          <a:prstGeom prst="rect">
            <a:avLst/>
          </a:prstGeom>
          <a:noFill/>
          <a:ln/>
        </p:spPr>
        <p:txBody>
          <a:bodyPr wrap="square" lIns="0" tIns="0" rIns="0" bIns="0" rtlCol="0" anchor="ctr"/>
          <a:lstStyle/>
          <a:p>
            <a:pPr algn="ctr" indent="0" marL="0">
              <a:buNone/>
            </a:pPr>
            <a:r>
              <a:rPr lang="en-US" sz="1300" dirty="0">
                <a:solidFill>
                  <a:srgbClr val="5CC0DD"/>
                </a:solidFill>
                <a:latin typeface="Consolas" pitchFamily="34" charset="0"/>
                <a:ea typeface="Consolas" pitchFamily="34" charset="-122"/>
                <a:cs typeface="Consolas" pitchFamily="34" charset="-120"/>
              </a:rPr>
              <a:t>3</a:t>
            </a:r>
            <a:endParaRPr lang="en-US" sz="1300" dirty="0"/>
          </a:p>
        </p:txBody>
      </p:sp>
      <p:sp>
        <p:nvSpPr>
          <p:cNvPr id="21" name="Shape 19"/>
          <p:cNvSpPr/>
          <p:nvPr/>
        </p:nvSpPr>
        <p:spPr>
          <a:xfrm>
            <a:off x="6190488" y="3282696"/>
            <a:ext cx="0" cy="146304"/>
          </a:xfrm>
          <a:prstGeom prst="line">
            <a:avLst/>
          </a:prstGeom>
          <a:noFill/>
          <a:ln w="12700">
            <a:solidFill>
              <a:srgbClr val="2A3A46"/>
            </a:solidFill>
            <a:prstDash val="solid"/>
          </a:ln>
        </p:spPr>
      </p:sp>
      <p:sp>
        <p:nvSpPr>
          <p:cNvPr id="22" name="Shape 20"/>
          <p:cNvSpPr/>
          <p:nvPr/>
        </p:nvSpPr>
        <p:spPr>
          <a:xfrm>
            <a:off x="6583680" y="2862072"/>
            <a:ext cx="5056632" cy="438912"/>
          </a:xfrm>
          <a:prstGeom prst="roundRect">
            <a:avLst>
              <a:gd name="adj" fmla="val 16667"/>
            </a:avLst>
          </a:prstGeom>
          <a:solidFill>
            <a:srgbClr val="16212A"/>
          </a:solidFill>
          <a:ln w="9525">
            <a:solidFill>
              <a:srgbClr val="2A3A46"/>
            </a:solidFill>
            <a:prstDash val="solid"/>
          </a:ln>
        </p:spPr>
      </p:sp>
      <p:sp>
        <p:nvSpPr>
          <p:cNvPr id="23" name="Text 21"/>
          <p:cNvSpPr txBox="1"/>
          <p:nvPr/>
        </p:nvSpPr>
        <p:spPr>
          <a:xfrm>
            <a:off x="6784848" y="2935224"/>
            <a:ext cx="4754880" cy="292608"/>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Experiment A: normal backup</a:t>
            </a:r>
            <a:endParaRPr lang="en-US" sz="1500" dirty="0"/>
          </a:p>
        </p:txBody>
      </p:sp>
      <p:sp>
        <p:nvSpPr>
          <p:cNvPr id="24" name="Shape 22"/>
          <p:cNvSpPr/>
          <p:nvPr/>
        </p:nvSpPr>
        <p:spPr>
          <a:xfrm>
            <a:off x="5989320" y="3429000"/>
            <a:ext cx="402336" cy="402336"/>
          </a:xfrm>
          <a:prstGeom prst="ellipse">
            <a:avLst/>
          </a:prstGeom>
          <a:solidFill>
            <a:srgbClr val="1C2A35"/>
          </a:solidFill>
          <a:ln w="15875">
            <a:solidFill>
              <a:srgbClr val="E3EBF0"/>
            </a:solidFill>
            <a:prstDash val="solid"/>
          </a:ln>
        </p:spPr>
      </p:sp>
      <p:sp>
        <p:nvSpPr>
          <p:cNvPr id="25" name="Text 23"/>
          <p:cNvSpPr txBox="1"/>
          <p:nvPr/>
        </p:nvSpPr>
        <p:spPr>
          <a:xfrm>
            <a:off x="5989320" y="3429000"/>
            <a:ext cx="402336" cy="402336"/>
          </a:xfrm>
          <a:prstGeom prst="rect">
            <a:avLst/>
          </a:prstGeom>
          <a:noFill/>
          <a:ln/>
        </p:spPr>
        <p:txBody>
          <a:bodyPr wrap="square" lIns="0" tIns="0" rIns="0" bIns="0" rtlCol="0" anchor="ctr"/>
          <a:lstStyle/>
          <a:p>
            <a:pPr algn="ctr" indent="0" marL="0">
              <a:buNone/>
            </a:pPr>
            <a:r>
              <a:rPr lang="en-US" sz="1300" dirty="0">
                <a:solidFill>
                  <a:srgbClr val="E3EBF0"/>
                </a:solidFill>
                <a:latin typeface="Consolas" pitchFamily="34" charset="0"/>
                <a:ea typeface="Consolas" pitchFamily="34" charset="-122"/>
                <a:cs typeface="Consolas" pitchFamily="34" charset="-120"/>
              </a:rPr>
              <a:t>4</a:t>
            </a:r>
            <a:endParaRPr lang="en-US" sz="1300" dirty="0"/>
          </a:p>
        </p:txBody>
      </p:sp>
      <p:sp>
        <p:nvSpPr>
          <p:cNvPr id="26" name="Shape 24"/>
          <p:cNvSpPr/>
          <p:nvPr/>
        </p:nvSpPr>
        <p:spPr>
          <a:xfrm>
            <a:off x="6190488" y="3831336"/>
            <a:ext cx="0" cy="146304"/>
          </a:xfrm>
          <a:prstGeom prst="line">
            <a:avLst/>
          </a:prstGeom>
          <a:noFill/>
          <a:ln w="12700">
            <a:solidFill>
              <a:srgbClr val="2A3A46"/>
            </a:solidFill>
            <a:prstDash val="solid"/>
          </a:ln>
        </p:spPr>
      </p:sp>
      <p:sp>
        <p:nvSpPr>
          <p:cNvPr id="27" name="Shape 25"/>
          <p:cNvSpPr/>
          <p:nvPr/>
        </p:nvSpPr>
        <p:spPr>
          <a:xfrm>
            <a:off x="6583680" y="3410712"/>
            <a:ext cx="5056632" cy="438912"/>
          </a:xfrm>
          <a:prstGeom prst="roundRect">
            <a:avLst>
              <a:gd name="adj" fmla="val 16667"/>
            </a:avLst>
          </a:prstGeom>
          <a:solidFill>
            <a:srgbClr val="16212A"/>
          </a:solidFill>
          <a:ln w="9525">
            <a:solidFill>
              <a:srgbClr val="2A3A46"/>
            </a:solidFill>
            <a:prstDash val="solid"/>
          </a:ln>
        </p:spPr>
      </p:sp>
      <p:sp>
        <p:nvSpPr>
          <p:cNvPr id="28" name="Text 26"/>
          <p:cNvSpPr txBox="1"/>
          <p:nvPr/>
        </p:nvSpPr>
        <p:spPr>
          <a:xfrm>
            <a:off x="6784848" y="3483864"/>
            <a:ext cx="4754880" cy="292608"/>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Collect evidence for A</a:t>
            </a:r>
            <a:endParaRPr lang="en-US" sz="1500" dirty="0"/>
          </a:p>
        </p:txBody>
      </p:sp>
      <p:sp>
        <p:nvSpPr>
          <p:cNvPr id="29" name="Shape 27"/>
          <p:cNvSpPr/>
          <p:nvPr/>
        </p:nvSpPr>
        <p:spPr>
          <a:xfrm>
            <a:off x="5989320" y="3977640"/>
            <a:ext cx="402336" cy="402336"/>
          </a:xfrm>
          <a:prstGeom prst="ellipse">
            <a:avLst/>
          </a:prstGeom>
          <a:solidFill>
            <a:srgbClr val="1C2A35"/>
          </a:solidFill>
          <a:ln w="15875">
            <a:solidFill>
              <a:srgbClr val="F08B78"/>
            </a:solidFill>
            <a:prstDash val="solid"/>
          </a:ln>
        </p:spPr>
      </p:sp>
      <p:sp>
        <p:nvSpPr>
          <p:cNvPr id="30" name="Text 28"/>
          <p:cNvSpPr txBox="1"/>
          <p:nvPr/>
        </p:nvSpPr>
        <p:spPr>
          <a:xfrm>
            <a:off x="5989320" y="3977640"/>
            <a:ext cx="402336" cy="402336"/>
          </a:xfrm>
          <a:prstGeom prst="rect">
            <a:avLst/>
          </a:prstGeom>
          <a:noFill/>
          <a:ln/>
        </p:spPr>
        <p:txBody>
          <a:bodyPr wrap="square" lIns="0" tIns="0" rIns="0" bIns="0" rtlCol="0" anchor="ctr"/>
          <a:lstStyle/>
          <a:p>
            <a:pPr algn="ctr" indent="0" marL="0">
              <a:buNone/>
            </a:pPr>
            <a:r>
              <a:rPr lang="en-US" sz="1300" dirty="0">
                <a:solidFill>
                  <a:srgbClr val="F08B78"/>
                </a:solidFill>
                <a:latin typeface="Consolas" pitchFamily="34" charset="0"/>
                <a:ea typeface="Consolas" pitchFamily="34" charset="-122"/>
                <a:cs typeface="Consolas" pitchFamily="34" charset="-120"/>
              </a:rPr>
              <a:t>5</a:t>
            </a:r>
            <a:endParaRPr lang="en-US" sz="1300" dirty="0"/>
          </a:p>
        </p:txBody>
      </p:sp>
      <p:sp>
        <p:nvSpPr>
          <p:cNvPr id="31" name="Shape 29"/>
          <p:cNvSpPr/>
          <p:nvPr/>
        </p:nvSpPr>
        <p:spPr>
          <a:xfrm>
            <a:off x="6190488" y="4379976"/>
            <a:ext cx="0" cy="146304"/>
          </a:xfrm>
          <a:prstGeom prst="line">
            <a:avLst/>
          </a:prstGeom>
          <a:noFill/>
          <a:ln w="12700">
            <a:solidFill>
              <a:srgbClr val="2A3A46"/>
            </a:solidFill>
            <a:prstDash val="solid"/>
          </a:ln>
        </p:spPr>
      </p:sp>
      <p:sp>
        <p:nvSpPr>
          <p:cNvPr id="32" name="Shape 30"/>
          <p:cNvSpPr/>
          <p:nvPr/>
        </p:nvSpPr>
        <p:spPr>
          <a:xfrm>
            <a:off x="6583680" y="3959352"/>
            <a:ext cx="5056632" cy="438912"/>
          </a:xfrm>
          <a:prstGeom prst="roundRect">
            <a:avLst>
              <a:gd name="adj" fmla="val 16667"/>
            </a:avLst>
          </a:prstGeom>
          <a:solidFill>
            <a:srgbClr val="16212A"/>
          </a:solidFill>
          <a:ln w="9525">
            <a:solidFill>
              <a:srgbClr val="2A3A46"/>
            </a:solidFill>
            <a:prstDash val="solid"/>
          </a:ln>
        </p:spPr>
      </p:sp>
      <p:sp>
        <p:nvSpPr>
          <p:cNvPr id="33" name="Text 31"/>
          <p:cNvSpPr txBox="1"/>
          <p:nvPr/>
        </p:nvSpPr>
        <p:spPr>
          <a:xfrm>
            <a:off x="6784848" y="4032504"/>
            <a:ext cx="4754880" cy="292608"/>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Experiment B: simulated insider</a:t>
            </a:r>
            <a:endParaRPr lang="en-US" sz="1500" dirty="0"/>
          </a:p>
        </p:txBody>
      </p:sp>
      <p:sp>
        <p:nvSpPr>
          <p:cNvPr id="34" name="Shape 32"/>
          <p:cNvSpPr/>
          <p:nvPr/>
        </p:nvSpPr>
        <p:spPr>
          <a:xfrm>
            <a:off x="5989320" y="4526280"/>
            <a:ext cx="402336" cy="402336"/>
          </a:xfrm>
          <a:prstGeom prst="ellipse">
            <a:avLst/>
          </a:prstGeom>
          <a:solidFill>
            <a:srgbClr val="1C2A35"/>
          </a:solidFill>
          <a:ln w="15875">
            <a:solidFill>
              <a:srgbClr val="E3EBF0"/>
            </a:solidFill>
            <a:prstDash val="solid"/>
          </a:ln>
        </p:spPr>
      </p:sp>
      <p:sp>
        <p:nvSpPr>
          <p:cNvPr id="35" name="Text 33"/>
          <p:cNvSpPr txBox="1"/>
          <p:nvPr/>
        </p:nvSpPr>
        <p:spPr>
          <a:xfrm>
            <a:off x="5989320" y="4526280"/>
            <a:ext cx="402336" cy="402336"/>
          </a:xfrm>
          <a:prstGeom prst="rect">
            <a:avLst/>
          </a:prstGeom>
          <a:noFill/>
          <a:ln/>
        </p:spPr>
        <p:txBody>
          <a:bodyPr wrap="square" lIns="0" tIns="0" rIns="0" bIns="0" rtlCol="0" anchor="ctr"/>
          <a:lstStyle/>
          <a:p>
            <a:pPr algn="ctr" indent="0" marL="0">
              <a:buNone/>
            </a:pPr>
            <a:r>
              <a:rPr lang="en-US" sz="1300" dirty="0">
                <a:solidFill>
                  <a:srgbClr val="E3EBF0"/>
                </a:solidFill>
                <a:latin typeface="Consolas" pitchFamily="34" charset="0"/>
                <a:ea typeface="Consolas" pitchFamily="34" charset="-122"/>
                <a:cs typeface="Consolas" pitchFamily="34" charset="-120"/>
              </a:rPr>
              <a:t>6</a:t>
            </a:r>
            <a:endParaRPr lang="en-US" sz="1300" dirty="0"/>
          </a:p>
        </p:txBody>
      </p:sp>
      <p:sp>
        <p:nvSpPr>
          <p:cNvPr id="36" name="Shape 34"/>
          <p:cNvSpPr/>
          <p:nvPr/>
        </p:nvSpPr>
        <p:spPr>
          <a:xfrm>
            <a:off x="6190488" y="4928616"/>
            <a:ext cx="0" cy="146304"/>
          </a:xfrm>
          <a:prstGeom prst="line">
            <a:avLst/>
          </a:prstGeom>
          <a:noFill/>
          <a:ln w="12700">
            <a:solidFill>
              <a:srgbClr val="2A3A46"/>
            </a:solidFill>
            <a:prstDash val="solid"/>
          </a:ln>
        </p:spPr>
      </p:sp>
      <p:sp>
        <p:nvSpPr>
          <p:cNvPr id="37" name="Shape 35"/>
          <p:cNvSpPr/>
          <p:nvPr/>
        </p:nvSpPr>
        <p:spPr>
          <a:xfrm>
            <a:off x="6583680" y="4507992"/>
            <a:ext cx="5056632" cy="438912"/>
          </a:xfrm>
          <a:prstGeom prst="roundRect">
            <a:avLst>
              <a:gd name="adj" fmla="val 16667"/>
            </a:avLst>
          </a:prstGeom>
          <a:solidFill>
            <a:srgbClr val="16212A"/>
          </a:solidFill>
          <a:ln w="9525">
            <a:solidFill>
              <a:srgbClr val="2A3A46"/>
            </a:solidFill>
            <a:prstDash val="solid"/>
          </a:ln>
        </p:spPr>
      </p:sp>
      <p:sp>
        <p:nvSpPr>
          <p:cNvPr id="38" name="Text 36"/>
          <p:cNvSpPr txBox="1"/>
          <p:nvPr/>
        </p:nvSpPr>
        <p:spPr>
          <a:xfrm>
            <a:off x="6784848" y="4581144"/>
            <a:ext cx="4754880" cy="292608"/>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Collect evidence for B</a:t>
            </a:r>
            <a:endParaRPr lang="en-US" sz="1500" dirty="0"/>
          </a:p>
        </p:txBody>
      </p:sp>
      <p:sp>
        <p:nvSpPr>
          <p:cNvPr id="39" name="Shape 37"/>
          <p:cNvSpPr/>
          <p:nvPr/>
        </p:nvSpPr>
        <p:spPr>
          <a:xfrm>
            <a:off x="5989320" y="5074920"/>
            <a:ext cx="402336" cy="402336"/>
          </a:xfrm>
          <a:prstGeom prst="ellipse">
            <a:avLst/>
          </a:prstGeom>
          <a:solidFill>
            <a:srgbClr val="1C2A35"/>
          </a:solidFill>
          <a:ln w="15875">
            <a:solidFill>
              <a:srgbClr val="F0C04A"/>
            </a:solidFill>
            <a:prstDash val="solid"/>
          </a:ln>
        </p:spPr>
      </p:sp>
      <p:sp>
        <p:nvSpPr>
          <p:cNvPr id="40" name="Text 38"/>
          <p:cNvSpPr txBox="1"/>
          <p:nvPr/>
        </p:nvSpPr>
        <p:spPr>
          <a:xfrm>
            <a:off x="5989320" y="5074920"/>
            <a:ext cx="402336" cy="402336"/>
          </a:xfrm>
          <a:prstGeom prst="rect">
            <a:avLst/>
          </a:prstGeom>
          <a:noFill/>
          <a:ln/>
        </p:spPr>
        <p:txBody>
          <a:bodyPr wrap="square" lIns="0" tIns="0" rIns="0" bIns="0" rtlCol="0" anchor="ctr"/>
          <a:lstStyle/>
          <a:p>
            <a:pPr algn="ctr" indent="0" marL="0">
              <a:buNone/>
            </a:pPr>
            <a:r>
              <a:rPr lang="en-US" sz="1300" dirty="0">
                <a:solidFill>
                  <a:srgbClr val="F0C04A"/>
                </a:solidFill>
                <a:latin typeface="Consolas" pitchFamily="34" charset="0"/>
                <a:ea typeface="Consolas" pitchFamily="34" charset="-122"/>
                <a:cs typeface="Consolas" pitchFamily="34" charset="-120"/>
              </a:rPr>
              <a:t>7</a:t>
            </a:r>
            <a:endParaRPr lang="en-US" sz="1300" dirty="0"/>
          </a:p>
        </p:txBody>
      </p:sp>
      <p:sp>
        <p:nvSpPr>
          <p:cNvPr id="41" name="Shape 39"/>
          <p:cNvSpPr/>
          <p:nvPr/>
        </p:nvSpPr>
        <p:spPr>
          <a:xfrm>
            <a:off x="6190488" y="5477256"/>
            <a:ext cx="0" cy="146304"/>
          </a:xfrm>
          <a:prstGeom prst="line">
            <a:avLst/>
          </a:prstGeom>
          <a:noFill/>
          <a:ln w="12700">
            <a:solidFill>
              <a:srgbClr val="2A3A46"/>
            </a:solidFill>
            <a:prstDash val="solid"/>
          </a:ln>
        </p:spPr>
      </p:sp>
      <p:sp>
        <p:nvSpPr>
          <p:cNvPr id="42" name="Shape 40"/>
          <p:cNvSpPr/>
          <p:nvPr/>
        </p:nvSpPr>
        <p:spPr>
          <a:xfrm>
            <a:off x="6583680" y="5056632"/>
            <a:ext cx="5056632" cy="438912"/>
          </a:xfrm>
          <a:prstGeom prst="roundRect">
            <a:avLst>
              <a:gd name="adj" fmla="val 16667"/>
            </a:avLst>
          </a:prstGeom>
          <a:solidFill>
            <a:srgbClr val="16212A"/>
          </a:solidFill>
          <a:ln w="9525">
            <a:solidFill>
              <a:srgbClr val="2A3A46"/>
            </a:solidFill>
            <a:prstDash val="solid"/>
          </a:ln>
        </p:spPr>
      </p:sp>
      <p:sp>
        <p:nvSpPr>
          <p:cNvPr id="43" name="Text 41"/>
          <p:cNvSpPr txBox="1"/>
          <p:nvPr/>
        </p:nvSpPr>
        <p:spPr>
          <a:xfrm>
            <a:off x="6784848" y="5129784"/>
            <a:ext cx="4754880" cy="292608"/>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Analyse: H1 to H4</a:t>
            </a:r>
            <a:endParaRPr lang="en-US" sz="1500" dirty="0"/>
          </a:p>
        </p:txBody>
      </p:sp>
      <p:sp>
        <p:nvSpPr>
          <p:cNvPr id="44" name="Shape 42"/>
          <p:cNvSpPr/>
          <p:nvPr/>
        </p:nvSpPr>
        <p:spPr>
          <a:xfrm>
            <a:off x="5989320" y="5623560"/>
            <a:ext cx="402336" cy="402336"/>
          </a:xfrm>
          <a:prstGeom prst="ellipse">
            <a:avLst/>
          </a:prstGeom>
          <a:solidFill>
            <a:srgbClr val="1C2A35"/>
          </a:solidFill>
          <a:ln w="15875">
            <a:solidFill>
              <a:srgbClr val="6FCF97"/>
            </a:solidFill>
            <a:prstDash val="solid"/>
          </a:ln>
        </p:spPr>
      </p:sp>
      <p:sp>
        <p:nvSpPr>
          <p:cNvPr id="45" name="Text 43"/>
          <p:cNvSpPr txBox="1"/>
          <p:nvPr/>
        </p:nvSpPr>
        <p:spPr>
          <a:xfrm>
            <a:off x="5989320" y="5623560"/>
            <a:ext cx="402336" cy="402336"/>
          </a:xfrm>
          <a:prstGeom prst="rect">
            <a:avLst/>
          </a:prstGeom>
          <a:noFill/>
          <a:ln/>
        </p:spPr>
        <p:txBody>
          <a:bodyPr wrap="square" lIns="0" tIns="0" rIns="0" bIns="0" rtlCol="0" anchor="ctr"/>
          <a:lstStyle/>
          <a:p>
            <a:pPr algn="ctr" indent="0" marL="0">
              <a:buNone/>
            </a:pPr>
            <a:r>
              <a:rPr lang="en-US" sz="1300" dirty="0">
                <a:solidFill>
                  <a:srgbClr val="6FCF97"/>
                </a:solidFill>
                <a:latin typeface="Consolas" pitchFamily="34" charset="0"/>
                <a:ea typeface="Consolas" pitchFamily="34" charset="-122"/>
                <a:cs typeface="Consolas" pitchFamily="34" charset="-120"/>
              </a:rPr>
              <a:t>8</a:t>
            </a:r>
            <a:endParaRPr lang="en-US" sz="1300" dirty="0"/>
          </a:p>
        </p:txBody>
      </p:sp>
      <p:sp>
        <p:nvSpPr>
          <p:cNvPr id="46" name="Shape 44"/>
          <p:cNvSpPr/>
          <p:nvPr/>
        </p:nvSpPr>
        <p:spPr>
          <a:xfrm>
            <a:off x="6583680" y="5605272"/>
            <a:ext cx="5056632" cy="438912"/>
          </a:xfrm>
          <a:prstGeom prst="roundRect">
            <a:avLst>
              <a:gd name="adj" fmla="val 16667"/>
            </a:avLst>
          </a:prstGeom>
          <a:solidFill>
            <a:srgbClr val="16212A"/>
          </a:solidFill>
          <a:ln w="9525">
            <a:solidFill>
              <a:srgbClr val="2A3A46"/>
            </a:solidFill>
            <a:prstDash val="solid"/>
          </a:ln>
        </p:spPr>
      </p:sp>
      <p:sp>
        <p:nvSpPr>
          <p:cNvPr id="47" name="Text 45"/>
          <p:cNvSpPr txBox="1"/>
          <p:nvPr/>
        </p:nvSpPr>
        <p:spPr>
          <a:xfrm>
            <a:off x="6784848" y="5678424"/>
            <a:ext cx="4754880" cy="292608"/>
          </a:xfrm>
          <a:prstGeom prst="rect">
            <a:avLst/>
          </a:prstGeom>
          <a:noFill/>
          <a:ln/>
        </p:spPr>
        <p:txBody>
          <a:bodyPr wrap="square" lIns="0" tIns="0" rIns="0" bIns="0" rtlCol="0" anchor="t"/>
          <a:lstStyle/>
          <a:p>
            <a:pPr indent="0" marL="0">
              <a:buNone/>
            </a:pPr>
            <a:r>
              <a:rPr lang="en-US" sz="1500" dirty="0">
                <a:solidFill>
                  <a:srgbClr val="E3EBF0"/>
                </a:solidFill>
                <a:latin typeface="Calibri" pitchFamily="34" charset="0"/>
                <a:ea typeface="Calibri" pitchFamily="34" charset="-122"/>
                <a:cs typeface="Calibri" pitchFamily="34" charset="-120"/>
              </a:rPr>
              <a:t>Clean up, open dashboard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09 · THE REAL RUN · 21 OCTOBER 2026</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What Windows actually recorded on the project laptop</a:t>
            </a:r>
            <a:endParaRPr lang="en-US" sz="3000" dirty="0"/>
          </a:p>
        </p:txBody>
      </p:sp>
      <p:sp>
        <p:nvSpPr>
          <p:cNvPr id="4" name="Text 2"/>
          <p:cNvSpPr txBox="1"/>
          <p:nvPr/>
        </p:nvSpPr>
        <p:spPr>
          <a:xfrm>
            <a:off x="548640" y="1600200"/>
            <a:ext cx="11094415" cy="320040"/>
          </a:xfrm>
          <a:prstGeom prst="rect">
            <a:avLst/>
          </a:prstGeom>
          <a:noFill/>
          <a:ln/>
        </p:spPr>
        <p:txBody>
          <a:bodyPr wrap="square" lIns="0" tIns="0" rIns="0" bIns="0" rtlCol="0" anchor="t"/>
          <a:lstStyle/>
          <a:p>
            <a:pPr indent="0" marL="0">
              <a:buNone/>
            </a:pPr>
            <a:r>
              <a:rPr lang="en-US" sz="1400" dirty="0">
                <a:solidFill>
                  <a:srgbClr val="94A6B3"/>
                </a:solidFill>
                <a:latin typeface="Calibri" pitchFamily="34" charset="0"/>
                <a:ea typeface="Calibri" pitchFamily="34" charset="-122"/>
                <a:cs typeface="Calibri" pitchFamily="34" charset="-120"/>
              </a:rPr>
              <a:t>Seagate Expansion external USB disk (D:)  ·  laptop LAPTOP-MKT5QBHD  ·  user Gary</a:t>
            </a:r>
            <a:endParaRPr lang="en-US" sz="1400" dirty="0"/>
          </a:p>
        </p:txBody>
      </p:sp>
      <p:sp>
        <p:nvSpPr>
          <p:cNvPr id="5" name="Shape 3"/>
          <p:cNvSpPr/>
          <p:nvPr/>
        </p:nvSpPr>
        <p:spPr>
          <a:xfrm>
            <a:off x="548640" y="2103120"/>
            <a:ext cx="5394960" cy="4023360"/>
          </a:xfrm>
          <a:prstGeom prst="roundRect">
            <a:avLst>
              <a:gd name="adj" fmla="val 1818"/>
            </a:avLst>
          </a:prstGeom>
          <a:solidFill>
            <a:srgbClr val="16212A"/>
          </a:solidFill>
          <a:ln w="9525">
            <a:solidFill>
              <a:srgbClr val="2A3A46"/>
            </a:solidFill>
            <a:prstDash val="solid"/>
          </a:ln>
        </p:spPr>
      </p:sp>
      <p:sp>
        <p:nvSpPr>
          <p:cNvPr id="6" name="Shape 4"/>
          <p:cNvSpPr/>
          <p:nvPr/>
        </p:nvSpPr>
        <p:spPr>
          <a:xfrm>
            <a:off x="868680" y="2331720"/>
            <a:ext cx="1417320" cy="274320"/>
          </a:xfrm>
          <a:prstGeom prst="roundRect">
            <a:avLst>
              <a:gd name="adj" fmla="val 16667"/>
            </a:avLst>
          </a:prstGeom>
          <a:solidFill>
            <a:srgbClr val="5CC0DD">
              <a:alpha val="18000"/>
            </a:srgbClr>
          </a:solidFill>
          <a:ln w="9525">
            <a:solidFill>
              <a:srgbClr val="5CC0DD"/>
            </a:solidFill>
            <a:prstDash val="solid"/>
          </a:ln>
        </p:spPr>
      </p:sp>
      <p:sp>
        <p:nvSpPr>
          <p:cNvPr id="7" name="Text 5"/>
          <p:cNvSpPr txBox="1"/>
          <p:nvPr/>
        </p:nvSpPr>
        <p:spPr>
          <a:xfrm>
            <a:off x="868680" y="2331720"/>
            <a:ext cx="1417320" cy="274320"/>
          </a:xfrm>
          <a:prstGeom prst="rect">
            <a:avLst/>
          </a:prstGeom>
          <a:noFill/>
          <a:ln/>
        </p:spPr>
        <p:txBody>
          <a:bodyPr wrap="square" lIns="0" tIns="0" rIns="0" bIns="0" rtlCol="0" anchor="ctr"/>
          <a:lstStyle/>
          <a:p>
            <a:pPr algn="ctr" indent="0" marL="0">
              <a:buNone/>
            </a:pPr>
            <a:r>
              <a:rPr lang="en-US" sz="1000" dirty="0">
                <a:solidFill>
                  <a:srgbClr val="5CC0DD"/>
                </a:solidFill>
                <a:latin typeface="Consolas" pitchFamily="34" charset="0"/>
                <a:ea typeface="Consolas" pitchFamily="34" charset="-122"/>
                <a:cs typeface="Consolas" pitchFamily="34" charset="-120"/>
              </a:rPr>
              <a:t>EXPERIMENT A</a:t>
            </a:r>
            <a:endParaRPr lang="en-US" sz="1000" dirty="0"/>
          </a:p>
        </p:txBody>
      </p:sp>
      <p:sp>
        <p:nvSpPr>
          <p:cNvPr id="8" name="Shape 6"/>
          <p:cNvSpPr/>
          <p:nvPr/>
        </p:nvSpPr>
        <p:spPr>
          <a:xfrm>
            <a:off x="1078992" y="2907792"/>
            <a:ext cx="0" cy="1444752"/>
          </a:xfrm>
          <a:prstGeom prst="line">
            <a:avLst/>
          </a:prstGeom>
          <a:noFill/>
          <a:ln w="19050">
            <a:solidFill>
              <a:srgbClr val="2A3A46"/>
            </a:solidFill>
            <a:prstDash val="solid"/>
          </a:ln>
        </p:spPr>
      </p:sp>
      <p:sp>
        <p:nvSpPr>
          <p:cNvPr id="9" name="Shape 7"/>
          <p:cNvSpPr/>
          <p:nvPr/>
        </p:nvSpPr>
        <p:spPr>
          <a:xfrm>
            <a:off x="996696" y="2852928"/>
            <a:ext cx="164592" cy="164592"/>
          </a:xfrm>
          <a:prstGeom prst="ellipse">
            <a:avLst/>
          </a:prstGeom>
          <a:solidFill>
            <a:srgbClr val="5CC0DD"/>
          </a:solidFill>
          <a:ln w="12700">
            <a:solidFill>
              <a:srgbClr val="5CC0DD"/>
            </a:solidFill>
            <a:prstDash val="solid"/>
          </a:ln>
        </p:spPr>
      </p:sp>
      <p:sp>
        <p:nvSpPr>
          <p:cNvPr id="10" name="Text 8"/>
          <p:cNvSpPr txBox="1"/>
          <p:nvPr/>
        </p:nvSpPr>
        <p:spPr>
          <a:xfrm>
            <a:off x="1325880" y="2788920"/>
            <a:ext cx="960120" cy="292608"/>
          </a:xfrm>
          <a:prstGeom prst="rect">
            <a:avLst/>
          </a:prstGeom>
          <a:noFill/>
          <a:ln/>
        </p:spPr>
        <p:txBody>
          <a:bodyPr wrap="square" lIns="0" tIns="0" rIns="0" bIns="0" rtlCol="0" anchor="t"/>
          <a:lstStyle/>
          <a:p>
            <a:pPr indent="0" marL="0">
              <a:buNone/>
            </a:pPr>
            <a:r>
              <a:rPr lang="en-US" sz="1300" dirty="0">
                <a:solidFill>
                  <a:srgbClr val="94A6B3"/>
                </a:solidFill>
                <a:latin typeface="Consolas" pitchFamily="34" charset="0"/>
                <a:ea typeface="Consolas" pitchFamily="34" charset="-122"/>
                <a:cs typeface="Consolas" pitchFamily="34" charset="-120"/>
              </a:rPr>
              <a:t>21:02:07</a:t>
            </a:r>
            <a:endParaRPr lang="en-US" sz="1300" dirty="0"/>
          </a:p>
        </p:txBody>
      </p:sp>
      <p:sp>
        <p:nvSpPr>
          <p:cNvPr id="11" name="Text 9"/>
          <p:cNvSpPr txBox="1"/>
          <p:nvPr/>
        </p:nvSpPr>
        <p:spPr>
          <a:xfrm>
            <a:off x="2331720" y="2788920"/>
            <a:ext cx="3474720" cy="5029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USB disk connected</a:t>
            </a:r>
            <a:endParaRPr lang="en-US" sz="1400" dirty="0"/>
          </a:p>
        </p:txBody>
      </p:sp>
      <p:sp>
        <p:nvSpPr>
          <p:cNvPr id="12" name="Shape 10"/>
          <p:cNvSpPr/>
          <p:nvPr/>
        </p:nvSpPr>
        <p:spPr>
          <a:xfrm>
            <a:off x="996696" y="3456432"/>
            <a:ext cx="164592" cy="164592"/>
          </a:xfrm>
          <a:prstGeom prst="ellipse">
            <a:avLst/>
          </a:prstGeom>
          <a:solidFill>
            <a:srgbClr val="F0C04A"/>
          </a:solidFill>
          <a:ln w="12700">
            <a:solidFill>
              <a:srgbClr val="F0C04A"/>
            </a:solidFill>
            <a:prstDash val="solid"/>
          </a:ln>
        </p:spPr>
      </p:sp>
      <p:sp>
        <p:nvSpPr>
          <p:cNvPr id="13" name="Text 11"/>
          <p:cNvSpPr txBox="1"/>
          <p:nvPr/>
        </p:nvSpPr>
        <p:spPr>
          <a:xfrm>
            <a:off x="1325880" y="3392424"/>
            <a:ext cx="960120" cy="292608"/>
          </a:xfrm>
          <a:prstGeom prst="rect">
            <a:avLst/>
          </a:prstGeom>
          <a:noFill/>
          <a:ln/>
        </p:spPr>
        <p:txBody>
          <a:bodyPr wrap="square" lIns="0" tIns="0" rIns="0" bIns="0" rtlCol="0" anchor="t"/>
          <a:lstStyle/>
          <a:p>
            <a:pPr indent="0" marL="0">
              <a:buNone/>
            </a:pPr>
            <a:r>
              <a:rPr lang="en-US" sz="1300" dirty="0">
                <a:solidFill>
                  <a:srgbClr val="94A6B3"/>
                </a:solidFill>
                <a:latin typeface="Consolas" pitchFamily="34" charset="0"/>
                <a:ea typeface="Consolas" pitchFamily="34" charset="-122"/>
                <a:cs typeface="Consolas" pitchFamily="34" charset="-120"/>
              </a:rPr>
              <a:t>21:03:08</a:t>
            </a:r>
            <a:endParaRPr lang="en-US" sz="1300" dirty="0"/>
          </a:p>
        </p:txBody>
      </p:sp>
      <p:sp>
        <p:nvSpPr>
          <p:cNvPr id="14" name="Text 12"/>
          <p:cNvSpPr txBox="1"/>
          <p:nvPr/>
        </p:nvSpPr>
        <p:spPr>
          <a:xfrm>
            <a:off x="2331720" y="3392424"/>
            <a:ext cx="3474720" cy="5029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Readme.txt opened (shortcut)</a:t>
            </a:r>
            <a:endParaRPr lang="en-US" sz="1400" dirty="0"/>
          </a:p>
        </p:txBody>
      </p:sp>
      <p:sp>
        <p:nvSpPr>
          <p:cNvPr id="15" name="Shape 13"/>
          <p:cNvSpPr/>
          <p:nvPr/>
        </p:nvSpPr>
        <p:spPr>
          <a:xfrm>
            <a:off x="996696" y="4059936"/>
            <a:ext cx="164592" cy="164592"/>
          </a:xfrm>
          <a:prstGeom prst="ellipse">
            <a:avLst/>
          </a:prstGeom>
          <a:solidFill>
            <a:srgbClr val="F0C04A"/>
          </a:solidFill>
          <a:ln w="12700">
            <a:solidFill>
              <a:srgbClr val="F0C04A"/>
            </a:solidFill>
            <a:prstDash val="solid"/>
          </a:ln>
        </p:spPr>
      </p:sp>
      <p:sp>
        <p:nvSpPr>
          <p:cNvPr id="16" name="Text 14"/>
          <p:cNvSpPr txBox="1"/>
          <p:nvPr/>
        </p:nvSpPr>
        <p:spPr>
          <a:xfrm>
            <a:off x="1325880" y="3995928"/>
            <a:ext cx="960120" cy="292608"/>
          </a:xfrm>
          <a:prstGeom prst="rect">
            <a:avLst/>
          </a:prstGeom>
          <a:noFill/>
          <a:ln/>
        </p:spPr>
        <p:txBody>
          <a:bodyPr wrap="square" lIns="0" tIns="0" rIns="0" bIns="0" rtlCol="0" anchor="t"/>
          <a:lstStyle/>
          <a:p>
            <a:pPr indent="0" marL="0">
              <a:buNone/>
            </a:pPr>
            <a:r>
              <a:rPr lang="en-US" sz="1300" dirty="0">
                <a:solidFill>
                  <a:srgbClr val="94A6B3"/>
                </a:solidFill>
                <a:latin typeface="Consolas" pitchFamily="34" charset="0"/>
                <a:ea typeface="Consolas" pitchFamily="34" charset="-122"/>
                <a:cs typeface="Consolas" pitchFamily="34" charset="-120"/>
              </a:rPr>
              <a:t>21:03:08</a:t>
            </a:r>
            <a:endParaRPr lang="en-US" sz="1300" dirty="0"/>
          </a:p>
        </p:txBody>
      </p:sp>
      <p:sp>
        <p:nvSpPr>
          <p:cNvPr id="17" name="Text 15"/>
          <p:cNvSpPr txBox="1"/>
          <p:nvPr/>
        </p:nvSpPr>
        <p:spPr>
          <a:xfrm>
            <a:off x="2331720" y="3995928"/>
            <a:ext cx="3474720" cy="5029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Readme.txt written to D:\Backup</a:t>
            </a:r>
            <a:endParaRPr lang="en-US" sz="1400" dirty="0"/>
          </a:p>
        </p:txBody>
      </p:sp>
      <p:sp>
        <p:nvSpPr>
          <p:cNvPr id="18" name="Shape 16"/>
          <p:cNvSpPr/>
          <p:nvPr/>
        </p:nvSpPr>
        <p:spPr>
          <a:xfrm>
            <a:off x="6190488" y="2103120"/>
            <a:ext cx="5394960" cy="4023360"/>
          </a:xfrm>
          <a:prstGeom prst="roundRect">
            <a:avLst>
              <a:gd name="adj" fmla="val 1818"/>
            </a:avLst>
          </a:prstGeom>
          <a:solidFill>
            <a:srgbClr val="16212A"/>
          </a:solidFill>
          <a:ln w="9525">
            <a:solidFill>
              <a:srgbClr val="2A3A46"/>
            </a:solidFill>
            <a:prstDash val="solid"/>
          </a:ln>
        </p:spPr>
      </p:sp>
      <p:sp>
        <p:nvSpPr>
          <p:cNvPr id="19" name="Shape 17"/>
          <p:cNvSpPr/>
          <p:nvPr/>
        </p:nvSpPr>
        <p:spPr>
          <a:xfrm>
            <a:off x="6510528" y="2331720"/>
            <a:ext cx="1417320" cy="274320"/>
          </a:xfrm>
          <a:prstGeom prst="roundRect">
            <a:avLst>
              <a:gd name="adj" fmla="val 16667"/>
            </a:avLst>
          </a:prstGeom>
          <a:solidFill>
            <a:srgbClr val="F08B78">
              <a:alpha val="18000"/>
            </a:srgbClr>
          </a:solidFill>
          <a:ln w="9525">
            <a:solidFill>
              <a:srgbClr val="F08B78"/>
            </a:solidFill>
            <a:prstDash val="solid"/>
          </a:ln>
        </p:spPr>
      </p:sp>
      <p:sp>
        <p:nvSpPr>
          <p:cNvPr id="20" name="Text 18"/>
          <p:cNvSpPr txBox="1"/>
          <p:nvPr/>
        </p:nvSpPr>
        <p:spPr>
          <a:xfrm>
            <a:off x="6510528" y="2331720"/>
            <a:ext cx="1417320" cy="274320"/>
          </a:xfrm>
          <a:prstGeom prst="rect">
            <a:avLst/>
          </a:prstGeom>
          <a:noFill/>
          <a:ln/>
        </p:spPr>
        <p:txBody>
          <a:bodyPr wrap="square" lIns="0" tIns="0" rIns="0" bIns="0" rtlCol="0" anchor="ctr"/>
          <a:lstStyle/>
          <a:p>
            <a:pPr algn="ctr" indent="0" marL="0">
              <a:buNone/>
            </a:pPr>
            <a:r>
              <a:rPr lang="en-US" sz="1000" dirty="0">
                <a:solidFill>
                  <a:srgbClr val="F08B78"/>
                </a:solidFill>
                <a:latin typeface="Consolas" pitchFamily="34" charset="0"/>
                <a:ea typeface="Consolas" pitchFamily="34" charset="-122"/>
                <a:cs typeface="Consolas" pitchFamily="34" charset="-120"/>
              </a:rPr>
              <a:t>EXPERIMENT B</a:t>
            </a:r>
            <a:endParaRPr lang="en-US" sz="1000" dirty="0"/>
          </a:p>
        </p:txBody>
      </p:sp>
      <p:sp>
        <p:nvSpPr>
          <p:cNvPr id="21" name="Shape 19"/>
          <p:cNvSpPr/>
          <p:nvPr/>
        </p:nvSpPr>
        <p:spPr>
          <a:xfrm>
            <a:off x="6720840" y="2907792"/>
            <a:ext cx="0" cy="2651760"/>
          </a:xfrm>
          <a:prstGeom prst="line">
            <a:avLst/>
          </a:prstGeom>
          <a:noFill/>
          <a:ln w="19050">
            <a:solidFill>
              <a:srgbClr val="2A3A46"/>
            </a:solidFill>
            <a:prstDash val="solid"/>
          </a:ln>
        </p:spPr>
      </p:sp>
      <p:sp>
        <p:nvSpPr>
          <p:cNvPr id="22" name="Shape 20"/>
          <p:cNvSpPr/>
          <p:nvPr/>
        </p:nvSpPr>
        <p:spPr>
          <a:xfrm>
            <a:off x="6638544" y="2852928"/>
            <a:ext cx="164592" cy="164592"/>
          </a:xfrm>
          <a:prstGeom prst="ellipse">
            <a:avLst/>
          </a:prstGeom>
          <a:solidFill>
            <a:srgbClr val="5CC0DD"/>
          </a:solidFill>
          <a:ln w="12700">
            <a:solidFill>
              <a:srgbClr val="5CC0DD"/>
            </a:solidFill>
            <a:prstDash val="solid"/>
          </a:ln>
        </p:spPr>
      </p:sp>
      <p:sp>
        <p:nvSpPr>
          <p:cNvPr id="23" name="Text 21"/>
          <p:cNvSpPr txBox="1"/>
          <p:nvPr/>
        </p:nvSpPr>
        <p:spPr>
          <a:xfrm>
            <a:off x="6967728" y="2788920"/>
            <a:ext cx="960120" cy="292608"/>
          </a:xfrm>
          <a:prstGeom prst="rect">
            <a:avLst/>
          </a:prstGeom>
          <a:noFill/>
          <a:ln/>
        </p:spPr>
        <p:txBody>
          <a:bodyPr wrap="square" lIns="0" tIns="0" rIns="0" bIns="0" rtlCol="0" anchor="t"/>
          <a:lstStyle/>
          <a:p>
            <a:pPr indent="0" marL="0">
              <a:buNone/>
            </a:pPr>
            <a:r>
              <a:rPr lang="en-US" sz="1300" dirty="0">
                <a:solidFill>
                  <a:srgbClr val="94A6B3"/>
                </a:solidFill>
                <a:latin typeface="Consolas" pitchFamily="34" charset="0"/>
                <a:ea typeface="Consolas" pitchFamily="34" charset="-122"/>
                <a:cs typeface="Consolas" pitchFamily="34" charset="-120"/>
              </a:rPr>
              <a:t>21:32:36</a:t>
            </a:r>
            <a:endParaRPr lang="en-US" sz="1300" dirty="0"/>
          </a:p>
        </p:txBody>
      </p:sp>
      <p:sp>
        <p:nvSpPr>
          <p:cNvPr id="24" name="Text 22"/>
          <p:cNvSpPr txBox="1"/>
          <p:nvPr/>
        </p:nvSpPr>
        <p:spPr>
          <a:xfrm>
            <a:off x="7973568" y="2788920"/>
            <a:ext cx="3474720" cy="5029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USB disk connected</a:t>
            </a:r>
            <a:endParaRPr lang="en-US" sz="1400" dirty="0"/>
          </a:p>
        </p:txBody>
      </p:sp>
      <p:sp>
        <p:nvSpPr>
          <p:cNvPr id="25" name="Shape 23"/>
          <p:cNvSpPr/>
          <p:nvPr/>
        </p:nvSpPr>
        <p:spPr>
          <a:xfrm>
            <a:off x="6638544" y="3456432"/>
            <a:ext cx="164592" cy="164592"/>
          </a:xfrm>
          <a:prstGeom prst="ellipse">
            <a:avLst/>
          </a:prstGeom>
          <a:solidFill>
            <a:srgbClr val="F0C04A"/>
          </a:solidFill>
          <a:ln w="12700">
            <a:solidFill>
              <a:srgbClr val="F0C04A"/>
            </a:solidFill>
            <a:prstDash val="solid"/>
          </a:ln>
        </p:spPr>
      </p:sp>
      <p:sp>
        <p:nvSpPr>
          <p:cNvPr id="26" name="Text 24"/>
          <p:cNvSpPr txBox="1"/>
          <p:nvPr/>
        </p:nvSpPr>
        <p:spPr>
          <a:xfrm>
            <a:off x="6967728" y="3392424"/>
            <a:ext cx="960120" cy="292608"/>
          </a:xfrm>
          <a:prstGeom prst="rect">
            <a:avLst/>
          </a:prstGeom>
          <a:noFill/>
          <a:ln/>
        </p:spPr>
        <p:txBody>
          <a:bodyPr wrap="square" lIns="0" tIns="0" rIns="0" bIns="0" rtlCol="0" anchor="t"/>
          <a:lstStyle/>
          <a:p>
            <a:pPr indent="0" marL="0">
              <a:buNone/>
            </a:pPr>
            <a:r>
              <a:rPr lang="en-US" sz="1300" dirty="0">
                <a:solidFill>
                  <a:srgbClr val="94A6B3"/>
                </a:solidFill>
                <a:latin typeface="Consolas" pitchFamily="34" charset="0"/>
                <a:ea typeface="Consolas" pitchFamily="34" charset="-122"/>
                <a:cs typeface="Consolas" pitchFamily="34" charset="-120"/>
              </a:rPr>
              <a:t>21:32:57</a:t>
            </a:r>
            <a:endParaRPr lang="en-US" sz="1300" dirty="0"/>
          </a:p>
        </p:txBody>
      </p:sp>
      <p:sp>
        <p:nvSpPr>
          <p:cNvPr id="27" name="Text 25"/>
          <p:cNvSpPr txBox="1"/>
          <p:nvPr/>
        </p:nvSpPr>
        <p:spPr>
          <a:xfrm>
            <a:off x="7973568" y="3392424"/>
            <a:ext cx="3474720" cy="5029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Salaries, customer and Apollo files opened</a:t>
            </a:r>
            <a:endParaRPr lang="en-US" sz="1400" dirty="0"/>
          </a:p>
        </p:txBody>
      </p:sp>
      <p:sp>
        <p:nvSpPr>
          <p:cNvPr id="28" name="Shape 26"/>
          <p:cNvSpPr/>
          <p:nvPr/>
        </p:nvSpPr>
        <p:spPr>
          <a:xfrm>
            <a:off x="6638544" y="4059936"/>
            <a:ext cx="164592" cy="164592"/>
          </a:xfrm>
          <a:prstGeom prst="ellipse">
            <a:avLst/>
          </a:prstGeom>
          <a:solidFill>
            <a:srgbClr val="F0C04A"/>
          </a:solidFill>
          <a:ln w="12700">
            <a:solidFill>
              <a:srgbClr val="F0C04A"/>
            </a:solidFill>
            <a:prstDash val="solid"/>
          </a:ln>
        </p:spPr>
      </p:sp>
      <p:sp>
        <p:nvSpPr>
          <p:cNvPr id="29" name="Text 27"/>
          <p:cNvSpPr txBox="1"/>
          <p:nvPr/>
        </p:nvSpPr>
        <p:spPr>
          <a:xfrm>
            <a:off x="6967728" y="3995928"/>
            <a:ext cx="960120" cy="292608"/>
          </a:xfrm>
          <a:prstGeom prst="rect">
            <a:avLst/>
          </a:prstGeom>
          <a:noFill/>
          <a:ln/>
        </p:spPr>
        <p:txBody>
          <a:bodyPr wrap="square" lIns="0" tIns="0" rIns="0" bIns="0" rtlCol="0" anchor="t"/>
          <a:lstStyle/>
          <a:p>
            <a:pPr indent="0" marL="0">
              <a:buNone/>
            </a:pPr>
            <a:r>
              <a:rPr lang="en-US" sz="1300" dirty="0">
                <a:solidFill>
                  <a:srgbClr val="94A6B3"/>
                </a:solidFill>
                <a:latin typeface="Consolas" pitchFamily="34" charset="0"/>
                <a:ea typeface="Consolas" pitchFamily="34" charset="-122"/>
                <a:cs typeface="Consolas" pitchFamily="34" charset="-120"/>
              </a:rPr>
              <a:t>21:32:57</a:t>
            </a:r>
            <a:endParaRPr lang="en-US" sz="1300" dirty="0"/>
          </a:p>
        </p:txBody>
      </p:sp>
      <p:sp>
        <p:nvSpPr>
          <p:cNvPr id="30" name="Text 28"/>
          <p:cNvSpPr txBox="1"/>
          <p:nvPr/>
        </p:nvSpPr>
        <p:spPr>
          <a:xfrm>
            <a:off x="7973568" y="3995928"/>
            <a:ext cx="3474720" cy="5029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Two sensitive files written to D:\Backup</a:t>
            </a:r>
            <a:endParaRPr lang="en-US" sz="1400" dirty="0"/>
          </a:p>
        </p:txBody>
      </p:sp>
      <p:sp>
        <p:nvSpPr>
          <p:cNvPr id="31" name="Shape 29"/>
          <p:cNvSpPr/>
          <p:nvPr/>
        </p:nvSpPr>
        <p:spPr>
          <a:xfrm>
            <a:off x="6638544" y="4663440"/>
            <a:ext cx="164592" cy="164592"/>
          </a:xfrm>
          <a:prstGeom prst="ellipse">
            <a:avLst/>
          </a:prstGeom>
          <a:solidFill>
            <a:srgbClr val="F08B78"/>
          </a:solidFill>
          <a:ln w="12700">
            <a:solidFill>
              <a:srgbClr val="F08B78"/>
            </a:solidFill>
            <a:prstDash val="solid"/>
          </a:ln>
        </p:spPr>
      </p:sp>
      <p:sp>
        <p:nvSpPr>
          <p:cNvPr id="32" name="Text 30"/>
          <p:cNvSpPr txBox="1"/>
          <p:nvPr/>
        </p:nvSpPr>
        <p:spPr>
          <a:xfrm>
            <a:off x="6967728" y="4599432"/>
            <a:ext cx="960120" cy="292608"/>
          </a:xfrm>
          <a:prstGeom prst="rect">
            <a:avLst/>
          </a:prstGeom>
          <a:noFill/>
          <a:ln/>
        </p:spPr>
        <p:txBody>
          <a:bodyPr wrap="square" lIns="0" tIns="0" rIns="0" bIns="0" rtlCol="0" anchor="t"/>
          <a:lstStyle/>
          <a:p>
            <a:pPr indent="0" marL="0">
              <a:buNone/>
            </a:pPr>
            <a:r>
              <a:rPr lang="en-US" sz="1300" dirty="0">
                <a:solidFill>
                  <a:srgbClr val="94A6B3"/>
                </a:solidFill>
                <a:latin typeface="Consolas" pitchFamily="34" charset="0"/>
                <a:ea typeface="Consolas" pitchFamily="34" charset="-122"/>
                <a:cs typeface="Consolas" pitchFamily="34" charset="-120"/>
              </a:rPr>
              <a:t>21:32:58</a:t>
            </a:r>
            <a:endParaRPr lang="en-US" sz="1300" dirty="0"/>
          </a:p>
        </p:txBody>
      </p:sp>
      <p:sp>
        <p:nvSpPr>
          <p:cNvPr id="33" name="Text 31"/>
          <p:cNvSpPr txBox="1"/>
          <p:nvPr/>
        </p:nvSpPr>
        <p:spPr>
          <a:xfrm>
            <a:off x="7973568" y="4599432"/>
            <a:ext cx="3474720" cy="5029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Project_Files.zip created on the USB</a:t>
            </a:r>
            <a:endParaRPr lang="en-US" sz="1400" dirty="0"/>
          </a:p>
        </p:txBody>
      </p:sp>
      <p:sp>
        <p:nvSpPr>
          <p:cNvPr id="34" name="Shape 32"/>
          <p:cNvSpPr/>
          <p:nvPr/>
        </p:nvSpPr>
        <p:spPr>
          <a:xfrm>
            <a:off x="6638544" y="5266944"/>
            <a:ext cx="164592" cy="164592"/>
          </a:xfrm>
          <a:prstGeom prst="ellipse">
            <a:avLst/>
          </a:prstGeom>
          <a:solidFill>
            <a:srgbClr val="F08B78"/>
          </a:solidFill>
          <a:ln w="12700">
            <a:solidFill>
              <a:srgbClr val="F08B78"/>
            </a:solidFill>
            <a:prstDash val="solid"/>
          </a:ln>
        </p:spPr>
      </p:sp>
      <p:sp>
        <p:nvSpPr>
          <p:cNvPr id="35" name="Text 33"/>
          <p:cNvSpPr txBox="1"/>
          <p:nvPr/>
        </p:nvSpPr>
        <p:spPr>
          <a:xfrm>
            <a:off x="6967728" y="5202936"/>
            <a:ext cx="960120" cy="292608"/>
          </a:xfrm>
          <a:prstGeom prst="rect">
            <a:avLst/>
          </a:prstGeom>
          <a:noFill/>
          <a:ln/>
        </p:spPr>
        <p:txBody>
          <a:bodyPr wrap="square" lIns="0" tIns="0" rIns="0" bIns="0" rtlCol="0" anchor="t"/>
          <a:lstStyle/>
          <a:p>
            <a:pPr indent="0" marL="0">
              <a:buNone/>
            </a:pPr>
            <a:r>
              <a:rPr lang="en-US" sz="1300" dirty="0">
                <a:solidFill>
                  <a:srgbClr val="94A6B3"/>
                </a:solidFill>
                <a:latin typeface="Consolas" pitchFamily="34" charset="0"/>
                <a:ea typeface="Consolas" pitchFamily="34" charset="-122"/>
                <a:cs typeface="Consolas" pitchFamily="34" charset="-120"/>
              </a:rPr>
              <a:t>21:32:59</a:t>
            </a:r>
            <a:endParaRPr lang="en-US" sz="1300" dirty="0"/>
          </a:p>
        </p:txBody>
      </p:sp>
      <p:sp>
        <p:nvSpPr>
          <p:cNvPr id="36" name="Text 34"/>
          <p:cNvSpPr txBox="1"/>
          <p:nvPr/>
        </p:nvSpPr>
        <p:spPr>
          <a:xfrm>
            <a:off x="7973568" y="5202936"/>
            <a:ext cx="3474720" cy="502920"/>
          </a:xfrm>
          <a:prstGeom prst="rect">
            <a:avLst/>
          </a:prstGeom>
          <a:noFill/>
          <a:ln/>
        </p:spPr>
        <p:txBody>
          <a:bodyPr wrap="square" lIns="0" tIns="0" rIns="0" bIns="0" rtlCol="0" anchor="t"/>
          <a:lstStyle/>
          <a:p>
            <a:pPr indent="0" marL="0">
              <a:buNone/>
            </a:pPr>
            <a:r>
              <a:rPr lang="en-US" sz="1400" dirty="0">
                <a:solidFill>
                  <a:srgbClr val="E3EBF0"/>
                </a:solidFill>
                <a:latin typeface="Calibri" pitchFamily="34" charset="0"/>
                <a:ea typeface="Calibri" pitchFamily="34" charset="-122"/>
                <a:cs typeface="Calibri" pitchFamily="34" charset="-120"/>
              </a:rPr>
              <a:t>Apollo copy moved to the Recycle Bin</a:t>
            </a:r>
            <a:endParaRPr lang="en-US" sz="1400" dirty="0"/>
          </a:p>
        </p:txBody>
      </p:sp>
      <p:sp>
        <p:nvSpPr>
          <p:cNvPr id="37" name="Text 35"/>
          <p:cNvSpPr txBox="1"/>
          <p:nvPr/>
        </p:nvSpPr>
        <p:spPr>
          <a:xfrm>
            <a:off x="6510528" y="5669280"/>
            <a:ext cx="4937760" cy="274320"/>
          </a:xfrm>
          <a:prstGeom prst="rect">
            <a:avLst/>
          </a:prstGeom>
          <a:noFill/>
          <a:ln/>
        </p:spPr>
        <p:txBody>
          <a:bodyPr wrap="square" lIns="0" tIns="0" rIns="0" bIns="0" rtlCol="0" anchor="t"/>
          <a:lstStyle/>
          <a:p>
            <a:pPr indent="0" marL="0">
              <a:buNone/>
            </a:pPr>
            <a:r>
              <a:rPr lang="en-US" sz="1300" i="1" dirty="0">
                <a:solidFill>
                  <a:srgbClr val="F0C04A"/>
                </a:solidFill>
                <a:latin typeface="Calibri" pitchFamily="34" charset="0"/>
                <a:ea typeface="Calibri" pitchFamily="34" charset="-122"/>
                <a:cs typeface="Calibri" pitchFamily="34" charset="-120"/>
              </a:rPr>
              <a:t>Open, copy, zip and delete within 3 seconds, inside the USB window.</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10 · RESULTS ON REAL EVIDENCE</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Experiment B flagged, Experiment A cleared</a:t>
            </a:r>
            <a:endParaRPr lang="en-US" sz="3000" dirty="0"/>
          </a:p>
        </p:txBody>
      </p:sp>
      <p:sp>
        <p:nvSpPr>
          <p:cNvPr id="4" name="Shape 2"/>
          <p:cNvSpPr/>
          <p:nvPr/>
        </p:nvSpPr>
        <p:spPr>
          <a:xfrm>
            <a:off x="548640" y="1783080"/>
            <a:ext cx="6675120" cy="4343400"/>
          </a:xfrm>
          <a:prstGeom prst="roundRect">
            <a:avLst>
              <a:gd name="adj" fmla="val 1684"/>
            </a:avLst>
          </a:prstGeom>
          <a:solidFill>
            <a:srgbClr val="16212A"/>
          </a:solidFill>
          <a:ln w="9525">
            <a:solidFill>
              <a:srgbClr val="2A3A46"/>
            </a:solidFill>
            <a:prstDash val="solid"/>
          </a:ln>
        </p:spPr>
      </p:sp>
      <p:graphicFrame>
        <p:nvGraphicFramePr>
          <p:cNvPr id="5" name="Chart 0" descr=""/>
          <p:cNvGraphicFramePr/>
          <p:nvPr/>
        </p:nvGraphicFramePr>
        <p:xfrm>
          <a:off x="731520" y="1920240"/>
          <a:ext cx="6309360" cy="4069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52360" y="1783080"/>
            <a:ext cx="4187952" cy="1965960"/>
          </a:xfrm>
          <a:prstGeom prst="roundRect">
            <a:avLst>
              <a:gd name="adj" fmla="val 3721"/>
            </a:avLst>
          </a:prstGeom>
          <a:solidFill>
            <a:srgbClr val="1C2A35"/>
          </a:solidFill>
          <a:ln w="9525">
            <a:solidFill>
              <a:srgbClr val="2A3A46"/>
            </a:solidFill>
            <a:prstDash val="solid"/>
          </a:ln>
        </p:spPr>
      </p:sp>
      <p:sp>
        <p:nvSpPr>
          <p:cNvPr id="7" name="Shape 4"/>
          <p:cNvSpPr/>
          <p:nvPr/>
        </p:nvSpPr>
        <p:spPr>
          <a:xfrm>
            <a:off x="7726680" y="2057400"/>
            <a:ext cx="1417320" cy="274320"/>
          </a:xfrm>
          <a:prstGeom prst="roundRect">
            <a:avLst>
              <a:gd name="adj" fmla="val 16667"/>
            </a:avLst>
          </a:prstGeom>
          <a:solidFill>
            <a:srgbClr val="5CC0DD">
              <a:alpha val="18000"/>
            </a:srgbClr>
          </a:solidFill>
          <a:ln w="9525">
            <a:solidFill>
              <a:srgbClr val="5CC0DD"/>
            </a:solidFill>
            <a:prstDash val="solid"/>
          </a:ln>
        </p:spPr>
      </p:sp>
      <p:sp>
        <p:nvSpPr>
          <p:cNvPr id="8" name="Text 5"/>
          <p:cNvSpPr txBox="1"/>
          <p:nvPr/>
        </p:nvSpPr>
        <p:spPr>
          <a:xfrm>
            <a:off x="7726680" y="2057400"/>
            <a:ext cx="1417320" cy="274320"/>
          </a:xfrm>
          <a:prstGeom prst="rect">
            <a:avLst/>
          </a:prstGeom>
          <a:noFill/>
          <a:ln/>
        </p:spPr>
        <p:txBody>
          <a:bodyPr wrap="square" lIns="0" tIns="0" rIns="0" bIns="0" rtlCol="0" anchor="ctr"/>
          <a:lstStyle/>
          <a:p>
            <a:pPr algn="ctr" indent="0" marL="0">
              <a:buNone/>
            </a:pPr>
            <a:r>
              <a:rPr lang="en-US" sz="1000" dirty="0">
                <a:solidFill>
                  <a:srgbClr val="5CC0DD"/>
                </a:solidFill>
                <a:latin typeface="Consolas" pitchFamily="34" charset="0"/>
                <a:ea typeface="Consolas" pitchFamily="34" charset="-122"/>
                <a:cs typeface="Consolas" pitchFamily="34" charset="-120"/>
              </a:rPr>
              <a:t>EXPERIMENT A</a:t>
            </a:r>
            <a:endParaRPr lang="en-US" sz="1000" dirty="0"/>
          </a:p>
        </p:txBody>
      </p:sp>
      <p:pic>
        <p:nvPicPr>
          <p:cNvPr id="9" name="Image 0" descr="preencoded.png">    </p:cNvPr>
          <p:cNvPicPr>
            <a:picLocks noChangeAspect="1"/>
          </p:cNvPicPr>
          <p:nvPr/>
        </p:nvPicPr>
        <p:blipFill>
          <a:blip r:embed="rId2"/>
          <a:stretch>
            <a:fillRect/>
          </a:stretch>
        </p:blipFill>
        <p:spPr>
          <a:xfrm>
            <a:off x="11018520" y="2039112"/>
            <a:ext cx="365760" cy="365760"/>
          </a:xfrm>
          <a:prstGeom prst="rect">
            <a:avLst/>
          </a:prstGeom>
        </p:spPr>
      </p:pic>
      <p:sp>
        <p:nvSpPr>
          <p:cNvPr id="10" name="Text 6"/>
          <p:cNvSpPr txBox="1"/>
          <p:nvPr/>
        </p:nvSpPr>
        <p:spPr>
          <a:xfrm>
            <a:off x="7726680" y="2514600"/>
            <a:ext cx="3657600" cy="457200"/>
          </a:xfrm>
          <a:prstGeom prst="rect">
            <a:avLst/>
          </a:prstGeom>
          <a:noFill/>
          <a:ln/>
        </p:spPr>
        <p:txBody>
          <a:bodyPr wrap="square" lIns="0" tIns="0" rIns="0" bIns="0" rtlCol="0" anchor="t"/>
          <a:lstStyle/>
          <a:p>
            <a:pPr indent="0" marL="0">
              <a:buNone/>
            </a:pPr>
            <a:r>
              <a:rPr lang="en-US" sz="2200" b="1" dirty="0">
                <a:solidFill>
                  <a:srgbClr val="5CC0DD"/>
                </a:solidFill>
                <a:latin typeface="Cambria" pitchFamily="34" charset="0"/>
                <a:ea typeface="Cambria" pitchFamily="34" charset="-122"/>
                <a:cs typeface="Cambria" pitchFamily="34" charset="-120"/>
              </a:rPr>
              <a:t>No transfer flagged</a:t>
            </a:r>
            <a:endParaRPr lang="en-US" sz="2200" dirty="0"/>
          </a:p>
        </p:txBody>
      </p:sp>
      <p:sp>
        <p:nvSpPr>
          <p:cNvPr id="11" name="Text 7"/>
          <p:cNvSpPr txBox="1"/>
          <p:nvPr/>
        </p:nvSpPr>
        <p:spPr>
          <a:xfrm>
            <a:off x="7726680" y="3017520"/>
            <a:ext cx="3657600" cy="548640"/>
          </a:xfrm>
          <a:prstGeom prst="rect">
            <a:avLst/>
          </a:prstGeom>
          <a:noFill/>
          <a:ln/>
        </p:spPr>
        <p:txBody>
          <a:bodyPr wrap="square" lIns="0" tIns="0" rIns="0" bIns="0" rtlCol="0" anchor="t"/>
          <a:lstStyle/>
          <a:p>
            <a:pPr indent="0" marL="0">
              <a:buNone/>
            </a:pPr>
            <a:r>
              <a:rPr lang="en-US" sz="1400" dirty="0">
                <a:solidFill>
                  <a:srgbClr val="94A6B3"/>
                </a:solidFill>
                <a:latin typeface="Calibri" pitchFamily="34" charset="0"/>
                <a:ea typeface="Calibri" pitchFamily="34" charset="-122"/>
                <a:cs typeface="Calibri" pitchFamily="34" charset="-120"/>
              </a:rPr>
              <a:t>USB used, but no sensitive file reached the drive</a:t>
            </a:r>
            <a:endParaRPr lang="en-US" sz="1400" dirty="0"/>
          </a:p>
        </p:txBody>
      </p:sp>
      <p:sp>
        <p:nvSpPr>
          <p:cNvPr id="12" name="Shape 8"/>
          <p:cNvSpPr/>
          <p:nvPr/>
        </p:nvSpPr>
        <p:spPr>
          <a:xfrm>
            <a:off x="7452360" y="4023360"/>
            <a:ext cx="4187952" cy="1965960"/>
          </a:xfrm>
          <a:prstGeom prst="roundRect">
            <a:avLst>
              <a:gd name="adj" fmla="val 3721"/>
            </a:avLst>
          </a:prstGeom>
          <a:solidFill>
            <a:srgbClr val="1C2A35"/>
          </a:solidFill>
          <a:ln w="9525">
            <a:solidFill>
              <a:srgbClr val="2A3A46"/>
            </a:solidFill>
            <a:prstDash val="solid"/>
          </a:ln>
        </p:spPr>
      </p:sp>
      <p:sp>
        <p:nvSpPr>
          <p:cNvPr id="13" name="Shape 9"/>
          <p:cNvSpPr/>
          <p:nvPr/>
        </p:nvSpPr>
        <p:spPr>
          <a:xfrm>
            <a:off x="7726680" y="4297680"/>
            <a:ext cx="1417320" cy="274320"/>
          </a:xfrm>
          <a:prstGeom prst="roundRect">
            <a:avLst>
              <a:gd name="adj" fmla="val 16667"/>
            </a:avLst>
          </a:prstGeom>
          <a:solidFill>
            <a:srgbClr val="F08B78">
              <a:alpha val="18000"/>
            </a:srgbClr>
          </a:solidFill>
          <a:ln w="9525">
            <a:solidFill>
              <a:srgbClr val="F08B78"/>
            </a:solidFill>
            <a:prstDash val="solid"/>
          </a:ln>
        </p:spPr>
      </p:sp>
      <p:sp>
        <p:nvSpPr>
          <p:cNvPr id="14" name="Text 10"/>
          <p:cNvSpPr txBox="1"/>
          <p:nvPr/>
        </p:nvSpPr>
        <p:spPr>
          <a:xfrm>
            <a:off x="7726680" y="4297680"/>
            <a:ext cx="1417320" cy="274320"/>
          </a:xfrm>
          <a:prstGeom prst="rect">
            <a:avLst/>
          </a:prstGeom>
          <a:noFill/>
          <a:ln/>
        </p:spPr>
        <p:txBody>
          <a:bodyPr wrap="square" lIns="0" tIns="0" rIns="0" bIns="0" rtlCol="0" anchor="ctr"/>
          <a:lstStyle/>
          <a:p>
            <a:pPr algn="ctr" indent="0" marL="0">
              <a:buNone/>
            </a:pPr>
            <a:r>
              <a:rPr lang="en-US" sz="1000" dirty="0">
                <a:solidFill>
                  <a:srgbClr val="F08B78"/>
                </a:solidFill>
                <a:latin typeface="Consolas" pitchFamily="34" charset="0"/>
                <a:ea typeface="Consolas" pitchFamily="34" charset="-122"/>
                <a:cs typeface="Consolas" pitchFamily="34" charset="-120"/>
              </a:rPr>
              <a:t>EXPERIMENT B</a:t>
            </a:r>
            <a:endParaRPr lang="en-US" sz="1000" dirty="0"/>
          </a:p>
        </p:txBody>
      </p:sp>
      <p:pic>
        <p:nvPicPr>
          <p:cNvPr id="15" name="Image 1" descr="preencoded.png">    </p:cNvPr>
          <p:cNvPicPr>
            <a:picLocks noChangeAspect="1"/>
          </p:cNvPicPr>
          <p:nvPr/>
        </p:nvPicPr>
        <p:blipFill>
          <a:blip r:embed="rId3"/>
          <a:stretch>
            <a:fillRect/>
          </a:stretch>
        </p:blipFill>
        <p:spPr>
          <a:xfrm>
            <a:off x="11018520" y="4279392"/>
            <a:ext cx="365760" cy="365760"/>
          </a:xfrm>
          <a:prstGeom prst="rect">
            <a:avLst/>
          </a:prstGeom>
        </p:spPr>
      </p:pic>
      <p:sp>
        <p:nvSpPr>
          <p:cNvPr id="16" name="Text 11"/>
          <p:cNvSpPr txBox="1"/>
          <p:nvPr/>
        </p:nvSpPr>
        <p:spPr>
          <a:xfrm>
            <a:off x="7726680" y="4754880"/>
            <a:ext cx="3657600" cy="457200"/>
          </a:xfrm>
          <a:prstGeom prst="rect">
            <a:avLst/>
          </a:prstGeom>
          <a:noFill/>
          <a:ln/>
        </p:spPr>
        <p:txBody>
          <a:bodyPr wrap="square" lIns="0" tIns="0" rIns="0" bIns="0" rtlCol="0" anchor="t"/>
          <a:lstStyle/>
          <a:p>
            <a:pPr indent="0" marL="0">
              <a:buNone/>
            </a:pPr>
            <a:r>
              <a:rPr lang="en-US" sz="2200" b="1" dirty="0">
                <a:solidFill>
                  <a:srgbClr val="F08B78"/>
                </a:solidFill>
                <a:latin typeface="Cambria" pitchFamily="34" charset="0"/>
                <a:ea typeface="Cambria" pitchFamily="34" charset="-122"/>
                <a:cs typeface="Cambria" pitchFamily="34" charset="-120"/>
              </a:rPr>
              <a:t>Possible transfer: HIGH</a:t>
            </a:r>
            <a:endParaRPr lang="en-US" sz="2200" dirty="0"/>
          </a:p>
        </p:txBody>
      </p:sp>
      <p:sp>
        <p:nvSpPr>
          <p:cNvPr id="17" name="Text 12"/>
          <p:cNvSpPr txBox="1"/>
          <p:nvPr/>
        </p:nvSpPr>
        <p:spPr>
          <a:xfrm>
            <a:off x="7726680" y="5257800"/>
            <a:ext cx="3657600" cy="548640"/>
          </a:xfrm>
          <a:prstGeom prst="rect">
            <a:avLst/>
          </a:prstGeom>
          <a:noFill/>
          <a:ln/>
        </p:spPr>
        <p:txBody>
          <a:bodyPr wrap="square" lIns="0" tIns="0" rIns="0" bIns="0" rtlCol="0" anchor="t"/>
          <a:lstStyle/>
          <a:p>
            <a:pPr indent="0" marL="0">
              <a:buNone/>
            </a:pPr>
            <a:r>
              <a:rPr lang="en-US" sz="1400" dirty="0">
                <a:solidFill>
                  <a:srgbClr val="94A6B3"/>
                </a:solidFill>
                <a:latin typeface="Calibri" pitchFamily="34" charset="0"/>
                <a:ea typeface="Calibri" pitchFamily="34" charset="-122"/>
                <a:cs typeface="Calibri" pitchFamily="34" charset="-120"/>
              </a:rPr>
              <a:t>CORR-005 links 9 real records inside the USB window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11 · CONSISTENCY CHECK</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Same rules, three kinds of evidence, right every time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3657600"/>
                <a:gridCol w="1417320"/>
                <a:gridCol w="1554480"/>
                <a:gridCol w="1874520"/>
                <a:gridCol w="1280160"/>
                <a:gridCol w="1307592"/>
              </a:tblGrid>
              <a:tr h="411480">
                <a:tc>
                  <a:txBody>
                    <a:bodyPr/>
                    <a:lstStyle/>
                    <a:p>
                      <a:pPr indent="0" marL="0">
                        <a:buNone/>
                      </a:pPr>
                      <a:r>
                        <a:rPr lang="en-US" sz="1200" b="1" dirty="0">
                          <a:solidFill>
                            <a:srgbClr val="94A6B3"/>
                          </a:solidFill>
                          <a:latin typeface="Consolas" pitchFamily="34" charset="0"/>
                          <a:ea typeface="Consolas" pitchFamily="34" charset="-122"/>
                          <a:cs typeface="Consolas" pitchFamily="34" charset="-120"/>
                        </a:rPr>
                        <a:t>Evidence</a:t>
                      </a: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c>
                  <a:txBody>
                    <a:bodyPr/>
                    <a:lstStyle/>
                    <a:p>
                      <a:pPr indent="0" marL="0">
                        <a:buNone/>
                      </a:pPr>
                      <a:r>
                        <a:rPr lang="en-US" sz="1200" b="1" dirty="0">
                          <a:solidFill>
                            <a:srgbClr val="94A6B3"/>
                          </a:solidFill>
                          <a:latin typeface="Consolas" pitchFamily="34" charset="0"/>
                          <a:ea typeface="Consolas" pitchFamily="34" charset="-122"/>
                          <a:cs typeface="Consolas" pitchFamily="34" charset="-120"/>
                        </a:rPr>
                        <a:t>H1 USB used</a:t>
                      </a: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c>
                  <a:txBody>
                    <a:bodyPr/>
                    <a:lstStyle/>
                    <a:p>
                      <a:pPr indent="0" marL="0">
                        <a:buNone/>
                      </a:pPr>
                      <a:r>
                        <a:rPr lang="en-US" sz="1200" b="1" dirty="0">
                          <a:solidFill>
                            <a:srgbClr val="94A6B3"/>
                          </a:solidFill>
                          <a:latin typeface="Consolas" pitchFamily="34" charset="0"/>
                          <a:ea typeface="Consolas" pitchFamily="34" charset="-122"/>
                          <a:cs typeface="Consolas" pitchFamily="34" charset="-120"/>
                        </a:rPr>
                        <a:t>H2 Files opened</a:t>
                      </a: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c>
                  <a:txBody>
                    <a:bodyPr/>
                    <a:lstStyle/>
                    <a:p>
                      <a:pPr indent="0" marL="0">
                        <a:buNone/>
                      </a:pPr>
                      <a:r>
                        <a:rPr lang="en-US" sz="1200" b="1" dirty="0">
                          <a:solidFill>
                            <a:srgbClr val="94A6B3"/>
                          </a:solidFill>
                          <a:latin typeface="Consolas" pitchFamily="34" charset="0"/>
                          <a:ea typeface="Consolas" pitchFamily="34" charset="-122"/>
                          <a:cs typeface="Consolas" pitchFamily="34" charset="-120"/>
                        </a:rPr>
                        <a:t>H3 Copied to USB</a:t>
                      </a: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c>
                  <a:txBody>
                    <a:bodyPr/>
                    <a:lstStyle/>
                    <a:p>
                      <a:pPr indent="0" marL="0">
                        <a:buNone/>
                      </a:pPr>
                      <a:r>
                        <a:rPr lang="en-US" sz="1200" b="1" dirty="0">
                          <a:solidFill>
                            <a:srgbClr val="94A6B3"/>
                          </a:solidFill>
                          <a:latin typeface="Consolas" pitchFamily="34" charset="0"/>
                          <a:ea typeface="Consolas" pitchFamily="34" charset="-122"/>
                          <a:cs typeface="Consolas" pitchFamily="34" charset="-120"/>
                        </a:rPr>
                        <a:t>H4 Hidden</a:t>
                      </a: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c>
                  <a:txBody>
                    <a:bodyPr/>
                    <a:lstStyle/>
                    <a:p>
                      <a:pPr indent="0" marL="0">
                        <a:buNone/>
                      </a:pPr>
                      <a:r>
                        <a:rPr lang="en-US" sz="1200" b="1" dirty="0">
                          <a:solidFill>
                            <a:srgbClr val="94A6B3"/>
                          </a:solidFill>
                          <a:latin typeface="Consolas" pitchFamily="34" charset="0"/>
                          <a:ea typeface="Consolas" pitchFamily="34" charset="-122"/>
                          <a:cs typeface="Consolas" pitchFamily="34" charset="-120"/>
                        </a:rPr>
                        <a:t>Score</a:t>
                      </a:r>
                      <a:endParaRPr lang="en-US" sz="12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0E161D"/>
                    </a:solidFill>
                  </a:tcPr>
                </a:tc>
              </a:tr>
              <a:tr h="777240">
                <a:tc>
                  <a:txBody>
                    <a:bodyPr/>
                    <a:lstStyle/>
                    <a:p>
                      <a:pPr indent="0" marL="0">
                        <a:buNone/>
                      </a:pPr>
                      <a:r>
                        <a:rPr lang="en-US" sz="1400" b="1" dirty="0">
                          <a:solidFill>
                            <a:srgbClr val="E3EBF0"/>
                          </a:solidFill>
                          <a:latin typeface="Calibri" pitchFamily="34" charset="0"/>
                          <a:ea typeface="Calibri" pitchFamily="34" charset="-122"/>
                          <a:cs typeface="Calibri" pitchFamily="34" charset="-120"/>
                        </a:rPr>
                        <a:t>Designed dataset, answer known in advance</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6FCF97"/>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6FCF97"/>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6FCF97"/>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F0C04A"/>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dirty="0">
                          <a:solidFill>
                            <a:srgbClr val="E3EBF0"/>
                          </a:solidFill>
                          <a:latin typeface="Consolas" pitchFamily="34" charset="0"/>
                          <a:ea typeface="Consolas" pitchFamily="34" charset="-122"/>
                          <a:cs typeface="Consolas" pitchFamily="34" charset="-120"/>
                        </a:rPr>
                        <a:t>13 / 13</a:t>
                      </a:r>
                      <a:endParaRPr lang="en-US" sz="14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r>
              <a:tr h="777240">
                <a:tc>
                  <a:txBody>
                    <a:bodyPr/>
                    <a:lstStyle/>
                    <a:p>
                      <a:pPr indent="0" marL="0">
                        <a:buNone/>
                      </a:pPr>
                      <a:r>
                        <a:rPr lang="en-US" sz="1400" b="1" dirty="0">
                          <a:solidFill>
                            <a:srgbClr val="E3EBF0"/>
                          </a:solidFill>
                          <a:latin typeface="Calibri" pitchFamily="34" charset="0"/>
                          <a:ea typeface="Calibri" pitchFamily="34" charset="-122"/>
                          <a:cs typeface="Calibri" pitchFamily="34" charset="-120"/>
                        </a:rPr>
                        <a:t>Real run of A and B on the laptop</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6FCF97"/>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6FCF97"/>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6FCF97"/>
                          </a:solidFill>
                          <a:latin typeface="Calibri" pitchFamily="34" charset="0"/>
                          <a:ea typeface="Calibri" pitchFamily="34" charset="-122"/>
                          <a:cs typeface="Calibri" pitchFamily="34" charset="-120"/>
                        </a:rPr>
                        <a:t>Supported (B only)</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F0C04A"/>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dirty="0">
                          <a:solidFill>
                            <a:srgbClr val="E3EBF0"/>
                          </a:solidFill>
                          <a:latin typeface="Consolas" pitchFamily="34" charset="0"/>
                          <a:ea typeface="Consolas" pitchFamily="34" charset="-122"/>
                          <a:cs typeface="Consolas" pitchFamily="34" charset="-120"/>
                        </a:rPr>
                        <a:t>13 / 13</a:t>
                      </a:r>
                      <a:endParaRPr lang="en-US" sz="14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r>
              <a:tr h="777240">
                <a:tc>
                  <a:txBody>
                    <a:bodyPr/>
                    <a:lstStyle/>
                    <a:p>
                      <a:pPr indent="0" marL="0">
                        <a:buNone/>
                      </a:pPr>
                      <a:r>
                        <a:rPr lang="en-US" sz="1400" b="1" dirty="0">
                          <a:solidFill>
                            <a:srgbClr val="E3EBF0"/>
                          </a:solidFill>
                          <a:latin typeface="Calibri" pitchFamily="34" charset="0"/>
                          <a:ea typeface="Calibri" pitchFamily="34" charset="-122"/>
                          <a:cs typeface="Calibri" pitchFamily="34" charset="-120"/>
                        </a:rPr>
                        <a:t>Same laptop, 30 days, no experiment</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6FCF97"/>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dirty="0">
                          <a:solidFill>
                            <a:srgbClr val="94A6B3"/>
                          </a:solidFill>
                          <a:latin typeface="Calibri" pitchFamily="34" charset="0"/>
                          <a:ea typeface="Calibri" pitchFamily="34" charset="-122"/>
                          <a:cs typeface="Calibri" pitchFamily="34" charset="-120"/>
                        </a:rPr>
                        <a:t>Not supported</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dirty="0">
                          <a:solidFill>
                            <a:srgbClr val="94A6B3"/>
                          </a:solidFill>
                          <a:latin typeface="Calibri" pitchFamily="34" charset="0"/>
                          <a:ea typeface="Calibri" pitchFamily="34" charset="-122"/>
                          <a:cs typeface="Calibri" pitchFamily="34" charset="-120"/>
                        </a:rPr>
                        <a:t>Not supported</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b="1" dirty="0">
                          <a:solidFill>
                            <a:srgbClr val="F0C04A"/>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c>
                  <a:txBody>
                    <a:bodyPr/>
                    <a:lstStyle/>
                    <a:p>
                      <a:pPr indent="0" marL="0">
                        <a:buNone/>
                      </a:pPr>
                      <a:r>
                        <a:rPr lang="en-US" sz="1400" dirty="0">
                          <a:solidFill>
                            <a:srgbClr val="E3EBF0"/>
                          </a:solidFill>
                          <a:latin typeface="Consolas" pitchFamily="34" charset="0"/>
                          <a:ea typeface="Consolas" pitchFamily="34" charset="-122"/>
                          <a:cs typeface="Consolas" pitchFamily="34" charset="-120"/>
                        </a:rPr>
                        <a:t>2 / 13</a:t>
                      </a:r>
                      <a:endParaRPr lang="en-US" sz="1400" dirty="0">
                        <a:latin typeface="Consolas" charset="0"/>
                        <a:ea typeface="Consolas" charset="0"/>
                        <a:cs typeface="Consolas" charset="0"/>
                      </a:endParaRPr>
                    </a:p>
                  </a:txBody>
                  <a:tcPr marL="109728" marR="109728" marT="54864" marB="54864" anchor="ctr">
                    <a:lnL w="9525" cap="flat" cmpd="sng" algn="ctr">
                      <a:solidFill>
                        <a:srgbClr val="2A3A46"/>
                      </a:solidFill>
                      <a:prstDash val="solid"/>
                      <a:round/>
                      <a:headEnd type="none" w="med" len="med"/>
                      <a:tailEnd type="none" w="med" len="med"/>
                    </a:lnL>
                    <a:lnR w="9525" cap="flat" cmpd="sng" algn="ctr">
                      <a:solidFill>
                        <a:srgbClr val="2A3A46"/>
                      </a:solidFill>
                      <a:prstDash val="solid"/>
                      <a:round/>
                      <a:headEnd type="none" w="med" len="med"/>
                      <a:tailEnd type="none" w="med" len="med"/>
                    </a:lnR>
                    <a:lnT w="9525" cap="flat" cmpd="sng" algn="ctr">
                      <a:solidFill>
                        <a:srgbClr val="2A3A46"/>
                      </a:solidFill>
                      <a:prstDash val="solid"/>
                      <a:round/>
                      <a:headEnd type="none" w="med" len="med"/>
                      <a:tailEnd type="none" w="med" len="med"/>
                    </a:lnT>
                    <a:lnB w="9525" cap="flat" cmpd="sng" algn="ctr">
                      <a:solidFill>
                        <a:srgbClr val="2A3A46"/>
                      </a:solidFill>
                      <a:prstDash val="solid"/>
                      <a:round/>
                      <a:headEnd type="none" w="med" len="med"/>
                      <a:tailEnd type="none" w="med" len="med"/>
                    </a:lnB>
                    <a:solidFill>
                      <a:srgbClr val="16212A"/>
                    </a:solidFill>
                  </a:tcPr>
                </a:tc>
              </a:tr>
            </a:tbl>
          </a:graphicData>
        </a:graphic>
      </p:graphicFrame>
      <p:pic>
        <p:nvPicPr>
          <p:cNvPr id="5" name="Image 0" descr="preencoded.png">    </p:cNvPr>
          <p:cNvPicPr>
            <a:picLocks noChangeAspect="1"/>
          </p:cNvPicPr>
          <p:nvPr/>
        </p:nvPicPr>
        <p:blipFill>
          <a:blip r:embed="rId1"/>
          <a:stretch>
            <a:fillRect/>
          </a:stretch>
        </p:blipFill>
        <p:spPr>
          <a:xfrm>
            <a:off x="548640" y="4892040"/>
            <a:ext cx="329184" cy="329184"/>
          </a:xfrm>
          <a:prstGeom prst="rect">
            <a:avLst/>
          </a:prstGeom>
        </p:spPr>
      </p:pic>
      <p:sp>
        <p:nvSpPr>
          <p:cNvPr id="6" name="Text 2"/>
          <p:cNvSpPr txBox="1"/>
          <p:nvPr/>
        </p:nvSpPr>
        <p:spPr>
          <a:xfrm>
            <a:off x="1051560" y="4910328"/>
            <a:ext cx="10058400" cy="320040"/>
          </a:xfrm>
          <a:prstGeom prst="rect">
            <a:avLst/>
          </a:prstGeom>
          <a:noFill/>
          <a:ln/>
        </p:spPr>
        <p:txBody>
          <a:bodyPr wrap="square" lIns="0" tIns="0" rIns="0" bIns="0" rtlCol="0" anchor="t"/>
          <a:lstStyle/>
          <a:p>
            <a:pPr indent="0" marL="0">
              <a:buNone/>
            </a:pPr>
            <a:r>
              <a:rPr lang="en-US" sz="1600" dirty="0">
                <a:solidFill>
                  <a:srgbClr val="E3EBF0"/>
                </a:solidFill>
                <a:latin typeface="Calibri" pitchFamily="34" charset="0"/>
                <a:ea typeface="Calibri" pitchFamily="34" charset="-122"/>
                <a:cs typeface="Calibri" pitchFamily="34" charset="-120"/>
              </a:rPr>
              <a:t>Real evidence reproduced the designed result.</a:t>
            </a:r>
            <a:endParaRPr lang="en-US" sz="1600" dirty="0"/>
          </a:p>
        </p:txBody>
      </p:sp>
      <p:pic>
        <p:nvPicPr>
          <p:cNvPr id="7" name="Image 1" descr="preencoded.png">    </p:cNvPr>
          <p:cNvPicPr>
            <a:picLocks noChangeAspect="1"/>
          </p:cNvPicPr>
          <p:nvPr/>
        </p:nvPicPr>
        <p:blipFill>
          <a:blip r:embed="rId2"/>
          <a:stretch>
            <a:fillRect/>
          </a:stretch>
        </p:blipFill>
        <p:spPr>
          <a:xfrm>
            <a:off x="548640" y="5440680"/>
            <a:ext cx="329184" cy="329184"/>
          </a:xfrm>
          <a:prstGeom prst="rect">
            <a:avLst/>
          </a:prstGeom>
        </p:spPr>
      </p:pic>
      <p:sp>
        <p:nvSpPr>
          <p:cNvPr id="8" name="Text 3"/>
          <p:cNvSpPr txBox="1"/>
          <p:nvPr/>
        </p:nvSpPr>
        <p:spPr>
          <a:xfrm>
            <a:off x="1051560" y="5458968"/>
            <a:ext cx="10058400" cy="320040"/>
          </a:xfrm>
          <a:prstGeom prst="rect">
            <a:avLst/>
          </a:prstGeom>
          <a:noFill/>
          <a:ln/>
        </p:spPr>
        <p:txBody>
          <a:bodyPr wrap="square" lIns="0" tIns="0" rIns="0" bIns="0" rtlCol="0" anchor="t"/>
          <a:lstStyle/>
          <a:p>
            <a:pPr indent="0" marL="0">
              <a:buNone/>
            </a:pPr>
            <a:r>
              <a:rPr lang="en-US" sz="1600" dirty="0">
                <a:solidFill>
                  <a:srgbClr val="E3EBF0"/>
                </a:solidFill>
                <a:latin typeface="Calibri" pitchFamily="34" charset="0"/>
                <a:ea typeface="Calibri" pitchFamily="34" charset="-122"/>
                <a:cs typeface="Calibri" pitchFamily="34" charset="-120"/>
              </a:rPr>
              <a:t>No false alarm: ordinary USB use on a real laptop was not called a leak.</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12 · THE DASHBOARD</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Every conclusion can be checked by hand</a:t>
            </a:r>
            <a:endParaRPr lang="en-US" sz="3000" dirty="0"/>
          </a:p>
        </p:txBody>
      </p:sp>
      <p:sp>
        <p:nvSpPr>
          <p:cNvPr id="4" name="Shape 2"/>
          <p:cNvSpPr/>
          <p:nvPr/>
        </p:nvSpPr>
        <p:spPr>
          <a:xfrm>
            <a:off x="493776" y="1728216"/>
            <a:ext cx="5596128" cy="3538728"/>
          </a:xfrm>
          <a:prstGeom prst="roundRect">
            <a:avLst>
              <a:gd name="adj" fmla="val 2067"/>
            </a:avLst>
          </a:prstGeom>
          <a:solidFill>
            <a:srgbClr val="1C2A35"/>
          </a:solidFill>
          <a:ln w="9525">
            <a:solidFill>
              <a:srgbClr val="2A3A46"/>
            </a:solidFill>
            <a:prstDash val="solid"/>
          </a:ln>
          <a:effectLst>
            <a:outerShdw sx="100000" sy="100000" kx="0" ky="0" algn="bl" rotWithShape="0" blurRad="177800" dist="50800" dir="5400000">
              <a:srgbClr val="000000">
                <a:alpha val="45000"/>
              </a:srgbClr>
            </a:outerShdw>
          </a:effectLst>
        </p:spPr>
      </p:sp>
      <p:pic>
        <p:nvPicPr>
          <p:cNvPr id="5" name="Image 0" descr="C:\Users\Gary\AppData\Local\Temp\claude\C--Users-Gary-Desktop-CF-proj\9eb8b016-f6a9-4b13-949a-4dbf52c2bac2\scratchpad\deck\img\correlations.png">    </p:cNvPr>
          <p:cNvPicPr>
            <a:picLocks noChangeAspect="1"/>
          </p:cNvPicPr>
          <p:nvPr/>
        </p:nvPicPr>
        <p:blipFill>
          <a:blip r:embed="rId1"/>
          <a:stretch>
            <a:fillRect/>
          </a:stretch>
        </p:blipFill>
        <p:spPr>
          <a:xfrm>
            <a:off x="548640" y="1783080"/>
            <a:ext cx="5486400" cy="3429000"/>
          </a:xfrm>
          <a:prstGeom prst="rect">
            <a:avLst/>
          </a:prstGeom>
        </p:spPr>
      </p:pic>
      <p:sp>
        <p:nvSpPr>
          <p:cNvPr id="6" name="Shape 3"/>
          <p:cNvSpPr/>
          <p:nvPr/>
        </p:nvSpPr>
        <p:spPr>
          <a:xfrm>
            <a:off x="6345936" y="1728216"/>
            <a:ext cx="5596128" cy="3538728"/>
          </a:xfrm>
          <a:prstGeom prst="roundRect">
            <a:avLst>
              <a:gd name="adj" fmla="val 2067"/>
            </a:avLst>
          </a:prstGeom>
          <a:solidFill>
            <a:srgbClr val="1C2A35"/>
          </a:solidFill>
          <a:ln w="9525">
            <a:solidFill>
              <a:srgbClr val="2A3A46"/>
            </a:solidFill>
            <a:prstDash val="solid"/>
          </a:ln>
          <a:effectLst>
            <a:outerShdw sx="100000" sy="100000" kx="0" ky="0" algn="bl" rotWithShape="0" blurRad="177800" dist="50800" dir="5400000">
              <a:srgbClr val="000000">
                <a:alpha val="45000"/>
              </a:srgbClr>
            </a:outerShdw>
          </a:effectLst>
        </p:spPr>
      </p:sp>
      <p:pic>
        <p:nvPicPr>
          <p:cNvPr id="7" name="Image 1" descr="C:\Users\Gary\AppData\Local\Temp\claude\C--Users-Gary-Desktop-CF-proj\9eb8b016-f6a9-4b13-949a-4dbf52c2bac2\scratchpad\deck\img\files.png">    </p:cNvPr>
          <p:cNvPicPr>
            <a:picLocks noChangeAspect="1"/>
          </p:cNvPicPr>
          <p:nvPr/>
        </p:nvPicPr>
        <p:blipFill>
          <a:blip r:embed="rId2"/>
          <a:stretch>
            <a:fillRect/>
          </a:stretch>
        </p:blipFill>
        <p:spPr>
          <a:xfrm>
            <a:off x="6400800" y="1783080"/>
            <a:ext cx="5486400" cy="3429000"/>
          </a:xfrm>
          <a:prstGeom prst="rect">
            <a:avLst/>
          </a:prstGeom>
        </p:spPr>
      </p:pic>
      <p:sp>
        <p:nvSpPr>
          <p:cNvPr id="8" name="Text 4"/>
          <p:cNvSpPr txBox="1"/>
          <p:nvPr/>
        </p:nvSpPr>
        <p:spPr>
          <a:xfrm>
            <a:off x="548640" y="5394960"/>
            <a:ext cx="5486400" cy="320040"/>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Correlations: each link lists its reasons and the exact record IDs</a:t>
            </a:r>
            <a:endParaRPr lang="en-US" sz="1300" dirty="0"/>
          </a:p>
        </p:txBody>
      </p:sp>
      <p:sp>
        <p:nvSpPr>
          <p:cNvPr id="9" name="Text 5"/>
          <p:cNvSpPr txBox="1"/>
          <p:nvPr/>
        </p:nvSpPr>
        <p:spPr>
          <a:xfrm>
            <a:off x="6400800" y="5394960"/>
            <a:ext cx="5486400" cy="320040"/>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Sensitive files: the same file on the computer and on the USB drive</a:t>
            </a:r>
            <a:endParaRPr lang="en-US" sz="1300" dirty="0"/>
          </a:p>
        </p:txBody>
      </p:sp>
      <p:sp>
        <p:nvSpPr>
          <p:cNvPr id="10" name="Text 6"/>
          <p:cNvSpPr txBox="1"/>
          <p:nvPr/>
        </p:nvSpPr>
        <p:spPr>
          <a:xfrm>
            <a:off x="548640" y="5852160"/>
            <a:ext cx="11094415" cy="320040"/>
          </a:xfrm>
          <a:prstGeom prst="rect">
            <a:avLst/>
          </a:prstGeom>
          <a:noFill/>
          <a:ln/>
        </p:spPr>
        <p:txBody>
          <a:bodyPr wrap="square" lIns="0" tIns="0" rIns="0" bIns="0" rtlCol="0" anchor="t"/>
          <a:lstStyle/>
          <a:p>
            <a:pPr indent="0" marL="0">
              <a:buNone/>
            </a:pPr>
            <a:r>
              <a:rPr lang="en-US" sz="1200" i="1" dirty="0">
                <a:solidFill>
                  <a:srgbClr val="6B7D89"/>
                </a:solidFill>
                <a:latin typeface="Calibri" pitchFamily="34" charset="0"/>
                <a:ea typeface="Calibri" pitchFamily="34" charset="-122"/>
                <a:cs typeface="Calibri" pitchFamily="34" charset="-120"/>
              </a:rPr>
              <a:t>11 pages: overview, artifacts, devices, files, timeline, correlations, hypotheses, A/B comparison, custody, reports, method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spc="300" kern="0" dirty="0">
                <a:solidFill>
                  <a:srgbClr val="5CC0DD"/>
                </a:solidFill>
                <a:latin typeface="Consolas" pitchFamily="34" charset="0"/>
                <a:ea typeface="Consolas" pitchFamily="34" charset="-122"/>
                <a:cs typeface="Consolas" pitchFamily="34" charset="-120"/>
              </a:rPr>
              <a:t>13 · HONEST LIMITS</a:t>
            </a:r>
            <a:endParaRPr lang="en-US" sz="1100" dirty="0"/>
          </a:p>
        </p:txBody>
      </p:sp>
      <p:sp>
        <p:nvSpPr>
          <p:cNvPr id="3" name="Text 1"/>
          <p:cNvSpPr/>
          <p:nvPr>
            <p:ph idx="101" type="title" hasCustomPrompt="1"/>
          </p:nvPr>
        </p:nvSpPr>
        <p:spPr>
          <a:xfrm>
            <a:off x="548640" y="749808"/>
            <a:ext cx="11094415" cy="777240"/>
          </a:xfrm>
          <a:prstGeom prst="rect">
            <a:avLst/>
          </a:prstGeom>
          <a:noFill/>
          <a:ln/>
        </p:spPr>
        <p:txBody>
          <a:bodyPr wrap="square" lIns="0" tIns="0" rIns="0" bIns="0" rtlCol="0" anchor="t"/>
          <a:lstStyle/>
          <a:p>
            <a:pPr algn="l" indent="0" marL="0">
              <a:buNone/>
            </a:pPr>
            <a:r>
              <a:rPr lang="en-US" sz="3000" b="1" dirty="0">
                <a:solidFill>
                  <a:srgbClr val="E3EBF0"/>
                </a:solidFill>
                <a:latin typeface="Cambria" pitchFamily="34" charset="0"/>
                <a:ea typeface="Cambria" pitchFamily="34" charset="-122"/>
                <a:cs typeface="Cambria" pitchFamily="34" charset="-120"/>
              </a:rPr>
              <a:t>What this project does not claim</a:t>
            </a:r>
            <a:endParaRPr lang="en-US" sz="3000" dirty="0"/>
          </a:p>
        </p:txBody>
      </p:sp>
      <p:sp>
        <p:nvSpPr>
          <p:cNvPr id="4" name="Shape 2"/>
          <p:cNvSpPr/>
          <p:nvPr/>
        </p:nvSpPr>
        <p:spPr>
          <a:xfrm>
            <a:off x="548640" y="1783080"/>
            <a:ext cx="5394960" cy="1188720"/>
          </a:xfrm>
          <a:prstGeom prst="roundRect">
            <a:avLst>
              <a:gd name="adj" fmla="val 6154"/>
            </a:avLst>
          </a:prstGeom>
          <a:solidFill>
            <a:srgbClr val="16212A"/>
          </a:solidFill>
          <a:ln w="9525">
            <a:solidFill>
              <a:srgbClr val="2A3A46"/>
            </a:solidFill>
            <a:prstDash val="solid"/>
          </a:ln>
        </p:spPr>
      </p:sp>
      <p:pic>
        <p:nvPicPr>
          <p:cNvPr id="5" name="Image 0" descr="preencoded.png">    </p:cNvPr>
          <p:cNvPicPr>
            <a:picLocks noChangeAspect="1"/>
          </p:cNvPicPr>
          <p:nvPr/>
        </p:nvPicPr>
        <p:blipFill>
          <a:blip r:embed="rId1"/>
          <a:stretch>
            <a:fillRect/>
          </a:stretch>
        </p:blipFill>
        <p:spPr>
          <a:xfrm>
            <a:off x="822960" y="2057400"/>
            <a:ext cx="329184" cy="329184"/>
          </a:xfrm>
          <a:prstGeom prst="rect">
            <a:avLst/>
          </a:prstGeom>
        </p:spPr>
      </p:pic>
      <p:sp>
        <p:nvSpPr>
          <p:cNvPr id="6" name="Text 3"/>
          <p:cNvSpPr txBox="1"/>
          <p:nvPr/>
        </p:nvSpPr>
        <p:spPr>
          <a:xfrm>
            <a:off x="1325880" y="1984248"/>
            <a:ext cx="4434840" cy="365760"/>
          </a:xfrm>
          <a:prstGeom prst="rect">
            <a:avLst/>
          </a:prstGeom>
          <a:noFill/>
          <a:ln/>
        </p:spPr>
        <p:txBody>
          <a:bodyPr wrap="square" lIns="0" tIns="0" rIns="0" bIns="0" rtlCol="0" anchor="t"/>
          <a:lstStyle/>
          <a:p>
            <a:pPr indent="0" marL="0">
              <a:buNone/>
            </a:pPr>
            <a:r>
              <a:rPr lang="en-US" sz="1600" b="1" dirty="0">
                <a:solidFill>
                  <a:srgbClr val="E3EBF0"/>
                </a:solidFill>
                <a:latin typeface="Calibri" pitchFamily="34" charset="0"/>
                <a:ea typeface="Calibri" pitchFamily="34" charset="-122"/>
                <a:cs typeface="Calibri" pitchFamily="34" charset="-120"/>
              </a:rPr>
              <a:t>It does not prove guilt or intent</a:t>
            </a:r>
            <a:endParaRPr lang="en-US" sz="1600" dirty="0"/>
          </a:p>
        </p:txBody>
      </p:sp>
      <p:sp>
        <p:nvSpPr>
          <p:cNvPr id="7" name="Text 4"/>
          <p:cNvSpPr txBox="1"/>
          <p:nvPr/>
        </p:nvSpPr>
        <p:spPr>
          <a:xfrm>
            <a:off x="1325880" y="2377440"/>
            <a:ext cx="4434840" cy="502920"/>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Evidence can support a transfer; motive is outside forensics.</a:t>
            </a:r>
            <a:endParaRPr lang="en-US" sz="1300" dirty="0"/>
          </a:p>
        </p:txBody>
      </p:sp>
      <p:sp>
        <p:nvSpPr>
          <p:cNvPr id="8" name="Shape 5"/>
          <p:cNvSpPr/>
          <p:nvPr/>
        </p:nvSpPr>
        <p:spPr>
          <a:xfrm>
            <a:off x="6190488" y="1783080"/>
            <a:ext cx="5394960" cy="1188720"/>
          </a:xfrm>
          <a:prstGeom prst="roundRect">
            <a:avLst>
              <a:gd name="adj" fmla="val 6154"/>
            </a:avLst>
          </a:prstGeom>
          <a:solidFill>
            <a:srgbClr val="16212A"/>
          </a:solidFill>
          <a:ln w="9525">
            <a:solidFill>
              <a:srgbClr val="2A3A46"/>
            </a:solidFill>
            <a:prstDash val="solid"/>
          </a:ln>
        </p:spPr>
      </p:sp>
      <p:pic>
        <p:nvPicPr>
          <p:cNvPr id="9" name="Image 1" descr="preencoded.png">    </p:cNvPr>
          <p:cNvPicPr>
            <a:picLocks noChangeAspect="1"/>
          </p:cNvPicPr>
          <p:nvPr/>
        </p:nvPicPr>
        <p:blipFill>
          <a:blip r:embed="rId2"/>
          <a:stretch>
            <a:fillRect/>
          </a:stretch>
        </p:blipFill>
        <p:spPr>
          <a:xfrm>
            <a:off x="6464808" y="2057400"/>
            <a:ext cx="329184" cy="329184"/>
          </a:xfrm>
          <a:prstGeom prst="rect">
            <a:avLst/>
          </a:prstGeom>
        </p:spPr>
      </p:pic>
      <p:sp>
        <p:nvSpPr>
          <p:cNvPr id="10" name="Text 6"/>
          <p:cNvSpPr txBox="1"/>
          <p:nvPr/>
        </p:nvSpPr>
        <p:spPr>
          <a:xfrm>
            <a:off x="6967728" y="1984248"/>
            <a:ext cx="4434840" cy="365760"/>
          </a:xfrm>
          <a:prstGeom prst="rect">
            <a:avLst/>
          </a:prstGeom>
          <a:noFill/>
          <a:ln/>
        </p:spPr>
        <p:txBody>
          <a:bodyPr wrap="square" lIns="0" tIns="0" rIns="0" bIns="0" rtlCol="0" anchor="t"/>
          <a:lstStyle/>
          <a:p>
            <a:pPr indent="0" marL="0">
              <a:buNone/>
            </a:pPr>
            <a:r>
              <a:rPr lang="en-US" sz="1600" b="1" dirty="0">
                <a:solidFill>
                  <a:srgbClr val="E3EBF0"/>
                </a:solidFill>
                <a:latin typeface="Calibri" pitchFamily="34" charset="0"/>
                <a:ea typeface="Calibri" pitchFamily="34" charset="-122"/>
                <a:cs typeface="Calibri" pitchFamily="34" charset="-120"/>
              </a:rPr>
              <a:t>Company data is fictional</a:t>
            </a:r>
            <a:endParaRPr lang="en-US" sz="1600" dirty="0"/>
          </a:p>
        </p:txBody>
      </p:sp>
      <p:sp>
        <p:nvSpPr>
          <p:cNvPr id="11" name="Text 7"/>
          <p:cNvSpPr txBox="1"/>
          <p:nvPr/>
        </p:nvSpPr>
        <p:spPr>
          <a:xfrm>
            <a:off x="6967728" y="2377440"/>
            <a:ext cx="4434840" cy="502920"/>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The Windows traces are real; the salary and customer files are made up.</a:t>
            </a:r>
            <a:endParaRPr lang="en-US" sz="1300" dirty="0"/>
          </a:p>
        </p:txBody>
      </p:sp>
      <p:sp>
        <p:nvSpPr>
          <p:cNvPr id="12" name="Shape 8"/>
          <p:cNvSpPr/>
          <p:nvPr/>
        </p:nvSpPr>
        <p:spPr>
          <a:xfrm>
            <a:off x="548640" y="3154680"/>
            <a:ext cx="5394960" cy="1188720"/>
          </a:xfrm>
          <a:prstGeom prst="roundRect">
            <a:avLst>
              <a:gd name="adj" fmla="val 6154"/>
            </a:avLst>
          </a:prstGeom>
          <a:solidFill>
            <a:srgbClr val="16212A"/>
          </a:solidFill>
          <a:ln w="9525">
            <a:solidFill>
              <a:srgbClr val="2A3A46"/>
            </a:solidFill>
            <a:prstDash val="solid"/>
          </a:ln>
        </p:spPr>
      </p:sp>
      <p:pic>
        <p:nvPicPr>
          <p:cNvPr id="13" name="Image 2" descr="preencoded.png">    </p:cNvPr>
          <p:cNvPicPr>
            <a:picLocks noChangeAspect="1"/>
          </p:cNvPicPr>
          <p:nvPr/>
        </p:nvPicPr>
        <p:blipFill>
          <a:blip r:embed="rId3"/>
          <a:stretch>
            <a:fillRect/>
          </a:stretch>
        </p:blipFill>
        <p:spPr>
          <a:xfrm>
            <a:off x="822960" y="3429000"/>
            <a:ext cx="329184" cy="329184"/>
          </a:xfrm>
          <a:prstGeom prst="rect">
            <a:avLst/>
          </a:prstGeom>
        </p:spPr>
      </p:pic>
      <p:sp>
        <p:nvSpPr>
          <p:cNvPr id="14" name="Text 9"/>
          <p:cNvSpPr txBox="1"/>
          <p:nvPr/>
        </p:nvSpPr>
        <p:spPr>
          <a:xfrm>
            <a:off x="1325880" y="3355848"/>
            <a:ext cx="4434840" cy="365760"/>
          </a:xfrm>
          <a:prstGeom prst="rect">
            <a:avLst/>
          </a:prstGeom>
          <a:noFill/>
          <a:ln/>
        </p:spPr>
        <p:txBody>
          <a:bodyPr wrap="square" lIns="0" tIns="0" rIns="0" bIns="0" rtlCol="0" anchor="t"/>
          <a:lstStyle/>
          <a:p>
            <a:pPr indent="0" marL="0">
              <a:buNone/>
            </a:pPr>
            <a:r>
              <a:rPr lang="en-US" sz="1600" b="1" dirty="0">
                <a:solidFill>
                  <a:srgbClr val="E3EBF0"/>
                </a:solidFill>
                <a:latin typeface="Calibri" pitchFamily="34" charset="0"/>
                <a:ea typeface="Calibri" pitchFamily="34" charset="-122"/>
                <a:cs typeface="Calibri" pitchFamily="34" charset="-120"/>
              </a:rPr>
              <a:t>Live collection touches the system</a:t>
            </a:r>
            <a:endParaRPr lang="en-US" sz="1600" dirty="0"/>
          </a:p>
        </p:txBody>
      </p:sp>
      <p:sp>
        <p:nvSpPr>
          <p:cNvPr id="15" name="Text 10"/>
          <p:cNvSpPr txBox="1"/>
          <p:nvPr/>
        </p:nvSpPr>
        <p:spPr>
          <a:xfrm>
            <a:off x="1325880" y="3749040"/>
            <a:ext cx="4434840" cy="502920"/>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Formal casework should image a powered-off disk and analyse a verified copy.</a:t>
            </a:r>
            <a:endParaRPr lang="en-US" sz="1300" dirty="0"/>
          </a:p>
        </p:txBody>
      </p:sp>
      <p:sp>
        <p:nvSpPr>
          <p:cNvPr id="16" name="Shape 11"/>
          <p:cNvSpPr/>
          <p:nvPr/>
        </p:nvSpPr>
        <p:spPr>
          <a:xfrm>
            <a:off x="6190488" y="3154680"/>
            <a:ext cx="5394960" cy="1188720"/>
          </a:xfrm>
          <a:prstGeom prst="roundRect">
            <a:avLst>
              <a:gd name="adj" fmla="val 6154"/>
            </a:avLst>
          </a:prstGeom>
          <a:solidFill>
            <a:srgbClr val="16212A"/>
          </a:solidFill>
          <a:ln w="9525">
            <a:solidFill>
              <a:srgbClr val="2A3A46"/>
            </a:solidFill>
            <a:prstDash val="solid"/>
          </a:ln>
        </p:spPr>
      </p:sp>
      <p:pic>
        <p:nvPicPr>
          <p:cNvPr id="17" name="Image 3" descr="preencoded.png">    </p:cNvPr>
          <p:cNvPicPr>
            <a:picLocks noChangeAspect="1"/>
          </p:cNvPicPr>
          <p:nvPr/>
        </p:nvPicPr>
        <p:blipFill>
          <a:blip r:embed="rId4"/>
          <a:stretch>
            <a:fillRect/>
          </a:stretch>
        </p:blipFill>
        <p:spPr>
          <a:xfrm>
            <a:off x="6464808" y="3429000"/>
            <a:ext cx="329184" cy="329184"/>
          </a:xfrm>
          <a:prstGeom prst="rect">
            <a:avLst/>
          </a:prstGeom>
        </p:spPr>
      </p:pic>
      <p:sp>
        <p:nvSpPr>
          <p:cNvPr id="18" name="Text 12"/>
          <p:cNvSpPr txBox="1"/>
          <p:nvPr/>
        </p:nvSpPr>
        <p:spPr>
          <a:xfrm>
            <a:off x="6967728" y="3355848"/>
            <a:ext cx="4434840" cy="365760"/>
          </a:xfrm>
          <a:prstGeom prst="rect">
            <a:avLst/>
          </a:prstGeom>
          <a:noFill/>
          <a:ln/>
        </p:spPr>
        <p:txBody>
          <a:bodyPr wrap="square" lIns="0" tIns="0" rIns="0" bIns="0" rtlCol="0" anchor="t"/>
          <a:lstStyle/>
          <a:p>
            <a:pPr indent="0" marL="0">
              <a:buNone/>
            </a:pPr>
            <a:r>
              <a:rPr lang="en-US" sz="1600" b="1" dirty="0">
                <a:solidFill>
                  <a:srgbClr val="E3EBF0"/>
                </a:solidFill>
                <a:latin typeface="Calibri" pitchFamily="34" charset="0"/>
                <a:ea typeface="Calibri" pitchFamily="34" charset="-122"/>
                <a:cs typeface="Calibri" pitchFamily="34" charset="-120"/>
              </a:rPr>
              <a:t>One laptop, one Windows version</a:t>
            </a:r>
            <a:endParaRPr lang="en-US" sz="1600" dirty="0"/>
          </a:p>
        </p:txBody>
      </p:sp>
      <p:sp>
        <p:nvSpPr>
          <p:cNvPr id="19" name="Text 13"/>
          <p:cNvSpPr txBox="1"/>
          <p:nvPr/>
        </p:nvSpPr>
        <p:spPr>
          <a:xfrm>
            <a:off x="6967728" y="3749040"/>
            <a:ext cx="4434840" cy="502920"/>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A larger study would repeat the run on more PCs and USB devices.</a:t>
            </a:r>
            <a:endParaRPr lang="en-US" sz="1300" dirty="0"/>
          </a:p>
        </p:txBody>
      </p:sp>
      <p:sp>
        <p:nvSpPr>
          <p:cNvPr id="20" name="Shape 14"/>
          <p:cNvSpPr/>
          <p:nvPr/>
        </p:nvSpPr>
        <p:spPr>
          <a:xfrm>
            <a:off x="548640" y="4526280"/>
            <a:ext cx="5394960" cy="1188720"/>
          </a:xfrm>
          <a:prstGeom prst="roundRect">
            <a:avLst>
              <a:gd name="adj" fmla="val 6154"/>
            </a:avLst>
          </a:prstGeom>
          <a:solidFill>
            <a:srgbClr val="16212A"/>
          </a:solidFill>
          <a:ln w="9525">
            <a:solidFill>
              <a:srgbClr val="2A3A46"/>
            </a:solidFill>
            <a:prstDash val="solid"/>
          </a:ln>
        </p:spPr>
      </p:sp>
      <p:pic>
        <p:nvPicPr>
          <p:cNvPr id="21" name="Image 4" descr="preencoded.png">    </p:cNvPr>
          <p:cNvPicPr>
            <a:picLocks noChangeAspect="1"/>
          </p:cNvPicPr>
          <p:nvPr/>
        </p:nvPicPr>
        <p:blipFill>
          <a:blip r:embed="rId5"/>
          <a:stretch>
            <a:fillRect/>
          </a:stretch>
        </p:blipFill>
        <p:spPr>
          <a:xfrm>
            <a:off x="822960" y="4800600"/>
            <a:ext cx="329184" cy="329184"/>
          </a:xfrm>
          <a:prstGeom prst="rect">
            <a:avLst/>
          </a:prstGeom>
        </p:spPr>
      </p:pic>
      <p:sp>
        <p:nvSpPr>
          <p:cNvPr id="22" name="Text 15"/>
          <p:cNvSpPr txBox="1"/>
          <p:nvPr/>
        </p:nvSpPr>
        <p:spPr>
          <a:xfrm>
            <a:off x="1325880" y="4727448"/>
            <a:ext cx="4434840" cy="365760"/>
          </a:xfrm>
          <a:prstGeom prst="rect">
            <a:avLst/>
          </a:prstGeom>
          <a:noFill/>
          <a:ln/>
        </p:spPr>
        <p:txBody>
          <a:bodyPr wrap="square" lIns="0" tIns="0" rIns="0" bIns="0" rtlCol="0" anchor="t"/>
          <a:lstStyle/>
          <a:p>
            <a:pPr indent="0" marL="0">
              <a:buNone/>
            </a:pPr>
            <a:r>
              <a:rPr lang="en-US" sz="1600" b="1" dirty="0">
                <a:solidFill>
                  <a:srgbClr val="E3EBF0"/>
                </a:solidFill>
                <a:latin typeface="Calibri" pitchFamily="34" charset="0"/>
                <a:ea typeface="Calibri" pitchFamily="34" charset="-122"/>
                <a:cs typeface="Calibri" pitchFamily="34" charset="-120"/>
              </a:rPr>
              <a:t>The score is not a standard</a:t>
            </a:r>
            <a:endParaRPr lang="en-US" sz="1600" dirty="0"/>
          </a:p>
        </p:txBody>
      </p:sp>
      <p:sp>
        <p:nvSpPr>
          <p:cNvPr id="23" name="Text 16"/>
          <p:cNvSpPr txBox="1"/>
          <p:nvPr/>
        </p:nvSpPr>
        <p:spPr>
          <a:xfrm>
            <a:off x="1325880" y="5120640"/>
            <a:ext cx="4434840" cy="502920"/>
          </a:xfrm>
          <a:prstGeom prst="rect">
            <a:avLst/>
          </a:prstGeom>
          <a:noFill/>
          <a:ln/>
        </p:spPr>
        <p:txBody>
          <a:bodyPr wrap="square" lIns="0" tIns="0" rIns="0" bIns="0" rtlCol="0" anchor="t"/>
          <a:lstStyle/>
          <a:p>
            <a:pPr indent="0" marL="0">
              <a:buNone/>
            </a:pPr>
            <a:r>
              <a:rPr lang="en-US" sz="1300" dirty="0">
                <a:solidFill>
                  <a:srgbClr val="94A6B3"/>
                </a:solidFill>
                <a:latin typeface="Calibri" pitchFamily="34" charset="0"/>
                <a:ea typeface="Calibri" pitchFamily="34" charset="-122"/>
                <a:cs typeface="Calibri" pitchFamily="34" charset="-120"/>
              </a:rPr>
              <a:t>It ranks findings; it is not a probability.</a:t>
            </a:r>
            <a:endParaRPr lang="en-US" sz="1300" dirty="0"/>
          </a:p>
        </p:txBody>
      </p:sp>
      <p:sp>
        <p:nvSpPr>
          <p:cNvPr id="24" name="Shape 17"/>
          <p:cNvSpPr/>
          <p:nvPr/>
        </p:nvSpPr>
        <p:spPr>
          <a:xfrm>
            <a:off x="6190488" y="4526280"/>
            <a:ext cx="5394960" cy="1188720"/>
          </a:xfrm>
          <a:prstGeom prst="roundRect">
            <a:avLst>
              <a:gd name="adj" fmla="val 6154"/>
            </a:avLst>
          </a:prstGeom>
          <a:solidFill>
            <a:srgbClr val="1C2A35"/>
          </a:solidFill>
          <a:ln w="9525">
            <a:solidFill>
              <a:srgbClr val="2A3A46"/>
            </a:solidFill>
            <a:prstDash val="solid"/>
          </a:ln>
        </p:spPr>
      </p:sp>
      <p:sp>
        <p:nvSpPr>
          <p:cNvPr id="25" name="Text 18"/>
          <p:cNvSpPr txBox="1"/>
          <p:nvPr/>
        </p:nvSpPr>
        <p:spPr>
          <a:xfrm>
            <a:off x="6464808" y="4681728"/>
            <a:ext cx="4572000" cy="274320"/>
          </a:xfrm>
          <a:prstGeom prst="rect">
            <a:avLst/>
          </a:prstGeom>
          <a:noFill/>
          <a:ln/>
        </p:spPr>
        <p:txBody>
          <a:bodyPr wrap="square" lIns="0" tIns="0" rIns="0" bIns="0" rtlCol="0" anchor="t"/>
          <a:lstStyle/>
          <a:p>
            <a:pPr indent="0" marL="0">
              <a:buNone/>
            </a:pPr>
            <a:r>
              <a:rPr lang="en-US" sz="1100" spc="300" kern="0" dirty="0">
                <a:solidFill>
                  <a:srgbClr val="5CC0DD"/>
                </a:solidFill>
                <a:latin typeface="Consolas" pitchFamily="34" charset="0"/>
                <a:ea typeface="Consolas" pitchFamily="34" charset="-122"/>
                <a:cs typeface="Consolas" pitchFamily="34" charset="-120"/>
              </a:rPr>
              <a:t>FUTURE WORK</a:t>
            </a:r>
            <a:endParaRPr lang="en-US" sz="1100" dirty="0"/>
          </a:p>
        </p:txBody>
      </p:sp>
      <p:sp>
        <p:nvSpPr>
          <p:cNvPr id="26" name="Text 19"/>
          <p:cNvSpPr txBox="1"/>
          <p:nvPr/>
        </p:nvSpPr>
        <p:spPr>
          <a:xfrm>
            <a:off x="6464808" y="5010912"/>
            <a:ext cx="4846320" cy="594360"/>
          </a:xfrm>
          <a:prstGeom prst="rect">
            <a:avLst/>
          </a:prstGeom>
          <a:noFill/>
          <a:ln/>
        </p:spPr>
        <p:txBody>
          <a:bodyPr wrap="square" lIns="0" tIns="0" rIns="0" bIns="0" rtlCol="0" anchor="t"/>
          <a:lstStyle/>
          <a:p>
            <a:pPr indent="0" marL="0">
              <a:buNone/>
            </a:pPr>
            <a:r>
              <a:rPr lang="en-US" sz="1300" dirty="0">
                <a:solidFill>
                  <a:srgbClr val="E3EBF0"/>
                </a:solidFill>
                <a:latin typeface="Calibri" pitchFamily="34" charset="0"/>
                <a:ea typeface="Calibri" pitchFamily="34" charset="-122"/>
                <a:cs typeface="Calibri" pitchFamily="34" charset="-120"/>
              </a:rPr>
              <a:t>Disk-image analysis, more devices and Windows versions, and capturing USB removal events.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D8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200" spc="300" kern="0" dirty="0">
                <a:solidFill>
                  <a:srgbClr val="5CC0DD"/>
                </a:solidFill>
                <a:latin typeface="Consolas" pitchFamily="34" charset="0"/>
                <a:ea typeface="Consolas" pitchFamily="34" charset="-122"/>
                <a:cs typeface="Consolas" pitchFamily="34" charset="-120"/>
              </a:rPr>
              <a:t>CONCLUSION</a:t>
            </a:r>
            <a:endParaRPr lang="en-US" sz="1200" dirty="0"/>
          </a:p>
        </p:txBody>
      </p:sp>
      <p:sp>
        <p:nvSpPr>
          <p:cNvPr id="3" name="Text 1"/>
          <p:cNvSpPr txBox="1"/>
          <p:nvPr/>
        </p:nvSpPr>
        <p:spPr>
          <a:xfrm>
            <a:off x="548640" y="1554480"/>
            <a:ext cx="6949440" cy="2377440"/>
          </a:xfrm>
          <a:prstGeom prst="rect">
            <a:avLst/>
          </a:prstGeom>
          <a:noFill/>
          <a:ln/>
        </p:spPr>
        <p:txBody>
          <a:bodyPr wrap="square" lIns="0" tIns="0" rIns="0" bIns="0" rtlCol="0" anchor="t"/>
          <a:lstStyle/>
          <a:p>
            <a:pPr indent="0" marL="0">
              <a:buNone/>
            </a:pPr>
            <a:r>
              <a:rPr lang="en-US" sz="3000" b="1" dirty="0">
                <a:solidFill>
                  <a:srgbClr val="E3EBF0"/>
                </a:solidFill>
                <a:latin typeface="Cambria" pitchFamily="34" charset="0"/>
                <a:ea typeface="Cambria" pitchFamily="34" charset="-122"/>
                <a:cs typeface="Cambria" pitchFamily="34" charset="-120"/>
              </a:rPr>
              <a:t>Several independent clues, agreeing in the same USB window, separate an insider from normal use far better than any single clue</a:t>
            </a:r>
            <a:endParaRPr lang="en-US" sz="3000" dirty="0"/>
          </a:p>
        </p:txBody>
      </p:sp>
      <p:sp>
        <p:nvSpPr>
          <p:cNvPr id="4" name="Text 2"/>
          <p:cNvSpPr txBox="1"/>
          <p:nvPr/>
        </p:nvSpPr>
        <p:spPr>
          <a:xfrm>
            <a:off x="548640" y="3977640"/>
            <a:ext cx="6949440" cy="548640"/>
          </a:xfrm>
          <a:prstGeom prst="rect">
            <a:avLst/>
          </a:prstGeom>
          <a:noFill/>
          <a:ln/>
        </p:spPr>
        <p:txBody>
          <a:bodyPr wrap="square" lIns="0" tIns="0" rIns="0" bIns="0" rtlCol="0" anchor="t"/>
          <a:lstStyle/>
          <a:p>
            <a:pPr indent="0" marL="0">
              <a:buNone/>
            </a:pPr>
            <a:r>
              <a:rPr lang="en-US" sz="2200" i="1" dirty="0">
                <a:solidFill>
                  <a:srgbClr val="F0C04A"/>
                </a:solidFill>
                <a:latin typeface="Cambria" pitchFamily="34" charset="0"/>
                <a:ea typeface="Cambria" pitchFamily="34" charset="-122"/>
                <a:cs typeface="Cambria" pitchFamily="34" charset="-120"/>
              </a:rPr>
              <a:t>and that held on real Windows evidence.</a:t>
            </a:r>
            <a:endParaRPr lang="en-US" sz="2200" dirty="0"/>
          </a:p>
        </p:txBody>
      </p:sp>
      <p:sp>
        <p:nvSpPr>
          <p:cNvPr id="5" name="Text 3"/>
          <p:cNvSpPr txBox="1"/>
          <p:nvPr/>
        </p:nvSpPr>
        <p:spPr>
          <a:xfrm>
            <a:off x="8183880" y="1143000"/>
            <a:ext cx="1188720" cy="822960"/>
          </a:xfrm>
          <a:prstGeom prst="rect">
            <a:avLst/>
          </a:prstGeom>
          <a:noFill/>
          <a:ln/>
        </p:spPr>
        <p:txBody>
          <a:bodyPr wrap="square" lIns="0" tIns="0" rIns="0" bIns="0" rtlCol="0" anchor="ctr"/>
          <a:lstStyle/>
          <a:p>
            <a:pPr indent="0" marL="0">
              <a:buNone/>
            </a:pPr>
            <a:r>
              <a:rPr lang="en-US" sz="4400" b="1" dirty="0">
                <a:solidFill>
                  <a:srgbClr val="5CC0DD"/>
                </a:solidFill>
                <a:latin typeface="Cambria" pitchFamily="34" charset="0"/>
                <a:ea typeface="Cambria" pitchFamily="34" charset="-122"/>
                <a:cs typeface="Cambria" pitchFamily="34" charset="-120"/>
              </a:rPr>
              <a:t>5</a:t>
            </a:r>
            <a:endParaRPr lang="en-US" sz="4400" dirty="0"/>
          </a:p>
        </p:txBody>
      </p:sp>
      <p:sp>
        <p:nvSpPr>
          <p:cNvPr id="6" name="Text 4"/>
          <p:cNvSpPr txBox="1"/>
          <p:nvPr/>
        </p:nvSpPr>
        <p:spPr>
          <a:xfrm>
            <a:off x="9418320" y="1143000"/>
            <a:ext cx="2194560" cy="822960"/>
          </a:xfrm>
          <a:prstGeom prst="rect">
            <a:avLst/>
          </a:prstGeom>
          <a:noFill/>
          <a:ln/>
        </p:spPr>
        <p:txBody>
          <a:bodyPr wrap="square" lIns="0" tIns="0" rIns="0" bIns="0" rtlCol="0" anchor="ctr"/>
          <a:lstStyle/>
          <a:p>
            <a:pPr indent="0" marL="0">
              <a:buNone/>
            </a:pPr>
            <a:r>
              <a:rPr lang="en-US" sz="1600" dirty="0">
                <a:solidFill>
                  <a:srgbClr val="94A6B3"/>
                </a:solidFill>
                <a:latin typeface="Calibri" pitchFamily="34" charset="0"/>
                <a:ea typeface="Calibri" pitchFamily="34" charset="-122"/>
                <a:cs typeface="Calibri" pitchFamily="34" charset="-120"/>
              </a:rPr>
              <a:t>evidence sources</a:t>
            </a:r>
            <a:endParaRPr lang="en-US" sz="1600" dirty="0"/>
          </a:p>
        </p:txBody>
      </p:sp>
      <p:sp>
        <p:nvSpPr>
          <p:cNvPr id="7" name="Text 5"/>
          <p:cNvSpPr txBox="1"/>
          <p:nvPr/>
        </p:nvSpPr>
        <p:spPr>
          <a:xfrm>
            <a:off x="8183880" y="2286000"/>
            <a:ext cx="1188720" cy="822960"/>
          </a:xfrm>
          <a:prstGeom prst="rect">
            <a:avLst/>
          </a:prstGeom>
          <a:noFill/>
          <a:ln/>
        </p:spPr>
        <p:txBody>
          <a:bodyPr wrap="square" lIns="0" tIns="0" rIns="0" bIns="0" rtlCol="0" anchor="ctr"/>
          <a:lstStyle/>
          <a:p>
            <a:pPr indent="0" marL="0">
              <a:buNone/>
            </a:pPr>
            <a:r>
              <a:rPr lang="en-US" sz="4400" b="1" dirty="0">
                <a:solidFill>
                  <a:srgbClr val="5CC0DD"/>
                </a:solidFill>
                <a:latin typeface="Cambria" pitchFamily="34" charset="0"/>
                <a:ea typeface="Cambria" pitchFamily="34" charset="-122"/>
                <a:cs typeface="Cambria" pitchFamily="34" charset="-120"/>
              </a:rPr>
              <a:t>8</a:t>
            </a:r>
            <a:endParaRPr lang="en-US" sz="4400" dirty="0"/>
          </a:p>
        </p:txBody>
      </p:sp>
      <p:sp>
        <p:nvSpPr>
          <p:cNvPr id="8" name="Text 6"/>
          <p:cNvSpPr txBox="1"/>
          <p:nvPr/>
        </p:nvSpPr>
        <p:spPr>
          <a:xfrm>
            <a:off x="9418320" y="2286000"/>
            <a:ext cx="2194560" cy="822960"/>
          </a:xfrm>
          <a:prstGeom prst="rect">
            <a:avLst/>
          </a:prstGeom>
          <a:noFill/>
          <a:ln/>
        </p:spPr>
        <p:txBody>
          <a:bodyPr wrap="square" lIns="0" tIns="0" rIns="0" bIns="0" rtlCol="0" anchor="ctr"/>
          <a:lstStyle/>
          <a:p>
            <a:pPr indent="0" marL="0">
              <a:buNone/>
            </a:pPr>
            <a:r>
              <a:rPr lang="en-US" sz="1600" dirty="0">
                <a:solidFill>
                  <a:srgbClr val="94A6B3"/>
                </a:solidFill>
                <a:latin typeface="Calibri" pitchFamily="34" charset="0"/>
                <a:ea typeface="Calibri" pitchFamily="34" charset="-122"/>
                <a:cs typeface="Calibri" pitchFamily="34" charset="-120"/>
              </a:rPr>
              <a:t>correlations</a:t>
            </a:r>
            <a:endParaRPr lang="en-US" sz="1600" dirty="0"/>
          </a:p>
        </p:txBody>
      </p:sp>
      <p:sp>
        <p:nvSpPr>
          <p:cNvPr id="9" name="Text 7"/>
          <p:cNvSpPr txBox="1"/>
          <p:nvPr/>
        </p:nvSpPr>
        <p:spPr>
          <a:xfrm>
            <a:off x="8183880" y="3429000"/>
            <a:ext cx="1188720" cy="822960"/>
          </a:xfrm>
          <a:prstGeom prst="rect">
            <a:avLst/>
          </a:prstGeom>
          <a:noFill/>
          <a:ln/>
        </p:spPr>
        <p:txBody>
          <a:bodyPr wrap="square" lIns="0" tIns="0" rIns="0" bIns="0" rtlCol="0" anchor="ctr"/>
          <a:lstStyle/>
          <a:p>
            <a:pPr indent="0" marL="0">
              <a:buNone/>
            </a:pPr>
            <a:r>
              <a:rPr lang="en-US" sz="4400" b="1" dirty="0">
                <a:solidFill>
                  <a:srgbClr val="5CC0DD"/>
                </a:solidFill>
                <a:latin typeface="Cambria" pitchFamily="34" charset="0"/>
                <a:ea typeface="Cambria" pitchFamily="34" charset="-122"/>
                <a:cs typeface="Cambria" pitchFamily="34" charset="-120"/>
              </a:rPr>
              <a:t>4</a:t>
            </a:r>
            <a:endParaRPr lang="en-US" sz="4400" dirty="0"/>
          </a:p>
        </p:txBody>
      </p:sp>
      <p:sp>
        <p:nvSpPr>
          <p:cNvPr id="10" name="Text 8"/>
          <p:cNvSpPr txBox="1"/>
          <p:nvPr/>
        </p:nvSpPr>
        <p:spPr>
          <a:xfrm>
            <a:off x="9418320" y="3429000"/>
            <a:ext cx="2194560" cy="822960"/>
          </a:xfrm>
          <a:prstGeom prst="rect">
            <a:avLst/>
          </a:prstGeom>
          <a:noFill/>
          <a:ln/>
        </p:spPr>
        <p:txBody>
          <a:bodyPr wrap="square" lIns="0" tIns="0" rIns="0" bIns="0" rtlCol="0" anchor="ctr"/>
          <a:lstStyle/>
          <a:p>
            <a:pPr indent="0" marL="0">
              <a:buNone/>
            </a:pPr>
            <a:r>
              <a:rPr lang="en-US" sz="1600" dirty="0">
                <a:solidFill>
                  <a:srgbClr val="94A6B3"/>
                </a:solidFill>
                <a:latin typeface="Calibri" pitchFamily="34" charset="0"/>
                <a:ea typeface="Calibri" pitchFamily="34" charset="-122"/>
                <a:cs typeface="Calibri" pitchFamily="34" charset="-120"/>
              </a:rPr>
              <a:t>hypotheses</a:t>
            </a:r>
            <a:endParaRPr lang="en-US" sz="1600" dirty="0"/>
          </a:p>
        </p:txBody>
      </p:sp>
      <p:sp>
        <p:nvSpPr>
          <p:cNvPr id="11" name="Text 9"/>
          <p:cNvSpPr txBox="1"/>
          <p:nvPr/>
        </p:nvSpPr>
        <p:spPr>
          <a:xfrm>
            <a:off x="8183880" y="4572000"/>
            <a:ext cx="1188720" cy="822960"/>
          </a:xfrm>
          <a:prstGeom prst="rect">
            <a:avLst/>
          </a:prstGeom>
          <a:noFill/>
          <a:ln/>
        </p:spPr>
        <p:txBody>
          <a:bodyPr wrap="square" lIns="0" tIns="0" rIns="0" bIns="0" rtlCol="0" anchor="ctr"/>
          <a:lstStyle/>
          <a:p>
            <a:pPr indent="0" marL="0">
              <a:buNone/>
            </a:pPr>
            <a:r>
              <a:rPr lang="en-US" sz="4400" b="1" dirty="0">
                <a:solidFill>
                  <a:srgbClr val="5CC0DD"/>
                </a:solidFill>
                <a:latin typeface="Cambria" pitchFamily="34" charset="0"/>
                <a:ea typeface="Cambria" pitchFamily="34" charset="-122"/>
                <a:cs typeface="Cambria" pitchFamily="34" charset="-120"/>
              </a:rPr>
              <a:t>14</a:t>
            </a:r>
            <a:endParaRPr lang="en-US" sz="4400" dirty="0"/>
          </a:p>
        </p:txBody>
      </p:sp>
      <p:sp>
        <p:nvSpPr>
          <p:cNvPr id="12" name="Text 10"/>
          <p:cNvSpPr txBox="1"/>
          <p:nvPr/>
        </p:nvSpPr>
        <p:spPr>
          <a:xfrm>
            <a:off x="9418320" y="4572000"/>
            <a:ext cx="2194560" cy="822960"/>
          </a:xfrm>
          <a:prstGeom prst="rect">
            <a:avLst/>
          </a:prstGeom>
          <a:noFill/>
          <a:ln/>
        </p:spPr>
        <p:txBody>
          <a:bodyPr wrap="square" lIns="0" tIns="0" rIns="0" bIns="0" rtlCol="0" anchor="ctr"/>
          <a:lstStyle/>
          <a:p>
            <a:pPr indent="0" marL="0">
              <a:buNone/>
            </a:pPr>
            <a:r>
              <a:rPr lang="en-US" sz="1600" dirty="0">
                <a:solidFill>
                  <a:srgbClr val="94A6B3"/>
                </a:solidFill>
                <a:latin typeface="Calibri" pitchFamily="34" charset="0"/>
                <a:ea typeface="Calibri" pitchFamily="34" charset="-122"/>
                <a:cs typeface="Calibri" pitchFamily="34" charset="-120"/>
              </a:rPr>
              <a:t>automated tests</a:t>
            </a:r>
            <a:endParaRPr lang="en-US" sz="1600" dirty="0"/>
          </a:p>
        </p:txBody>
      </p:sp>
      <p:sp>
        <p:nvSpPr>
          <p:cNvPr id="13" name="Text 11"/>
          <p:cNvSpPr txBox="1"/>
          <p:nvPr/>
        </p:nvSpPr>
        <p:spPr>
          <a:xfrm>
            <a:off x="548640" y="5669280"/>
            <a:ext cx="5486400" cy="457200"/>
          </a:xfrm>
          <a:prstGeom prst="rect">
            <a:avLst/>
          </a:prstGeom>
          <a:noFill/>
          <a:ln/>
        </p:spPr>
        <p:txBody>
          <a:bodyPr wrap="square" lIns="0" tIns="0" rIns="0" bIns="0" rtlCol="0" anchor="t"/>
          <a:lstStyle/>
          <a:p>
            <a:pPr indent="0" marL="0">
              <a:buNone/>
            </a:pPr>
            <a:r>
              <a:rPr lang="en-US" sz="2000" dirty="0">
                <a:solidFill>
                  <a:srgbClr val="E3EBF0"/>
                </a:solidFill>
                <a:latin typeface="Calibri" pitchFamily="34" charset="0"/>
                <a:ea typeface="Calibri" pitchFamily="34" charset="-122"/>
                <a:cs typeface="Calibri"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USB Insider Forensics">
  <a:themeElements>
    <a:clrScheme name="USB Insider Forensics">
      <a:dk1>
        <a:srgbClr val="0E161D"/>
      </a:dk1>
      <a:lt1>
        <a:srgbClr val="FFFFFF"/>
      </a:lt1>
      <a:dk2>
        <a:srgbClr val="16212A"/>
      </a:dk2>
      <a:lt2>
        <a:srgbClr val="E3EBF0"/>
      </a:lt2>
      <a:accent1>
        <a:srgbClr val="5CC0DD"/>
      </a:accent1>
      <a:accent2>
        <a:srgbClr val="F0C04A"/>
      </a:accent2>
      <a:accent3>
        <a:srgbClr val="F08B78"/>
      </a:accent3>
      <a:accent4>
        <a:srgbClr val="6FCF97"/>
      </a:accent4>
      <a:accent5>
        <a:srgbClr val="94A6B3"/>
      </a:accent5>
      <a:accent6>
        <a:srgbClr val="2A3A46"/>
      </a:accent6>
      <a:hlink>
        <a:srgbClr val="5CC0DD"/>
      </a:hlink>
      <a:folHlink>
        <a:srgbClr val="94A6B3"/>
      </a:folHlink>
    </a:clrScheme>
    <a:fontScheme name="USB Insider Forens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USB Insider Forensics</dc:title>
  <dc:subject>Detecting data exfiltration via removable media on Windows</dc:subject>
  <dc:creator>PptxGenJS</dc:creator>
  <cp:lastModifiedBy>PptxGenJS</cp:lastModifiedBy>
  <cp:revision>1</cp:revision>
  <dcterms:created xsi:type="dcterms:W3CDTF">2026-10-22T08:26:54Z</dcterms:created>
  <dcterms:modified xsi:type="dcterms:W3CDTF">2026-10-22T08:26:54Z</dcterms:modified>
</cp:coreProperties>
</file>